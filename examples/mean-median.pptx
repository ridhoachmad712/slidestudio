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bb27d4d6c492a" /><Relationship Type="http://schemas.openxmlformats.org/officeDocument/2006/relationships/extended-properties" Target="/docProps/app.xml" Id="R2b0afd99c50d4866" /><Relationship Type="http://schemas.openxmlformats.org/officeDocument/2006/relationships/officeDocument" Target="/ppt/presentation.xml" Id="Rba6359fd3c54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17e3cb8e944f0"/>
  </p:sldMasterIdLst>
  <p:notesMasterIdLst>
    <p:notesMasterId xmlns:r="http://schemas.openxmlformats.org/officeDocument/2006/relationships" r:id="R70d46663638340d4"/>
  </p:notesMasterIdLst>
  <p:sldIdLst>
    <p:sldId xmlns:r="http://schemas.openxmlformats.org/officeDocument/2006/relationships" id="256" r:id="Re77d844d29884679"/>
    <p:sldId xmlns:r="http://schemas.openxmlformats.org/officeDocument/2006/relationships" id="257" r:id="Rce061077b16448b9"/>
    <p:sldId xmlns:r="http://schemas.openxmlformats.org/officeDocument/2006/relationships" id="258" r:id="R790eba8abb7a41fe"/>
    <p:sldId xmlns:r="http://schemas.openxmlformats.org/officeDocument/2006/relationships" id="259" r:id="Ra0f1e229a5c64f3c"/>
    <p:sldId xmlns:r="http://schemas.openxmlformats.org/officeDocument/2006/relationships" id="260" r:id="Rc6e758b577f44543"/>
    <p:sldId xmlns:r="http://schemas.openxmlformats.org/officeDocument/2006/relationships" id="261" r:id="R5001f07b6781497c"/>
    <p:sldId xmlns:r="http://schemas.openxmlformats.org/officeDocument/2006/relationships" id="262" r:id="Rb57292fd438b4c56"/>
    <p:sldId xmlns:r="http://schemas.openxmlformats.org/officeDocument/2006/relationships" id="263" r:id="Rf9ad6170c8d5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cf8dd6bc9348b2" /><Relationship Type="http://schemas.openxmlformats.org/officeDocument/2006/relationships/slideMaster" Target="/ppt/slideMasters/slideMaster1.xml" Id="Re7f17e3cb8e944f0" /><Relationship Type="http://schemas.openxmlformats.org/officeDocument/2006/relationships/notesMaster" Target="/ppt/notesMasters/notesMaster1.xml" Id="R70d46663638340d4" /><Relationship Type="http://schemas.openxmlformats.org/officeDocument/2006/relationships/presProps" Target="/ppt/presProps.xml" Id="Re00f7e0354b64b34" /><Relationship Type="http://schemas.openxmlformats.org/officeDocument/2006/relationships/tableStyles" Target="/ppt/tableStyles.xml" Id="R1447d9f745c6422e" /><Relationship Type="http://schemas.openxmlformats.org/officeDocument/2006/relationships/slide" Target="/ppt/slides/slide1.xml" Id="Re77d844d29884679" /><Relationship Type="http://schemas.openxmlformats.org/officeDocument/2006/relationships/slide" Target="/ppt/slides/slide2.xml" Id="Rce061077b16448b9" /><Relationship Type="http://schemas.openxmlformats.org/officeDocument/2006/relationships/slide" Target="/ppt/slides/slide3.xml" Id="R790eba8abb7a41fe" /><Relationship Type="http://schemas.openxmlformats.org/officeDocument/2006/relationships/slide" Target="/ppt/slides/slide4.xml" Id="Ra0f1e229a5c64f3c" /><Relationship Type="http://schemas.openxmlformats.org/officeDocument/2006/relationships/slide" Target="/ppt/slides/slide5.xml" Id="Rc6e758b577f44543" /><Relationship Type="http://schemas.openxmlformats.org/officeDocument/2006/relationships/slide" Target="/ppt/slides/slide6.xml" Id="R5001f07b6781497c" /><Relationship Type="http://schemas.openxmlformats.org/officeDocument/2006/relationships/slide" Target="/ppt/slides/slide7.xml" Id="Rb57292fd438b4c56" /><Relationship Type="http://schemas.openxmlformats.org/officeDocument/2006/relationships/slide" Target="/ppt/slides/slide8.xml" Id="Rf9ad6170c8d5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ee8229b7964e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338ee2fe64eca" /><Relationship Type="http://schemas.openxmlformats.org/officeDocument/2006/relationships/notesMaster" Target="/ppt/notesMasters/notesMaster1.xml" Id="R33e7b5b1433e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8068fb6244a68" /><Relationship Type="http://schemas.openxmlformats.org/officeDocument/2006/relationships/notesMaster" Target="/ppt/notesMasters/notesMaster1.xml" Id="R463892695349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8a93ad7bd4f58" /><Relationship Type="http://schemas.openxmlformats.org/officeDocument/2006/relationships/notesMaster" Target="/ppt/notesMasters/notesMaster1.xml" Id="Rf6943d698947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71a8cd3d347ae" /><Relationship Type="http://schemas.openxmlformats.org/officeDocument/2006/relationships/notesMaster" Target="/ppt/notesMasters/notesMaster1.xml" Id="R14268d59ccdc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dcc0e4dfc54943" /><Relationship Type="http://schemas.openxmlformats.org/officeDocument/2006/relationships/notesMaster" Target="/ppt/notesMasters/notesMaster1.xml" Id="R472873c611ff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ca6cec6224281" /><Relationship Type="http://schemas.openxmlformats.org/officeDocument/2006/relationships/notesMaster" Target="/ppt/notesMasters/notesMaster1.xml" Id="Ra2e10c6c1bb147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c0b68abee949a2" /><Relationship Type="http://schemas.openxmlformats.org/officeDocument/2006/relationships/notesMaster" Target="/ppt/notesMasters/notesMaster1.xml" Id="R757dfceb2ef0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b48a0dd8da4287" /><Relationship Type="http://schemas.openxmlformats.org/officeDocument/2006/relationships/notesMaster" Target="/ppt/notesMasters/notesMaster1.xml" Id="Rdffaa9dd244a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Prasyarat: penjumlahan, pembagian, dan urutan bilangan. Contoh untuk 20–30 menit. Angka dalam deck hipotetis tanpa satuan.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1 diuji pada latihan slide 7. Tujuan 2 dijelaskan melalui grafik dan diskusi.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merupakan jumlah nilai dibagi banyaknya data. Median adalah posisi tengah setelah diurutkan. Untuk n genap, median adalah rata-rata dua nilai tengah. Sumber: https://openstax.org/books/introductory-statistics-2e/pages/2-5-measures-of-the-center-of-the-data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sudah terurut 4, 5, 6, 7, 8. Jumlah 30; mean 30/5=6. Median nilai ketiga=6. Mean dan median sama pada contoh ini, tetapi tidak harus selalu sama. Data hipotetis.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mahasiswa memprediksi mean dan median sebelum menunjukkan slide selanjutnya. Nilai kelima berubah 8 menjadi 30, yang lain tetap. Chart adalah objek native dengan data editable. Data hipotetis.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Awal [4,5,6,7,8]: jumlah30, mean6, median6. Setelah perubahan [4,5,6,7,30]: jumlah52, mean10,4, median6. Median tetap karena posisi ketiga tidak berubah. Ini tidak berarti median tidak pernah berubah. Sumber konsep: https://openstax.org/books/introductory-statistics-2e/pages/2-5-measures-of-the-center-of-the-data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 waktu 60–90 detik. Data [2,4,6,8,20], jumlah40, mean8, median6. Nilai20 memengaruhi jumlah sehingga mean di atas median. Jawaban ada di notes agar dosen dapat mengatur diskusi. Data hipotetis.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memakai seluruh nilai, median posisi. Pilihan bergantung pertanyaan dan distribusi; median tidak selalu lebih baik. Tindak lanjut: ubah nilai terbesar di dataset pilihan dan jelaskan perbedaan mean/median. Referensi: OpenStax, Introductory Statistics 2e, 2.5. https://openstax.org/books/introductory-statistics-2e/pages/2-5-measures-of-the-center-of-the-data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b367fdecd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03fcac8234412" /><Relationship Type="http://schemas.openxmlformats.org/officeDocument/2006/relationships/slideLayout" Target="/ppt/slideLayouts/slideLayout1.xml" Id="Rfb336c5216d64e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36c5216d64e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68464b2684a1e" /><Relationship Type="http://schemas.openxmlformats.org/officeDocument/2006/relationships/notesSlide" Target="/ppt/notesSlides/notesSlide1.xml" Id="R0a326cf6fcb7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2b7f4faa4eb3" /><Relationship Type="http://schemas.openxmlformats.org/officeDocument/2006/relationships/notesSlide" Target="/ppt/notesSlides/notesSlide2.xml" Id="R1982c9997ed944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0cc14660438e" /><Relationship Type="http://schemas.openxmlformats.org/officeDocument/2006/relationships/notesSlide" Target="/ppt/notesSlides/notesSlide3.xml" Id="Rc028d9b5047a4e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8e3e46e34c9a" /><Relationship Type="http://schemas.openxmlformats.org/officeDocument/2006/relationships/notesSlide" Target="/ppt/notesSlides/notesSlide4.xml" Id="R270cc8baca1b46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2a5f05d62451e" /><Relationship Type="http://schemas.openxmlformats.org/officeDocument/2006/relationships/chart" Target="/ppt/slides/charts/chart1.xml" Id="R0e3f50df88c6403f" /><Relationship Type="http://schemas.openxmlformats.org/officeDocument/2006/relationships/notesSlide" Target="/ppt/notesSlides/notesSlide5.xml" Id="R0f3fb20050f846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d47fb6bda4945" /><Relationship Type="http://schemas.openxmlformats.org/officeDocument/2006/relationships/notesSlide" Target="/ppt/notesSlides/notesSlide6.xml" Id="R18fb4d63ef024a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e40c6ee9b40e5" /><Relationship Type="http://schemas.openxmlformats.org/officeDocument/2006/relationships/notesSlide" Target="/ppt/notesSlides/notesSlide7.xml" Id="R2ca26ba309e24f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d3ef028aa4bbc" /><Relationship Type="http://schemas.openxmlformats.org/officeDocument/2006/relationships/notesSlide" Target="/ppt/notesSlides/notesSlide8.xml" Id="R409ddf0f8e5144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Awal</c:v>
          </c:tx>
          <c:spPr>
            <a:solidFill xmlns:a="http://schemas.openxmlformats.org/drawingml/2006/main">
              <a:srgbClr val="A7B2AA"/>
            </a:solidFill>
          </c:spPr>
          <c:cat>
            <c:strRef>
              <c:f>'Chart Data'!$A$2:$A$6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v>Nilai kelima diubah</c:v>
          </c:tx>
          <c:spPr>
            <a:solidFill xmlns:a="http://schemas.openxmlformats.org/drawingml/2006/main">
              <a:srgbClr val="27685C"/>
            </a:solidFill>
          </c:spPr>
          <c:cat>
            <c:strRef>
              <c:f>'Chart Data'!$C$2:$C$6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435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DF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AF8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35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FA5EDE2-F457-401B-A2CD-315AD921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FBFE0-3F06-41E0-9B60-4039170C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Mean dan median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93055E0-7D1B-4C1E-85CC-75075D07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Membaca pusat data dan pengaruh nilai ekstrem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796C22-D6DE-4EDC-905D-8FC3121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</p:spTree>
    <p:extLst>
      <p:ext uri="{BB962C8B-B14F-4D97-AF65-F5344CB8AC3E}">
        <p14:creationId xmlns:p14="http://schemas.microsoft.com/office/powerpoint/2010/main" val="680281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0648AA0F-6845-4A41-9B42-73134AD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ORIENTASI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FB6351-3CD3-4F73-B631-261508A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Tujuan pembelajaran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09A308-A0A6-46AC-9BE2-B14B82A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BFAB7E-5A57-40E3-A7D2-D36689A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FC74C88-0BB7-4C1F-BF00-3F62F22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7B38B6-6196-41D3-8E6E-0D345A8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Menghitung mean dan median dari lima nilai.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FDDD236-A1EE-43ED-B834-013BF1BC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53DBF55-B409-4BDA-A15F-0354EE39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81425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Menjelaskan pengaruh satu nilai ekstrem pada kedua ukuran pusat.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6E3EB9-6D61-46FC-8422-590BCA1B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Prasyarat: menjumlahkan, membagi, dan mengurutkan nilai.</a:t>
            </a:r>
          </a:p>
        </p:txBody>
      </p:sp>
    </p:spTree>
    <p:extLst>
      <p:ext uri="{BB962C8B-B14F-4D97-AF65-F5344CB8AC3E}">
        <p14:creationId xmlns:p14="http://schemas.microsoft.com/office/powerpoint/2010/main" val="550930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7514C00-F6C6-4847-A994-3DFB4C26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KONSEP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EE44C-1AF0-4623-89AC-C5FD6925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Mean dan median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8077A25-A463-4698-92AF-45BE7E3C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7C0EC6-D898-4213-9F09-D1F4761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07D54D-D3B5-4B9D-B3AB-BBF7346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4E513B-D398-49B4-91E5-32833609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Jumlah seluruh nilai</a:t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dibagi banyaknya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Setiap nilai ikut</a:t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memengaruhi hasil.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591564A-45EA-4E24-9794-E710D45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357D381-3874-462E-9546-05ACD2F4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29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Nilai di tengah setelah</a:t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data diurutkan.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Untuk jumlah data genap,</a:t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rata-ratakan dua nilai tengah.</a:t>
            </a:r>
          </a:p>
        </p:txBody>
      </p:sp>
    </p:spTree>
    <p:extLst>
      <p:ext uri="{BB962C8B-B14F-4D97-AF65-F5344CB8AC3E}">
        <p14:creationId xmlns:p14="http://schemas.microsoft.com/office/powerpoint/2010/main" val="1375974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FE7FA65-67B9-442E-A8B6-48E90072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CONTOH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60F125-025C-4584-B2E9-38302061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Contoh lima nilai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2D0A51-AB4C-42A5-9F91-DA5D2938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88F3F0-5D14-4E3F-A554-18CDAC4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8918B8-D2EB-44F4-8EDD-E6BFC8A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7685C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27685C"/>
                </a:solidFill>
                <a:latin typeface="Georgia"/>
                <a:ea typeface="Georgia"/>
                <a:cs typeface="Georgia"/>
              </a:rPr>
              <a:t>4     5     6     7     8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13449C-A18A-474D-A6F8-BC5AC4C8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Mean = (4 + 5 + 6 + 7 + 8) / 5 = 6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52F2D3-9DB6-4952-A566-7C33A0E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Median = nilai ketiga = 6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2FA8281-B3D2-41F1-BB68-FB6F23F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Data hipotetis, tanpa satuan. Urutan naik.</a:t>
            </a:r>
          </a:p>
        </p:txBody>
      </p:sp>
    </p:spTree>
    <p:extLst>
      <p:ext uri="{BB962C8B-B14F-4D97-AF65-F5344CB8AC3E}">
        <p14:creationId xmlns:p14="http://schemas.microsoft.com/office/powerpoint/2010/main" val="459511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AF3D94C-3F2A-4F6F-8623-231EFFC0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EKSPLORASI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D3DB4E-28FC-4949-98F6-827E84D2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Satu nilai berubah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D74988-1AB5-4038-8DC9-AD0BD9DE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09D545-DA07-4DFD-85D7-F5CB3F8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455815-3522-4DD5-8EB3-8742C0A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Data hipotetis, tanpa satuan. Hanya nilai kelima yang berubah.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3f50df88c6403f"/>
          </a:graphicData>
        </a:graphic>
      </p:graphicFrame>
    </p:spTree>
    <p:extLst>
      <p:ext uri="{BB962C8B-B14F-4D97-AF65-F5344CB8AC3E}">
        <p14:creationId xmlns:p14="http://schemas.microsoft.com/office/powerpoint/2010/main" val="1254387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A595E8D-B774-4731-B2C9-ED0C2BC1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INTERPRETASI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9FA5DE-231E-4A84-8995-A4EDABA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Respons kedua ukuran pusat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87C5C0-9D30-465F-8849-388A75D8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87E5527-949A-4392-ABE8-65A84E0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ED15834-D7C3-43F3-B851-E02AF3DD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1362EF6-E6A4-4E3E-841E-11BCC00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6 menjadi 10,4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C6642AA-3FEB-473C-B11B-AF3C3272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Jumlah data naik dari 30 menjadi 52. Banyaknya data tetap lima.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28CA4B8-BA9E-4871-9082-87C9F0A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9D78EBE-EB7E-463A-B3C2-AD84833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95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Tetap 6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A3B5ABC-EE8D-4FC2-8921-6336C00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Nilai di posisi ketiga tetap 6 setelah data diurutkan.</a:t>
            </a:r>
          </a:p>
        </p:txBody>
      </p:sp>
    </p:spTree>
    <p:extLst>
      <p:ext uri="{BB962C8B-B14F-4D97-AF65-F5344CB8AC3E}">
        <p14:creationId xmlns:p14="http://schemas.microsoft.com/office/powerpoint/2010/main" val="1220051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79EABDD-D7DC-438A-96F8-0313B75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CEK PEMAHAMAN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DB46A-92CE-4DC5-904F-332B15B7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Latihan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421562-4547-432A-9F1F-A3B307D8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DC8A36-43D7-46CD-823D-0B7381A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C27975-1ADB-4352-959A-4B8DB03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7685C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27685C"/>
                </a:solidFill>
                <a:latin typeface="Georgia"/>
                <a:ea typeface="Georgia"/>
                <a:cs typeface="Georgia"/>
              </a:rPr>
              <a:t>2     4     6     8     20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38FF177-F93D-4C93-AACD-430A3DAD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Hitung mean dan median.</a:t>
            </a:r>
          </a:p>
          <a:p xmlns:a="http://schemas.openxmlformats.org/drawingml/2006/main">
            <a:pPr algn="l">
              <a:defRPr sz="28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Jelaskan mengapa keduanya berbeda.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25B55C4-A260-4B4D-866C-2005803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Data hipotetis. Diskusikan sebelum membahas jawaban.</a:t>
            </a:r>
          </a:p>
        </p:txBody>
      </p:sp>
    </p:spTree>
    <p:extLst>
      <p:ext uri="{BB962C8B-B14F-4D97-AF65-F5344CB8AC3E}">
        <p14:creationId xmlns:p14="http://schemas.microsoft.com/office/powerpoint/2010/main" val="1508374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4C0BE9C-BFF3-4AF7-A906-1AC0FFB6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SINTESIS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819B5-57DF-4462-87BB-6E89B5A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Pusat data perlu konteks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A0A218-04CE-4705-9089-9E3B4EB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Statistika dasar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374B84-2752-4C2C-8FFA-D8CE063A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DF936EE-F0C0-40F7-A103-A7305BE8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Mean memakai seluruh nilai. Median memakai posisi tengah setelah data diurutkan.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1E3F4C-F835-4ECD-B090-B75D542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Tindak lanjut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F62B1D-221A-4E59-8C4E-DA3EA43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Ubah nilai terbesar pada contoh Anda.</a:t>
            </a:r>
          </a:p>
          <a:p xmlns:a="http://schemas.openxmlformats.org/drawingml/2006/main">
            <a:pPr algn="l">
              <a:defRPr sz="22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Jelaskan respons mean dan median.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10F6603-AB06-4EB0-B5F3-2BCF741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Bacaan: OpenStax, Introductory Statistics 2e, bagian 2.5</a:t>
            </a:r>
          </a:p>
        </p:txBody>
      </p:sp>
    </p:spTree>
    <p:extLst>
      <p:ext uri="{BB962C8B-B14F-4D97-AF65-F5344CB8AC3E}">
        <p14:creationId xmlns:p14="http://schemas.microsoft.com/office/powerpoint/2010/main" val="1237878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2026-09-26T13:42:46.7160000Z</dcterms:created>
  <dcterms:modified xsi:type="dcterms:W3CDTF">2026-09-26T13:42:46.7160000Z</dcterms:modified>
</coreProperties>
</file>