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7890e2b9da4242" /><Relationship Type="http://schemas.openxmlformats.org/officeDocument/2006/relationships/extended-properties" Target="/docProps/app.xml" Id="Rb413305d0f2142dc" /><Relationship Type="http://schemas.openxmlformats.org/officeDocument/2006/relationships/officeDocument" Target="/ppt/presentation.xml" Id="R7313e5979edb4a3f" /></Relationships>
</file>

<file path=ppt/presentation.xml><?xml version="1.0" encoding="utf-8"?>
<p:presentation xmlns:p="http://schemas.openxmlformats.org/presentationml/2006/main">
  <p:sldMasterIdLst>
    <p:sldMasterId xmlns:r="http://schemas.openxmlformats.org/officeDocument/2006/relationships" id="2147483648" r:id="Rcad0562829ee4be8"/>
  </p:sldMasterIdLst>
  <p:notesMasterIdLst>
    <p:notesMasterId xmlns:r="http://schemas.openxmlformats.org/officeDocument/2006/relationships" r:id="R1bb01c6a74244416"/>
  </p:notesMasterIdLst>
  <p:sldIdLst>
    <p:sldId xmlns:r="http://schemas.openxmlformats.org/officeDocument/2006/relationships" id="256" r:id="R3618ac8258af47ef"/>
    <p:sldId xmlns:r="http://schemas.openxmlformats.org/officeDocument/2006/relationships" id="257" r:id="R4a47d6daf7844db9"/>
    <p:sldId xmlns:r="http://schemas.openxmlformats.org/officeDocument/2006/relationships" id="258" r:id="Rb40433cde1f346fd"/>
    <p:sldId xmlns:r="http://schemas.openxmlformats.org/officeDocument/2006/relationships" id="259" r:id="Re64a99f20b4949c1"/>
    <p:sldId xmlns:r="http://schemas.openxmlformats.org/officeDocument/2006/relationships" id="260" r:id="Re441375b19ce4e13"/>
    <p:sldId xmlns:r="http://schemas.openxmlformats.org/officeDocument/2006/relationships" id="261" r:id="R3c22c7f4ff6e40eb"/>
    <p:sldId xmlns:r="http://schemas.openxmlformats.org/officeDocument/2006/relationships" id="262" r:id="Rac3a2dfb5129419d"/>
    <p:sldId xmlns:r="http://schemas.openxmlformats.org/officeDocument/2006/relationships" id="263" r:id="R6a4c98c58fa644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0ce6f9a7334532" /><Relationship Type="http://schemas.openxmlformats.org/officeDocument/2006/relationships/slideMaster" Target="/ppt/slideMasters/slideMaster1.xml" Id="Rcad0562829ee4be8" /><Relationship Type="http://schemas.openxmlformats.org/officeDocument/2006/relationships/notesMaster" Target="/ppt/notesMasters/notesMaster1.xml" Id="R1bb01c6a74244416" /><Relationship Type="http://schemas.openxmlformats.org/officeDocument/2006/relationships/presProps" Target="/ppt/presProps.xml" Id="Rd04cb958ae294e61" /><Relationship Type="http://schemas.openxmlformats.org/officeDocument/2006/relationships/tableStyles" Target="/ppt/tableStyles.xml" Id="R288fb9fd44264870" /><Relationship Type="http://schemas.openxmlformats.org/officeDocument/2006/relationships/slide" Target="/ppt/slides/slide1.xml" Id="R3618ac8258af47ef" /><Relationship Type="http://schemas.openxmlformats.org/officeDocument/2006/relationships/slide" Target="/ppt/slides/slide2.xml" Id="R4a47d6daf7844db9" /><Relationship Type="http://schemas.openxmlformats.org/officeDocument/2006/relationships/slide" Target="/ppt/slides/slide3.xml" Id="Rb40433cde1f346fd" /><Relationship Type="http://schemas.openxmlformats.org/officeDocument/2006/relationships/slide" Target="/ppt/slides/slide4.xml" Id="Re64a99f20b4949c1" /><Relationship Type="http://schemas.openxmlformats.org/officeDocument/2006/relationships/slide" Target="/ppt/slides/slide5.xml" Id="Re441375b19ce4e13" /><Relationship Type="http://schemas.openxmlformats.org/officeDocument/2006/relationships/slide" Target="/ppt/slides/slide6.xml" Id="R3c22c7f4ff6e40eb" /><Relationship Type="http://schemas.openxmlformats.org/officeDocument/2006/relationships/slide" Target="/ppt/slides/slide7.xml" Id="Rac3a2dfb5129419d" /><Relationship Type="http://schemas.openxmlformats.org/officeDocument/2006/relationships/slide" Target="/ppt/slides/slide8.xml" Id="R6a4c98c58fa644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91b7cf42654c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01d71999a14e6b" /><Relationship Type="http://schemas.openxmlformats.org/officeDocument/2006/relationships/notesMaster" Target="/ppt/notesMasters/notesMaster1.xml" Id="R8d43c8d3aaf044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c283d24f7244ae" /><Relationship Type="http://schemas.openxmlformats.org/officeDocument/2006/relationships/notesMaster" Target="/ppt/notesMasters/notesMaster1.xml" Id="Rf7af3d09bd4b48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badc9905ed43f7" /><Relationship Type="http://schemas.openxmlformats.org/officeDocument/2006/relationships/notesMaster" Target="/ppt/notesMasters/notesMaster1.xml" Id="R4484cd990b604f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a1d84551aa4a23" /><Relationship Type="http://schemas.openxmlformats.org/officeDocument/2006/relationships/notesMaster" Target="/ppt/notesMasters/notesMaster1.xml" Id="R9d3560f5c47d4c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45f98efa7840ee" /><Relationship Type="http://schemas.openxmlformats.org/officeDocument/2006/relationships/notesMaster" Target="/ppt/notesMasters/notesMaster1.xml" Id="Rb99faac30b9c44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2b269ac3c54679" /><Relationship Type="http://schemas.openxmlformats.org/officeDocument/2006/relationships/notesMaster" Target="/ppt/notesMasters/notesMaster1.xml" Id="Rbbc0ad7994c048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0bfe16aaa4412e" /><Relationship Type="http://schemas.openxmlformats.org/officeDocument/2006/relationships/notesMaster" Target="/ppt/notesMasters/notesMaster1.xml" Id="R90f89898a2f94e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6f039cd71642ca" /><Relationship Type="http://schemas.openxmlformats.org/officeDocument/2006/relationships/notesMaster" Target="/ppt/notesMasters/notesMaster1.xml" Id="Ree563e34b84745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Pertemuan pengantar sekitar 30–40 menit. Setelah belajar, mahasiswa dapat membedakan norma dan peran, mengidentifikasi fungsi kontribusi anggota, serta mengusulkan perbaikan diskusi. Sesuaikan waktu dengan pengetahuan awal. Kasus dalam deck bersifat hipotetis.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bahwa norma merupakan harapan bersama, sedangkan peran terlihat dalam pola kontribusi anggota. Minta mahasiswa memberi contoh aturan giliran bicara dan peran pencatat. Satu orang dapat menjalankan beberapa peran. Rujukan: Communication in Practice, bagian Norms and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Bacakan dialog lalu tanyakan bagian yang mendukung tugas dan hubungan kelompok. Mengundang Nisa berbicara mendukung partisipasi; merangkum alternatif membantu pekerjaan. Kategori dapat bertumpang tindih dan tidak merupakan label kepribadian permanen. Rujukan: Communication in Practice, bagian Norms and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Beri waktu dua menit untuk membaca kasus. Tanyakan apa yang diamati dan apa yang masih belum diketahui: giliran bicara, isi respons, serta cara mengambil keputusan. Jangan menyimpulkan motif anggota hanya dari satu tindakan. Semua tokoh dan situasi merupakan contoh fiktif.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Bedakan observasi dari interpretasi. Arif belum otomatis mendominasi hanya karena sering memberi usulan. Pemotongan oleh Bima perlu dinilai berdasarkan konteks dan kesempatan anggota lain. Pengulangan oleh Dini dapat membantu bila merangkum alternatif. Terima interpretasi berbeda jika didukung perilaku dalam kasus.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Usulan norma dinilai dari kejelasan prosedur dan kesempatan berpartisipasi. Simulasikan dua menit rapat dengan giliran bicara dan pencatatan. Tanyakan apakah keputusan lebih jelas dan apakah anggota menerima aturan. Kegiatan ini tidak membuktikan bahwa usulan selalu menghilangkan konflik.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Jawaban terbuka. Contoh: norma giliran bicara, peran pencatat, fungsi tugas berupa rangkuman, dan fungsi pemeliharaan berupa ajakan berpartisipasi. Nilai pembedaan norma/peran, bukti perilaku, usulan yang dapat diamati, serta kejelasan asumsi. Respons sekitar 150–200 kata; tidak perlu menyebut anggota kelompok nyata.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Minta mahasiswa menjelaskan kembali perbedaan norma dan peran dengan satu contoh. Hubungkan definisi pada slide 2, fungsi pada slide 3–5, dan perbaikan pada slide 6 dengan tugas slide 7. Bacaan: https://open.lib.umn.edu/commpractice/chapter/norms-and-roles/. Kasus adalah penerapan orisinal hipotetis.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6a2685f67846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4506eaaf4246d9" /><Relationship Type="http://schemas.openxmlformats.org/officeDocument/2006/relationships/slideLayout" Target="/ppt/slideLayouts/slideLayout1.xml" Id="R44686eac83364d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686eac83364d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0804ef82e249f8" /><Relationship Type="http://schemas.openxmlformats.org/officeDocument/2006/relationships/notesSlide" Target="/ppt/notesSlides/notesSlide1.xml" Id="R5c961ed53c2147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eabc63174a4ee1" /><Relationship Type="http://schemas.openxmlformats.org/officeDocument/2006/relationships/notesSlide" Target="/ppt/notesSlides/notesSlide2.xml" Id="R4456c1cea91e45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051d95a8894710" /><Relationship Type="http://schemas.openxmlformats.org/officeDocument/2006/relationships/notesSlide" Target="/ppt/notesSlides/notesSlide3.xml" Id="R5db958763f484a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2c30061c74420d" /><Relationship Type="http://schemas.openxmlformats.org/officeDocument/2006/relationships/notesSlide" Target="/ppt/notesSlides/notesSlide4.xml" Id="R77f69bf93ed443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3beae71eea4c36" /><Relationship Type="http://schemas.openxmlformats.org/officeDocument/2006/relationships/notesSlide" Target="/ppt/notesSlides/notesSlide5.xml" Id="R00851679dadc4d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06b889a91242ef" /><Relationship Type="http://schemas.openxmlformats.org/officeDocument/2006/relationships/notesSlide" Target="/ppt/notesSlides/notesSlide6.xml" Id="R5595e635d5aa4e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6b8f2e1424642fb" /><Relationship Type="http://schemas.openxmlformats.org/officeDocument/2006/relationships/notesSlide" Target="/ppt/notesSlides/notesSlide7.xml" Id="R7cc2d985417640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eebe7d432840ff" /><Relationship Type="http://schemas.openxmlformats.org/officeDocument/2006/relationships/notesSlide" Target="/ppt/notesSlides/notesSlide8.xml" Id="Ref5ee2dc6fc0409b" /></Relationships>
</file>

<file path=ppt/slides/slide1.xml><?xml version="1.0" encoding="utf-8"?>
<p:sld xmlns:p="http://schemas.openxmlformats.org/presentationml/2006/main">
  <p:cSld>
    <p:bg>
      <p:bgPr>
        <a:solidFill xmlns:a="http://schemas.openxmlformats.org/drawingml/2006/main">
          <a:srgbClr val="302B35"/>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C397355-E053-4BD9-9F0C-6F9F71180462}"/>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2" name="text-1">
            <a:extLst xmlns:a="http://schemas.openxmlformats.org/drawingml/2006/main">
              <a:ext uri="{FF2B5EF4-FFF2-40B4-BE49-F238E27FC236}">
                <a16:creationId xmlns:a16="http://schemas.microsoft.com/office/drawing/2014/main" id="{A714BBF3-D859-4AAD-BB4D-BB007E3814C8}"/>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F2EDE3"/>
                </a:solidFill>
                <a:latin typeface="Franklin Gothic Book"/>
                <a:ea typeface="Franklin Gothic Book"/>
                <a:cs typeface="Franklin Gothic Book"/>
              </a:defRPr>
            </a:pPr>
            <a:r>
              <a:rPr sz="1200" b="0">
                <a:solidFill>
                  <a:srgbClr val="F2EDE3"/>
                </a:solidFill>
                <a:latin typeface="Franklin Gothic Book"/>
                <a:ea typeface="Franklin Gothic Book"/>
                <a:cs typeface="Franklin Gothic Book"/>
              </a:rPr>
              <a:t>01</a:t>
            </a:r>
          </a:p>
        </p:txBody>
      </p:sp>
      <p:sp>
        <p:nvSpPr>
          <p:cNvPr id="3" name="text-2">
            <a:extLst xmlns:a="http://schemas.openxmlformats.org/drawingml/2006/main">
              <a:ext uri="{FF2B5EF4-FFF2-40B4-BE49-F238E27FC236}">
                <a16:creationId xmlns:a16="http://schemas.microsoft.com/office/drawing/2014/main" id="{5A286D07-236C-44A6-A4B4-E8867D23D4E9}"/>
              </a:ext>
            </a:extLst>
          </p:cNvPr>
          <p:cNvSpPr>
            <a:spLocks xmlns:a="http://schemas.openxmlformats.org/drawingml/2006/main" noGrp="1"/>
          </p:cNvSpPr>
          <p:nvPr/>
        </p:nvSpPr>
        <p:spPr>
          <a:xfrm xmlns:a="http://schemas.openxmlformats.org/drawingml/2006/main">
            <a:off x="609600" y="1609725"/>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000" b="0">
                <a:solidFill>
                  <a:srgbClr val="F2EDE3"/>
                </a:solidFill>
                <a:latin typeface="Garamond"/>
                <a:ea typeface="Garamond"/>
                <a:cs typeface="Garamond"/>
              </a:defRPr>
            </a:pPr>
            <a:r>
              <a:rPr sz="6000" b="0">
                <a:solidFill>
                  <a:srgbClr val="F2EDE3"/>
                </a:solidFill>
                <a:latin typeface="Garamond"/>
                <a:ea typeface="Garamond"/>
                <a:cs typeface="Garamond"/>
              </a:rPr>
              <a:t>Norma dan peran kelompok</a:t>
            </a:r>
          </a:p>
        </p:txBody>
      </p:sp>
      <p:sp>
        <p:nvSpPr>
          <p:cNvPr id="4" name="text-3">
            <a:extLst xmlns:a="http://schemas.openxmlformats.org/drawingml/2006/main">
              <a:ext uri="{FF2B5EF4-FFF2-40B4-BE49-F238E27FC236}">
                <a16:creationId xmlns:a16="http://schemas.microsoft.com/office/drawing/2014/main" id="{234FCD92-19B9-45A7-943C-D640E88FA839}"/>
              </a:ext>
            </a:extLst>
          </p:cNvPr>
          <p:cNvSpPr>
            <a:spLocks xmlns:a="http://schemas.openxmlformats.org/drawingml/2006/main" noGrp="1"/>
          </p:cNvSpPr>
          <p:nvPr/>
        </p:nvSpPr>
        <p:spPr>
          <a:xfrm xmlns:a="http://schemas.openxmlformats.org/drawingml/2006/main">
            <a:off x="647700" y="458152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2EDE3"/>
                </a:solidFill>
                <a:latin typeface="Franklin Gothic Book"/>
                <a:ea typeface="Franklin Gothic Book"/>
                <a:cs typeface="Franklin Gothic Book"/>
              </a:defRPr>
            </a:pPr>
            <a:r>
              <a:rPr sz="2325" b="0">
                <a:solidFill>
                  <a:srgbClr val="F2EDE3"/>
                </a:solidFill>
                <a:latin typeface="Franklin Gothic Book"/>
                <a:ea typeface="Franklin Gothic Book"/>
                <a:cs typeface="Franklin Gothic Book"/>
              </a:rPr>
              <a:t>Komunikasi kelompok: konsep, kasus, dan diskusi</a:t>
            </a:r>
          </a:p>
        </p:txBody>
      </p:sp>
      <p:sp>
        <p:nvSpPr>
          <p:cNvPr id="5" name="text-4">
            <a:extLst xmlns:a="http://schemas.openxmlformats.org/drawingml/2006/main">
              <a:ext uri="{FF2B5EF4-FFF2-40B4-BE49-F238E27FC236}">
                <a16:creationId xmlns:a16="http://schemas.microsoft.com/office/drawing/2014/main" id="{7CFAFBBD-289C-4E8E-81A7-49831B9ABFE0}"/>
              </a:ext>
            </a:extLst>
          </p:cNvPr>
          <p:cNvSpPr>
            <a:spLocks xmlns:a="http://schemas.openxmlformats.org/drawingml/2006/main" noGrp="1"/>
          </p:cNvSpPr>
          <p:nvPr/>
        </p:nvSpPr>
        <p:spPr>
          <a:xfrm xmlns:a="http://schemas.openxmlformats.org/drawingml/2006/main">
            <a:off x="647700" y="6667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F2EDE3"/>
                </a:solidFill>
                <a:latin typeface="Franklin Gothic Book"/>
                <a:ea typeface="Franklin Gothic Book"/>
                <a:cs typeface="Franklin Gothic Book"/>
              </a:defRPr>
            </a:pPr>
            <a:r>
              <a:rPr sz="1350" b="0">
                <a:solidFill>
                  <a:srgbClr val="F2EDE3"/>
                </a:solidFill>
                <a:latin typeface="Franklin Gothic Book"/>
                <a:ea typeface="Franklin Gothic Book"/>
                <a:cs typeface="Franklin Gothic Book"/>
              </a:rPr>
              <a:t>SLIDESTUDIO / CONTOH PERTEMUAN</a:t>
            </a:r>
          </a:p>
        </p:txBody>
      </p:sp>
    </p:spTree>
    <p:extLst>
      <p:ext uri="{BB962C8B-B14F-4D97-AF65-F5344CB8AC3E}">
        <p14:creationId xmlns:p14="http://schemas.microsoft.com/office/powerpoint/2010/main" val="1378374910"/>
      </p:ext>
    </p:extLst>
  </p:cSld>
</p:sld>
</file>

<file path=ppt/slides/slide2.xml><?xml version="1.0" encoding="utf-8"?>
<p:sld xmlns:p="http://schemas.openxmlformats.org/presentationml/2006/main">
  <p:cSld>
    <p:bg>
      <p:bgPr>
        <a:solidFill xmlns:a="http://schemas.openxmlformats.org/drawingml/2006/main">
          <a:srgbClr val="F2EDE3"/>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A202192-A23B-4EED-93E4-E198CE18B698}"/>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302B35"/>
                </a:solidFill>
                <a:latin typeface="Garamond"/>
                <a:ea typeface="Garamond"/>
                <a:cs typeface="Garamond"/>
              </a:defRPr>
            </a:pPr>
            <a:r>
              <a:rPr sz="3900" b="0">
                <a:solidFill>
                  <a:srgbClr val="302B35"/>
                </a:solidFill>
                <a:latin typeface="Garamond"/>
                <a:ea typeface="Garamond"/>
                <a:cs typeface="Garamond"/>
              </a:rPr>
              <a:t>Norma dan peran</a:t>
            </a:r>
          </a:p>
        </p:txBody>
      </p:sp>
      <p:sp>
        <p:nvSpPr>
          <p:cNvPr id="2" name="text-1">
            <a:extLst xmlns:a="http://schemas.openxmlformats.org/drawingml/2006/main">
              <a:ext uri="{FF2B5EF4-FFF2-40B4-BE49-F238E27FC236}">
                <a16:creationId xmlns:a16="http://schemas.microsoft.com/office/drawing/2014/main" id="{2983B305-007A-4A92-B0E5-A4CEC92EF7E2}"/>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302B35"/>
                </a:solidFill>
                <a:latin typeface="Franklin Gothic Book"/>
                <a:ea typeface="Franklin Gothic Book"/>
                <a:cs typeface="Franklin Gothic Book"/>
              </a:defRPr>
            </a:pPr>
            <a:r>
              <a:rPr sz="1200" b="0">
                <a:solidFill>
                  <a:srgbClr val="302B35"/>
                </a:solidFill>
                <a:latin typeface="Franklin Gothic Book"/>
                <a:ea typeface="Franklin Gothic Book"/>
                <a:cs typeface="Franklin Gothic Book"/>
              </a:rPr>
              <a:t>02</a:t>
            </a:r>
          </a:p>
        </p:txBody>
      </p:sp>
      <p:sp>
        <p:nvSpPr>
          <p:cNvPr id="3" name="text-2">
            <a:extLst xmlns:a="http://schemas.openxmlformats.org/drawingml/2006/main">
              <a:ext uri="{FF2B5EF4-FFF2-40B4-BE49-F238E27FC236}">
                <a16:creationId xmlns:a16="http://schemas.microsoft.com/office/drawing/2014/main" id="{29ECD84F-8D81-4F7F-A2A5-711E10A4E86B}"/>
              </a:ext>
            </a:extLst>
          </p:cNvPr>
          <p:cNvSpPr>
            <a:spLocks xmlns:a="http://schemas.openxmlformats.org/drawingml/2006/main" noGrp="1"/>
          </p:cNvSpPr>
          <p:nvPr/>
        </p:nvSpPr>
        <p:spPr>
          <a:xfrm xmlns:a="http://schemas.openxmlformats.org/drawingml/2006/main">
            <a:off x="609600" y="64008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302B35"/>
                </a:solidFill>
                <a:latin typeface="Franklin Gothic Book"/>
                <a:ea typeface="Franklin Gothic Book"/>
                <a:cs typeface="Franklin Gothic Book"/>
              </a:defRPr>
            </a:pPr>
            <a:r>
              <a:rPr sz="1125" b="0">
                <a:solidFill>
                  <a:srgbClr val="302B35"/>
                </a:solidFill>
                <a:latin typeface="Franklin Gothic Book"/>
                <a:ea typeface="Franklin Gothic Book"/>
                <a:cs typeface="Franklin Gothic Book"/>
              </a:rPr>
              <a:t>Rujukan konsep: Communication in Practice, §16.3</a:t>
            </a:r>
          </a:p>
        </p:txBody>
      </p:sp>
      <p:sp>
        <p:nvSpPr>
          <p:cNvPr id="4" name="text-3">
            <a:extLst xmlns:a="http://schemas.openxmlformats.org/drawingml/2006/main">
              <a:ext uri="{FF2B5EF4-FFF2-40B4-BE49-F238E27FC236}">
                <a16:creationId xmlns:a16="http://schemas.microsoft.com/office/drawing/2014/main" id="{2E549690-98A3-4F0F-A5D7-486414A2C77A}"/>
              </a:ext>
            </a:extLst>
          </p:cNvPr>
          <p:cNvSpPr>
            <a:spLocks xmlns:a="http://schemas.openxmlformats.org/drawingml/2006/main" noGrp="1"/>
          </p:cNvSpPr>
          <p:nvPr/>
        </p:nvSpPr>
        <p:spPr>
          <a:xfrm xmlns:a="http://schemas.openxmlformats.org/drawingml/2006/main">
            <a:off x="609600" y="21717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704758"/>
                </a:solidFill>
                <a:latin typeface="Garamond"/>
                <a:ea typeface="Garamond"/>
                <a:cs typeface="Garamond"/>
              </a:defRPr>
            </a:pPr>
            <a:r>
              <a:rPr sz="2550" b="0">
                <a:solidFill>
                  <a:srgbClr val="704758"/>
                </a:solidFill>
                <a:latin typeface="Garamond"/>
                <a:ea typeface="Garamond"/>
                <a:cs typeface="Garamond"/>
              </a:rPr>
              <a:t>Norma</a:t>
            </a:r>
          </a:p>
        </p:txBody>
      </p:sp>
      <p:sp>
        <p:nvSpPr>
          <p:cNvPr id="5" name="text-4">
            <a:extLst xmlns:a="http://schemas.openxmlformats.org/drawingml/2006/main">
              <a:ext uri="{FF2B5EF4-FFF2-40B4-BE49-F238E27FC236}">
                <a16:creationId xmlns:a16="http://schemas.microsoft.com/office/drawing/2014/main" id="{6E782F7A-E4B3-4ABB-B16E-F2C509BFA850}"/>
              </a:ext>
            </a:extLst>
          </p:cNvPr>
          <p:cNvSpPr>
            <a:spLocks xmlns:a="http://schemas.openxmlformats.org/drawingml/2006/main" noGrp="1"/>
          </p:cNvSpPr>
          <p:nvPr/>
        </p:nvSpPr>
        <p:spPr>
          <a:xfrm xmlns:a="http://schemas.openxmlformats.org/drawingml/2006/main">
            <a:off x="609600" y="2828925"/>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B35"/>
                </a:solidFill>
                <a:latin typeface="Franklin Gothic Book"/>
                <a:ea typeface="Franklin Gothic Book"/>
                <a:cs typeface="Franklin Gothic Book"/>
              </a:defRPr>
            </a:pPr>
            <a:r>
              <a:rPr sz="2025" b="0">
                <a:solidFill>
                  <a:srgbClr val="302B35"/>
                </a:solidFill>
                <a:latin typeface="Franklin Gothic Book"/>
                <a:ea typeface="Franklin Gothic Book"/>
                <a:cs typeface="Franklin Gothic Book"/>
              </a:rPr>
              <a:t>Harapan tentang perilaku yang dianggap sesuai oleh kelompok. Norma dapat dinyatakan dalam aturan rapat atau berkembang melalui kebiasaan.</a:t>
            </a:r>
          </a:p>
        </p:txBody>
      </p:sp>
      <p:sp>
        <p:nvSpPr>
          <p:cNvPr id="6" name="text-5">
            <a:extLst xmlns:a="http://schemas.openxmlformats.org/drawingml/2006/main">
              <a:ext uri="{FF2B5EF4-FFF2-40B4-BE49-F238E27FC236}">
                <a16:creationId xmlns:a16="http://schemas.microsoft.com/office/drawing/2014/main" id="{49F26CB7-D892-45B0-9AAE-29CB91A81F6C}"/>
              </a:ext>
            </a:extLst>
          </p:cNvPr>
          <p:cNvSpPr>
            <a:spLocks xmlns:a="http://schemas.openxmlformats.org/drawingml/2006/main" noGrp="1"/>
          </p:cNvSpPr>
          <p:nvPr/>
        </p:nvSpPr>
        <p:spPr>
          <a:xfrm xmlns:a="http://schemas.openxmlformats.org/drawingml/2006/main">
            <a:off x="6619875" y="21717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704758"/>
                </a:solidFill>
                <a:latin typeface="Garamond"/>
                <a:ea typeface="Garamond"/>
                <a:cs typeface="Garamond"/>
              </a:defRPr>
            </a:pPr>
            <a:r>
              <a:rPr sz="2550" b="0">
                <a:solidFill>
                  <a:srgbClr val="704758"/>
                </a:solidFill>
                <a:latin typeface="Garamond"/>
                <a:ea typeface="Garamond"/>
                <a:cs typeface="Garamond"/>
              </a:rPr>
              <a:t>Peran</a:t>
            </a:r>
          </a:p>
        </p:txBody>
      </p:sp>
      <p:sp>
        <p:nvSpPr>
          <p:cNvPr id="7" name="text-6">
            <a:extLst xmlns:a="http://schemas.openxmlformats.org/drawingml/2006/main">
              <a:ext uri="{FF2B5EF4-FFF2-40B4-BE49-F238E27FC236}">
                <a16:creationId xmlns:a16="http://schemas.microsoft.com/office/drawing/2014/main" id="{AA297C30-CC38-40A2-9384-70A19AD356E4}"/>
              </a:ext>
            </a:extLst>
          </p:cNvPr>
          <p:cNvSpPr>
            <a:spLocks xmlns:a="http://schemas.openxmlformats.org/drawingml/2006/main" noGrp="1"/>
          </p:cNvSpPr>
          <p:nvPr/>
        </p:nvSpPr>
        <p:spPr>
          <a:xfrm xmlns:a="http://schemas.openxmlformats.org/drawingml/2006/main">
            <a:off x="6619875" y="2828925"/>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B35"/>
                </a:solidFill>
                <a:latin typeface="Franklin Gothic Book"/>
                <a:ea typeface="Franklin Gothic Book"/>
                <a:cs typeface="Franklin Gothic Book"/>
              </a:defRPr>
            </a:pPr>
            <a:r>
              <a:rPr sz="2025" b="0">
                <a:solidFill>
                  <a:srgbClr val="302B35"/>
                </a:solidFill>
                <a:latin typeface="Franklin Gothic Book"/>
                <a:ea typeface="Franklin Gothic Book"/>
                <a:cs typeface="Franklin Gothic Book"/>
              </a:rPr>
              <a:t>Pola kontribusi anggota dalam interaksi kelompok. Satu orang dapat menjalankan beberapa peran, dan perannya dapat berubah menurut situasi.</a:t>
            </a:r>
          </a:p>
        </p:txBody>
      </p:sp>
      <p:sp>
        <p:nvSpPr>
          <p:cNvPr id="8" name="text-7">
            <a:extLst xmlns:a="http://schemas.openxmlformats.org/drawingml/2006/main">
              <a:ext uri="{FF2B5EF4-FFF2-40B4-BE49-F238E27FC236}">
                <a16:creationId xmlns:a16="http://schemas.microsoft.com/office/drawing/2014/main" id="{752C6E28-D618-451A-B3EF-D77605EC5CF1}"/>
              </a:ext>
            </a:extLst>
          </p:cNvPr>
          <p:cNvSpPr>
            <a:spLocks xmlns:a="http://schemas.openxmlformats.org/drawingml/2006/main" noGrp="1"/>
          </p:cNvSpPr>
          <p:nvPr/>
        </p:nvSpPr>
        <p:spPr>
          <a:xfrm xmlns:a="http://schemas.openxmlformats.org/drawingml/2006/main">
            <a:off x="609600" y="58578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704758"/>
                </a:solidFill>
                <a:latin typeface="Franklin Gothic Book"/>
                <a:ea typeface="Franklin Gothic Book"/>
                <a:cs typeface="Franklin Gothic Book"/>
              </a:defRPr>
            </a:pPr>
            <a:r>
              <a:rPr sz="1800" b="0">
                <a:solidFill>
                  <a:srgbClr val="704758"/>
                </a:solidFill>
                <a:latin typeface="Franklin Gothic Book"/>
                <a:ea typeface="Franklin Gothic Book"/>
                <a:cs typeface="Franklin Gothic Book"/>
              </a:rPr>
              <a:t>Tujuan: membedakan aturan bersama dari kontribusi seorang anggota.</a:t>
            </a:r>
          </a:p>
        </p:txBody>
      </p:sp>
    </p:spTree>
    <p:extLst>
      <p:ext uri="{BB962C8B-B14F-4D97-AF65-F5344CB8AC3E}">
        <p14:creationId xmlns:p14="http://schemas.microsoft.com/office/powerpoint/2010/main" val="861421361"/>
      </p:ext>
    </p:extLst>
  </p:cSld>
</p:sld>
</file>

<file path=ppt/slides/slide3.xml><?xml version="1.0" encoding="utf-8"?>
<p:sld xmlns:p="http://schemas.openxmlformats.org/presentationml/2006/main">
  <p:cSld>
    <p:bg>
      <p:bgPr>
        <a:solidFill xmlns:a="http://schemas.openxmlformats.org/drawingml/2006/main">
          <a:srgbClr val="F2EDE3"/>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0B4728F-C102-4AA8-BCBC-C79FC29D9292}"/>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302B35"/>
                </a:solidFill>
                <a:latin typeface="Garamond"/>
                <a:ea typeface="Garamond"/>
                <a:cs typeface="Garamond"/>
              </a:defRPr>
            </a:pPr>
            <a:r>
              <a:rPr sz="3900" b="0">
                <a:solidFill>
                  <a:srgbClr val="302B35"/>
                </a:solidFill>
                <a:latin typeface="Garamond"/>
                <a:ea typeface="Garamond"/>
                <a:cs typeface="Garamond"/>
              </a:rPr>
              <a:t>Perilaku tugas dan pemeliharaan</a:t>
            </a:r>
          </a:p>
        </p:txBody>
      </p:sp>
      <p:sp>
        <p:nvSpPr>
          <p:cNvPr id="2" name="text-1">
            <a:extLst xmlns:a="http://schemas.openxmlformats.org/drawingml/2006/main">
              <a:ext uri="{FF2B5EF4-FFF2-40B4-BE49-F238E27FC236}">
                <a16:creationId xmlns:a16="http://schemas.microsoft.com/office/drawing/2014/main" id="{F1182F93-6A68-4AD1-A938-B3AD0EA61FF0}"/>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302B35"/>
                </a:solidFill>
                <a:latin typeface="Franklin Gothic Book"/>
                <a:ea typeface="Franklin Gothic Book"/>
                <a:cs typeface="Franklin Gothic Book"/>
              </a:defRPr>
            </a:pPr>
            <a:r>
              <a:rPr sz="1200" b="0">
                <a:solidFill>
                  <a:srgbClr val="302B35"/>
                </a:solidFill>
                <a:latin typeface="Franklin Gothic Book"/>
                <a:ea typeface="Franklin Gothic Book"/>
                <a:cs typeface="Franklin Gothic Book"/>
              </a:rPr>
              <a:t>03</a:t>
            </a:r>
          </a:p>
        </p:txBody>
      </p:sp>
      <p:sp>
        <p:nvSpPr>
          <p:cNvPr id="3" name="text-2">
            <a:extLst xmlns:a="http://schemas.openxmlformats.org/drawingml/2006/main">
              <a:ext uri="{FF2B5EF4-FFF2-40B4-BE49-F238E27FC236}">
                <a16:creationId xmlns:a16="http://schemas.microsoft.com/office/drawing/2014/main" id="{03A1CA2C-C5CC-4D2E-B62A-8301CA205738}"/>
              </a:ext>
            </a:extLst>
          </p:cNvPr>
          <p:cNvSpPr>
            <a:spLocks xmlns:a="http://schemas.openxmlformats.org/drawingml/2006/main" noGrp="1"/>
          </p:cNvSpPr>
          <p:nvPr/>
        </p:nvSpPr>
        <p:spPr>
          <a:xfrm xmlns:a="http://schemas.openxmlformats.org/drawingml/2006/main">
            <a:off x="609600" y="64008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302B35"/>
                </a:solidFill>
                <a:latin typeface="Franklin Gothic Book"/>
                <a:ea typeface="Franklin Gothic Book"/>
                <a:cs typeface="Franklin Gothic Book"/>
              </a:defRPr>
            </a:pPr>
            <a:r>
              <a:rPr sz="1125" b="0">
                <a:solidFill>
                  <a:srgbClr val="302B35"/>
                </a:solidFill>
                <a:latin typeface="Franklin Gothic Book"/>
                <a:ea typeface="Franklin Gothic Book"/>
                <a:cs typeface="Franklin Gothic Book"/>
              </a:rPr>
              <a:t>Rujukan konsep: Communication in Practice, §16.3</a:t>
            </a:r>
          </a:p>
        </p:txBody>
      </p:sp>
      <p:sp>
        <p:nvSpPr>
          <p:cNvPr id="4" name="text-3">
            <a:extLst xmlns:a="http://schemas.openxmlformats.org/drawingml/2006/main">
              <a:ext uri="{FF2B5EF4-FFF2-40B4-BE49-F238E27FC236}">
                <a16:creationId xmlns:a16="http://schemas.microsoft.com/office/drawing/2014/main" id="{7B3001F9-66BC-41B8-83EE-1362C4B97B0E}"/>
              </a:ext>
            </a:extLst>
          </p:cNvPr>
          <p:cNvSpPr>
            <a:spLocks xmlns:a="http://schemas.openxmlformats.org/drawingml/2006/main" noGrp="1"/>
          </p:cNvSpPr>
          <p:nvPr/>
        </p:nvSpPr>
        <p:spPr>
          <a:xfrm xmlns:a="http://schemas.openxmlformats.org/drawingml/2006/main">
            <a:off x="609600" y="21717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704758"/>
                </a:solidFill>
                <a:latin typeface="Garamond"/>
                <a:ea typeface="Garamond"/>
                <a:cs typeface="Garamond"/>
              </a:defRPr>
            </a:pPr>
            <a:r>
              <a:rPr sz="2550" b="0">
                <a:solidFill>
                  <a:srgbClr val="704758"/>
                </a:solidFill>
                <a:latin typeface="Garamond"/>
                <a:ea typeface="Garamond"/>
                <a:cs typeface="Garamond"/>
              </a:rPr>
              <a:t>Tugas</a:t>
            </a:r>
          </a:p>
        </p:txBody>
      </p:sp>
      <p:sp>
        <p:nvSpPr>
          <p:cNvPr id="5" name="text-4">
            <a:extLst xmlns:a="http://schemas.openxmlformats.org/drawingml/2006/main">
              <a:ext uri="{FF2B5EF4-FFF2-40B4-BE49-F238E27FC236}">
                <a16:creationId xmlns:a16="http://schemas.microsoft.com/office/drawing/2014/main" id="{412C07D7-0610-4D8E-8E2D-4F51E11059C9}"/>
              </a:ext>
            </a:extLst>
          </p:cNvPr>
          <p:cNvSpPr>
            <a:spLocks xmlns:a="http://schemas.openxmlformats.org/drawingml/2006/main" noGrp="1"/>
          </p:cNvSpPr>
          <p:nvPr/>
        </p:nvSpPr>
        <p:spPr>
          <a:xfrm xmlns:a="http://schemas.openxmlformats.org/drawingml/2006/main">
            <a:off x="609600" y="2828925"/>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B35"/>
                </a:solidFill>
                <a:latin typeface="Franklin Gothic Book"/>
                <a:ea typeface="Franklin Gothic Book"/>
                <a:cs typeface="Franklin Gothic Book"/>
              </a:defRPr>
            </a:pPr>
            <a:r>
              <a:rPr sz="2025" b="0">
                <a:solidFill>
                  <a:srgbClr val="302B35"/>
                </a:solidFill>
                <a:latin typeface="Franklin Gothic Book"/>
                <a:ea typeface="Franklin Gothic Book"/>
                <a:cs typeface="Franklin Gothic Book"/>
              </a:rPr>
              <a:t>Perilaku yang membantu pekerjaan kelompok, misalnya mengusulkan ide atau merangkum informasi.</a:t>
            </a:r>
          </a:p>
        </p:txBody>
      </p:sp>
      <p:sp>
        <p:nvSpPr>
          <p:cNvPr id="6" name="text-5">
            <a:extLst xmlns:a="http://schemas.openxmlformats.org/drawingml/2006/main">
              <a:ext uri="{FF2B5EF4-FFF2-40B4-BE49-F238E27FC236}">
                <a16:creationId xmlns:a16="http://schemas.microsoft.com/office/drawing/2014/main" id="{370AA9F0-6485-4B4E-87DE-006A20B714AB}"/>
              </a:ext>
            </a:extLst>
          </p:cNvPr>
          <p:cNvSpPr>
            <a:spLocks xmlns:a="http://schemas.openxmlformats.org/drawingml/2006/main" noGrp="1"/>
          </p:cNvSpPr>
          <p:nvPr/>
        </p:nvSpPr>
        <p:spPr>
          <a:xfrm xmlns:a="http://schemas.openxmlformats.org/drawingml/2006/main">
            <a:off x="6619875" y="21717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704758"/>
                </a:solidFill>
                <a:latin typeface="Garamond"/>
                <a:ea typeface="Garamond"/>
                <a:cs typeface="Garamond"/>
              </a:defRPr>
            </a:pPr>
            <a:r>
              <a:rPr sz="2550" b="0">
                <a:solidFill>
                  <a:srgbClr val="704758"/>
                </a:solidFill>
                <a:latin typeface="Garamond"/>
                <a:ea typeface="Garamond"/>
                <a:cs typeface="Garamond"/>
              </a:rPr>
              <a:t>Pemeliharaan</a:t>
            </a:r>
          </a:p>
        </p:txBody>
      </p:sp>
      <p:sp>
        <p:nvSpPr>
          <p:cNvPr id="7" name="text-6">
            <a:extLst xmlns:a="http://schemas.openxmlformats.org/drawingml/2006/main">
              <a:ext uri="{FF2B5EF4-FFF2-40B4-BE49-F238E27FC236}">
                <a16:creationId xmlns:a16="http://schemas.microsoft.com/office/drawing/2014/main" id="{711DBF81-232F-4428-9652-3F0BB9CAE357}"/>
              </a:ext>
            </a:extLst>
          </p:cNvPr>
          <p:cNvSpPr>
            <a:spLocks xmlns:a="http://schemas.openxmlformats.org/drawingml/2006/main" noGrp="1"/>
          </p:cNvSpPr>
          <p:nvPr/>
        </p:nvSpPr>
        <p:spPr>
          <a:xfrm xmlns:a="http://schemas.openxmlformats.org/drawingml/2006/main">
            <a:off x="6619875" y="2828925"/>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B35"/>
                </a:solidFill>
                <a:latin typeface="Franklin Gothic Book"/>
                <a:ea typeface="Franklin Gothic Book"/>
                <a:cs typeface="Franklin Gothic Book"/>
              </a:defRPr>
            </a:pPr>
            <a:r>
              <a:rPr sz="2025" b="0">
                <a:solidFill>
                  <a:srgbClr val="302B35"/>
                </a:solidFill>
                <a:latin typeface="Franklin Gothic Book"/>
                <a:ea typeface="Franklin Gothic Book"/>
                <a:cs typeface="Franklin Gothic Book"/>
              </a:rPr>
              <a:t>Perilaku yang membantu hubungan dan partisipasi, misalnya mengundang anggota untuk berbicara atau meredakan ketegangan.</a:t>
            </a:r>
          </a:p>
        </p:txBody>
      </p:sp>
      <p:sp>
        <p:nvSpPr>
          <p:cNvPr id="8" name="text-7">
            <a:extLst xmlns:a="http://schemas.openxmlformats.org/drawingml/2006/main">
              <a:ext uri="{FF2B5EF4-FFF2-40B4-BE49-F238E27FC236}">
                <a16:creationId xmlns:a16="http://schemas.microsoft.com/office/drawing/2014/main" id="{60EB2C6E-2CF9-4E24-8CFD-8395AD261DA6}"/>
              </a:ext>
            </a:extLst>
          </p:cNvPr>
          <p:cNvSpPr>
            <a:spLocks xmlns:a="http://schemas.openxmlformats.org/drawingml/2006/main" noGrp="1"/>
          </p:cNvSpPr>
          <p:nvPr/>
        </p:nvSpPr>
        <p:spPr>
          <a:xfrm xmlns:a="http://schemas.openxmlformats.org/drawingml/2006/main">
            <a:off x="609600" y="51054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704758"/>
                </a:solidFill>
                <a:latin typeface="Garamond"/>
                <a:ea typeface="Garamond"/>
                <a:cs typeface="Garamond"/>
              </a:defRPr>
            </a:pPr>
            <a:r>
              <a:rPr sz="2325" b="0">
                <a:solidFill>
                  <a:srgbClr val="704758"/>
                </a:solidFill>
                <a:latin typeface="Garamond"/>
                <a:ea typeface="Garamond"/>
                <a:cs typeface="Garamond"/>
              </a:rPr>
              <a:t>Contoh respons: “Kita belum mendengar pendapat Nisa. Setelah itu, saya rangkum alternatifnya.”</a:t>
            </a:r>
          </a:p>
        </p:txBody>
      </p:sp>
    </p:spTree>
    <p:extLst>
      <p:ext uri="{BB962C8B-B14F-4D97-AF65-F5344CB8AC3E}">
        <p14:creationId xmlns:p14="http://schemas.microsoft.com/office/powerpoint/2010/main" val="1909442336"/>
      </p:ext>
    </p:extLst>
  </p:cSld>
</p:sld>
</file>

<file path=ppt/slides/slide4.xml><?xml version="1.0" encoding="utf-8"?>
<p:sld xmlns:p="http://schemas.openxmlformats.org/presentationml/2006/main">
  <p:cSld>
    <p:bg>
      <p:bgPr>
        <a:solidFill xmlns:a="http://schemas.openxmlformats.org/drawingml/2006/main">
          <a:srgbClr val="302B35"/>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22CF03E-E7CE-4BEF-96C4-05C1E8A84842}"/>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F2EDE3"/>
                </a:solidFill>
                <a:latin typeface="Garamond"/>
                <a:ea typeface="Garamond"/>
                <a:cs typeface="Garamond"/>
              </a:defRPr>
            </a:pPr>
            <a:r>
              <a:rPr sz="3900" b="0">
                <a:solidFill>
                  <a:srgbClr val="F2EDE3"/>
                </a:solidFill>
                <a:latin typeface="Garamond"/>
                <a:ea typeface="Garamond"/>
                <a:cs typeface="Garamond"/>
              </a:rPr>
              <a:t>Kasus rapat panitia</a:t>
            </a:r>
          </a:p>
        </p:txBody>
      </p:sp>
      <p:sp>
        <p:nvSpPr>
          <p:cNvPr id="2" name="text-1">
            <a:extLst xmlns:a="http://schemas.openxmlformats.org/drawingml/2006/main">
              <a:ext uri="{FF2B5EF4-FFF2-40B4-BE49-F238E27FC236}">
                <a16:creationId xmlns:a16="http://schemas.microsoft.com/office/drawing/2014/main" id="{7E8583E6-C29C-4F18-90F5-4B34376A0983}"/>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F2EDE3"/>
                </a:solidFill>
                <a:latin typeface="Franklin Gothic Book"/>
                <a:ea typeface="Franklin Gothic Book"/>
                <a:cs typeface="Franklin Gothic Book"/>
              </a:defRPr>
            </a:pPr>
            <a:r>
              <a:rPr sz="1200" b="0">
                <a:solidFill>
                  <a:srgbClr val="F2EDE3"/>
                </a:solidFill>
                <a:latin typeface="Franklin Gothic Book"/>
                <a:ea typeface="Franklin Gothic Book"/>
                <a:cs typeface="Franklin Gothic Book"/>
              </a:rPr>
              <a:t>04</a:t>
            </a:r>
          </a:p>
        </p:txBody>
      </p:sp>
      <p:sp>
        <p:nvSpPr>
          <p:cNvPr id="3" name="text-2">
            <a:extLst xmlns:a="http://schemas.openxmlformats.org/drawingml/2006/main">
              <a:ext uri="{FF2B5EF4-FFF2-40B4-BE49-F238E27FC236}">
                <a16:creationId xmlns:a16="http://schemas.microsoft.com/office/drawing/2014/main" id="{7CCB8941-C577-4B69-9181-C2AC6C115B4B}"/>
              </a:ext>
            </a:extLst>
          </p:cNvPr>
          <p:cNvSpPr>
            <a:spLocks xmlns:a="http://schemas.openxmlformats.org/drawingml/2006/main" noGrp="1"/>
          </p:cNvSpPr>
          <p:nvPr/>
        </p:nvSpPr>
        <p:spPr>
          <a:xfrm xmlns:a="http://schemas.openxmlformats.org/drawingml/2006/main">
            <a:off x="609600" y="64008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2EDE3"/>
                </a:solidFill>
                <a:latin typeface="Franklin Gothic Book"/>
                <a:ea typeface="Franklin Gothic Book"/>
                <a:cs typeface="Franklin Gothic Book"/>
              </a:defRPr>
            </a:pPr>
            <a:r>
              <a:rPr sz="1125" b="0">
                <a:solidFill>
                  <a:srgbClr val="F2EDE3"/>
                </a:solidFill>
                <a:latin typeface="Franklin Gothic Book"/>
                <a:ea typeface="Franklin Gothic Book"/>
                <a:cs typeface="Franklin Gothic Book"/>
              </a:rPr>
              <a:t>Kasus hipotetis, bukan temuan observasi.</a:t>
            </a:r>
          </a:p>
        </p:txBody>
      </p:sp>
      <p:sp>
        <p:nvSpPr>
          <p:cNvPr id="4" name="text-3">
            <a:extLst xmlns:a="http://schemas.openxmlformats.org/drawingml/2006/main">
              <a:ext uri="{FF2B5EF4-FFF2-40B4-BE49-F238E27FC236}">
                <a16:creationId xmlns:a16="http://schemas.microsoft.com/office/drawing/2014/main" id="{F5A2630A-F252-463B-9621-3A86F847E3D1}"/>
              </a:ext>
            </a:extLst>
          </p:cNvPr>
          <p:cNvSpPr>
            <a:spLocks xmlns:a="http://schemas.openxmlformats.org/drawingml/2006/main" noGrp="1"/>
          </p:cNvSpPr>
          <p:nvPr/>
        </p:nvSpPr>
        <p:spPr>
          <a:xfrm xmlns:a="http://schemas.openxmlformats.org/drawingml/2006/main">
            <a:off x="609600" y="2257425"/>
            <a:ext cx="10429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F2EDE3"/>
                </a:solidFill>
                <a:latin typeface="Franklin Gothic Book"/>
                <a:ea typeface="Franklin Gothic Book"/>
                <a:cs typeface="Franklin Gothic Book"/>
              </a:defRPr>
            </a:pPr>
            <a:r>
              <a:rPr sz="2550" b="0">
                <a:solidFill>
                  <a:srgbClr val="F2EDE3"/>
                </a:solidFill>
                <a:latin typeface="Franklin Gothic Book"/>
                <a:ea typeface="Franklin Gothic Book"/>
                <a:cs typeface="Franklin Gothic Book"/>
              </a:rPr>
              <a:t>Empat mahasiswa menyusun acara kampus. Arif sering memberi usulan. Bima memotong penjelasan Citra sebelum selesai. Dini beberapa kali mengulang pilihan yang belum diputuskan. Kelompok belum menyepakati cara menilai usulan.</a:t>
            </a:r>
          </a:p>
        </p:txBody>
      </p:sp>
      <p:sp>
        <p:nvSpPr>
          <p:cNvPr id="5" name="text-4">
            <a:extLst xmlns:a="http://schemas.openxmlformats.org/drawingml/2006/main">
              <a:ext uri="{FF2B5EF4-FFF2-40B4-BE49-F238E27FC236}">
                <a16:creationId xmlns:a16="http://schemas.microsoft.com/office/drawing/2014/main" id="{AC6546FD-A123-4F57-8BFF-F4DF71F19DDA}"/>
              </a:ext>
            </a:extLst>
          </p:cNvPr>
          <p:cNvSpPr>
            <a:spLocks xmlns:a="http://schemas.openxmlformats.org/drawingml/2006/main" noGrp="1"/>
          </p:cNvSpPr>
          <p:nvPr/>
        </p:nvSpPr>
        <p:spPr>
          <a:xfrm xmlns:a="http://schemas.openxmlformats.org/drawingml/2006/main">
            <a:off x="609600" y="5000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0">
                <a:solidFill>
                  <a:srgbClr val="F2EDE3"/>
                </a:solidFill>
                <a:latin typeface="Garamond"/>
                <a:ea typeface="Garamond"/>
                <a:cs typeface="Garamond"/>
              </a:defRPr>
            </a:pPr>
            <a:r>
              <a:rPr sz="3525" b="0">
                <a:solidFill>
                  <a:srgbClr val="F2EDE3"/>
                </a:solidFill>
                <a:latin typeface="Garamond"/>
                <a:ea typeface="Garamond"/>
                <a:cs typeface="Garamond"/>
              </a:rPr>
              <a:t>Informasi apa yang masih diperlukan?</a:t>
            </a:r>
          </a:p>
        </p:txBody>
      </p:sp>
    </p:spTree>
    <p:extLst>
      <p:ext uri="{BB962C8B-B14F-4D97-AF65-F5344CB8AC3E}">
        <p14:creationId xmlns:p14="http://schemas.microsoft.com/office/powerpoint/2010/main" val="243163033"/>
      </p:ext>
    </p:extLst>
  </p:cSld>
</p:sld>
</file>

<file path=ppt/slides/slide5.xml><?xml version="1.0" encoding="utf-8"?>
<p:sld xmlns:p="http://schemas.openxmlformats.org/presentationml/2006/main">
  <p:cSld>
    <p:bg>
      <p:bgPr>
        <a:solidFill xmlns:a="http://schemas.openxmlformats.org/drawingml/2006/main">
          <a:srgbClr val="F2EDE3"/>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09ED0E5-F39C-46C4-B89E-778D438786F7}"/>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302B35"/>
                </a:solidFill>
                <a:latin typeface="Garamond"/>
                <a:ea typeface="Garamond"/>
                <a:cs typeface="Garamond"/>
              </a:defRPr>
            </a:pPr>
            <a:r>
              <a:rPr sz="3900" b="0">
                <a:solidFill>
                  <a:srgbClr val="302B35"/>
                </a:solidFill>
                <a:latin typeface="Garamond"/>
                <a:ea typeface="Garamond"/>
                <a:cs typeface="Garamond"/>
              </a:rPr>
              <a:t>Analisis perilaku dalam kasus</a:t>
            </a:r>
          </a:p>
        </p:txBody>
      </p:sp>
      <p:sp>
        <p:nvSpPr>
          <p:cNvPr id="2" name="text-1">
            <a:extLst xmlns:a="http://schemas.openxmlformats.org/drawingml/2006/main">
              <a:ext uri="{FF2B5EF4-FFF2-40B4-BE49-F238E27FC236}">
                <a16:creationId xmlns:a16="http://schemas.microsoft.com/office/drawing/2014/main" id="{5508A40F-B012-4BBB-BA47-88015BC148F2}"/>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302B35"/>
                </a:solidFill>
                <a:latin typeface="Franklin Gothic Book"/>
                <a:ea typeface="Franklin Gothic Book"/>
                <a:cs typeface="Franklin Gothic Book"/>
              </a:defRPr>
            </a:pPr>
            <a:r>
              <a:rPr sz="1200" b="0">
                <a:solidFill>
                  <a:srgbClr val="302B35"/>
                </a:solidFill>
                <a:latin typeface="Franklin Gothic Book"/>
                <a:ea typeface="Franklin Gothic Book"/>
                <a:cs typeface="Franklin Gothic Book"/>
              </a:rPr>
              <a:t>05</a:t>
            </a:r>
          </a:p>
        </p:txBody>
      </p:sp>
      <p:sp>
        <p:nvSpPr>
          <p:cNvPr id="3" name="text-2">
            <a:extLst xmlns:a="http://schemas.openxmlformats.org/drawingml/2006/main">
              <a:ext uri="{FF2B5EF4-FFF2-40B4-BE49-F238E27FC236}">
                <a16:creationId xmlns:a16="http://schemas.microsoft.com/office/drawing/2014/main" id="{217BEA80-F00F-4D44-989E-22E180F78E11}"/>
              </a:ext>
            </a:extLst>
          </p:cNvPr>
          <p:cNvSpPr>
            <a:spLocks xmlns:a="http://schemas.openxmlformats.org/drawingml/2006/main" noGrp="1"/>
          </p:cNvSpPr>
          <p:nvPr/>
        </p:nvSpPr>
        <p:spPr>
          <a:xfrm xmlns:a="http://schemas.openxmlformats.org/drawingml/2006/main">
            <a:off x="609600" y="22098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704758"/>
                </a:solidFill>
                <a:latin typeface="Garamond"/>
                <a:ea typeface="Garamond"/>
                <a:cs typeface="Garamond"/>
              </a:defRPr>
            </a:pPr>
            <a:r>
              <a:rPr sz="2550" b="0">
                <a:solidFill>
                  <a:srgbClr val="704758"/>
                </a:solidFill>
                <a:latin typeface="Garamond"/>
                <a:ea typeface="Garamond"/>
                <a:cs typeface="Garamond"/>
              </a:rPr>
              <a:t>Observasi</a:t>
            </a:r>
          </a:p>
        </p:txBody>
      </p:sp>
      <p:sp>
        <p:nvSpPr>
          <p:cNvPr id="4" name="text-3">
            <a:extLst xmlns:a="http://schemas.openxmlformats.org/drawingml/2006/main">
              <a:ext uri="{FF2B5EF4-FFF2-40B4-BE49-F238E27FC236}">
                <a16:creationId xmlns:a16="http://schemas.microsoft.com/office/drawing/2014/main" id="{6ABB627A-2E6E-40DE-B72E-E62B99EFD1EC}"/>
              </a:ext>
            </a:extLst>
          </p:cNvPr>
          <p:cNvSpPr>
            <a:spLocks xmlns:a="http://schemas.openxmlformats.org/drawingml/2006/main" noGrp="1"/>
          </p:cNvSpPr>
          <p:nvPr/>
        </p:nvSpPr>
        <p:spPr>
          <a:xfrm xmlns:a="http://schemas.openxmlformats.org/drawingml/2006/main">
            <a:off x="609600" y="2876550"/>
            <a:ext cx="5057775" cy="2390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B35"/>
                </a:solidFill>
                <a:latin typeface="Franklin Gothic Book"/>
                <a:ea typeface="Franklin Gothic Book"/>
                <a:cs typeface="Franklin Gothic Book"/>
              </a:defRPr>
            </a:pPr>
            <a:r>
              <a:rPr sz="2025" b="0">
                <a:solidFill>
                  <a:srgbClr val="302B35"/>
                </a:solidFill>
                <a:latin typeface="Franklin Gothic Book"/>
                <a:ea typeface="Franklin Gothic Book"/>
                <a:cs typeface="Franklin Gothic Book"/>
              </a:rPr>
              <a:t>Bima memotong penjelasan. Dini mengulang pilihan. Catatan ini menyebut tindakan yang bisa diamati, tanpa menebak motif atau sifat pribadi.</a:t>
            </a:r>
          </a:p>
        </p:txBody>
      </p:sp>
      <p:sp>
        <p:nvSpPr>
          <p:cNvPr id="5" name="text-4">
            <a:extLst xmlns:a="http://schemas.openxmlformats.org/drawingml/2006/main">
              <a:ext uri="{FF2B5EF4-FFF2-40B4-BE49-F238E27FC236}">
                <a16:creationId xmlns:a16="http://schemas.microsoft.com/office/drawing/2014/main" id="{0DED9B17-755E-4E96-928C-56306673C820}"/>
              </a:ext>
            </a:extLst>
          </p:cNvPr>
          <p:cNvSpPr>
            <a:spLocks xmlns:a="http://schemas.openxmlformats.org/drawingml/2006/main" noGrp="1"/>
          </p:cNvSpPr>
          <p:nvPr/>
        </p:nvSpPr>
        <p:spPr>
          <a:xfrm xmlns:a="http://schemas.openxmlformats.org/drawingml/2006/main">
            <a:off x="6619875" y="22098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704758"/>
                </a:solidFill>
                <a:latin typeface="Garamond"/>
                <a:ea typeface="Garamond"/>
                <a:cs typeface="Garamond"/>
              </a:defRPr>
            </a:pPr>
            <a:r>
              <a:rPr sz="2550" b="0">
                <a:solidFill>
                  <a:srgbClr val="704758"/>
                </a:solidFill>
                <a:latin typeface="Garamond"/>
                <a:ea typeface="Garamond"/>
                <a:cs typeface="Garamond"/>
              </a:rPr>
              <a:t>Interpretasi sementara</a:t>
            </a:r>
          </a:p>
        </p:txBody>
      </p:sp>
      <p:sp>
        <p:nvSpPr>
          <p:cNvPr id="6" name="text-5">
            <a:extLst xmlns:a="http://schemas.openxmlformats.org/drawingml/2006/main">
              <a:ext uri="{FF2B5EF4-FFF2-40B4-BE49-F238E27FC236}">
                <a16:creationId xmlns:a16="http://schemas.microsoft.com/office/drawing/2014/main" id="{738F0B06-6E62-46AE-9330-69C5966ED218}"/>
              </a:ext>
            </a:extLst>
          </p:cNvPr>
          <p:cNvSpPr>
            <a:spLocks xmlns:a="http://schemas.openxmlformats.org/drawingml/2006/main" noGrp="1"/>
          </p:cNvSpPr>
          <p:nvPr/>
        </p:nvSpPr>
        <p:spPr>
          <a:xfrm xmlns:a="http://schemas.openxmlformats.org/drawingml/2006/main">
            <a:off x="6619875" y="2876550"/>
            <a:ext cx="4953000" cy="2390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B35"/>
                </a:solidFill>
                <a:latin typeface="Franklin Gothic Book"/>
                <a:ea typeface="Franklin Gothic Book"/>
                <a:cs typeface="Franklin Gothic Book"/>
              </a:defRPr>
            </a:pPr>
            <a:r>
              <a:rPr sz="2025" b="0">
                <a:solidFill>
                  <a:srgbClr val="302B35"/>
                </a:solidFill>
                <a:latin typeface="Franklin Gothic Book"/>
                <a:ea typeface="Franklin Gothic Book"/>
                <a:cs typeface="Franklin Gothic Book"/>
              </a:rPr>
              <a:t>Pemotongan dapat mengurangi kesempatan berbicara. Pengulangan dapat membantu keputusan bila merangkum alternatif, tetapi kurang berguna jika tidak menambah kejelasan.</a:t>
            </a:r>
          </a:p>
        </p:txBody>
      </p:sp>
      <p:sp>
        <p:nvSpPr>
          <p:cNvPr id="7" name="text-6">
            <a:extLst xmlns:a="http://schemas.openxmlformats.org/drawingml/2006/main">
              <a:ext uri="{FF2B5EF4-FFF2-40B4-BE49-F238E27FC236}">
                <a16:creationId xmlns:a16="http://schemas.microsoft.com/office/drawing/2014/main" id="{3B50C528-ED16-4646-A216-8487D2263688}"/>
              </a:ext>
            </a:extLst>
          </p:cNvPr>
          <p:cNvSpPr>
            <a:spLocks xmlns:a="http://schemas.openxmlformats.org/drawingml/2006/main" noGrp="1"/>
          </p:cNvSpPr>
          <p:nvPr/>
        </p:nvSpPr>
        <p:spPr>
          <a:xfrm xmlns:a="http://schemas.openxmlformats.org/drawingml/2006/main">
            <a:off x="609600" y="56292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04758"/>
                </a:solidFill>
                <a:latin typeface="Franklin Gothic Book"/>
                <a:ea typeface="Franklin Gothic Book"/>
                <a:cs typeface="Franklin Gothic Book"/>
              </a:defRPr>
            </a:pPr>
            <a:r>
              <a:rPr sz="1875" b="0">
                <a:solidFill>
                  <a:srgbClr val="704758"/>
                </a:solidFill>
                <a:latin typeface="Franklin Gothic Book"/>
                <a:ea typeface="Franklin Gothic Book"/>
                <a:cs typeface="Franklin Gothic Book"/>
              </a:rPr>
              <a:t>Catatan tambahan: urutan giliran, isi respons, dan keputusan yang muncul.</a:t>
            </a:r>
          </a:p>
        </p:txBody>
      </p:sp>
    </p:spTree>
    <p:extLst>
      <p:ext uri="{BB962C8B-B14F-4D97-AF65-F5344CB8AC3E}">
        <p14:creationId xmlns:p14="http://schemas.microsoft.com/office/powerpoint/2010/main" val="154291948"/>
      </p:ext>
    </p:extLst>
  </p:cSld>
</p:sld>
</file>

<file path=ppt/slides/slide6.xml><?xml version="1.0" encoding="utf-8"?>
<p:sld xmlns:p="http://schemas.openxmlformats.org/presentationml/2006/main">
  <p:cSld>
    <p:bg>
      <p:bgPr>
        <a:solidFill xmlns:a="http://schemas.openxmlformats.org/drawingml/2006/main">
          <a:srgbClr val="F2EDE3"/>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13E3A05-21C8-410B-97F3-D6B2706352A6}"/>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302B35"/>
                </a:solidFill>
                <a:latin typeface="Garamond"/>
                <a:ea typeface="Garamond"/>
                <a:cs typeface="Garamond"/>
              </a:defRPr>
            </a:pPr>
            <a:r>
              <a:rPr sz="3900" b="0">
                <a:solidFill>
                  <a:srgbClr val="302B35"/>
                </a:solidFill>
                <a:latin typeface="Garamond"/>
                <a:ea typeface="Garamond"/>
                <a:cs typeface="Garamond"/>
              </a:rPr>
              <a:t>Usulan norma diskusi</a:t>
            </a:r>
          </a:p>
        </p:txBody>
      </p:sp>
      <p:sp>
        <p:nvSpPr>
          <p:cNvPr id="2" name="text-1">
            <a:extLst xmlns:a="http://schemas.openxmlformats.org/drawingml/2006/main">
              <a:ext uri="{FF2B5EF4-FFF2-40B4-BE49-F238E27FC236}">
                <a16:creationId xmlns:a16="http://schemas.microsoft.com/office/drawing/2014/main" id="{EA6015C7-C27F-4DF0-A76B-BCBDEA450A05}"/>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302B35"/>
                </a:solidFill>
                <a:latin typeface="Franklin Gothic Book"/>
                <a:ea typeface="Franklin Gothic Book"/>
                <a:cs typeface="Franklin Gothic Book"/>
              </a:defRPr>
            </a:pPr>
            <a:r>
              <a:rPr sz="1200" b="0">
                <a:solidFill>
                  <a:srgbClr val="302B35"/>
                </a:solidFill>
                <a:latin typeface="Franklin Gothic Book"/>
                <a:ea typeface="Franklin Gothic Book"/>
                <a:cs typeface="Franklin Gothic Book"/>
              </a:rPr>
              <a:t>06</a:t>
            </a:r>
          </a:p>
        </p:txBody>
      </p:sp>
      <p:sp>
        <p:nvSpPr>
          <p:cNvPr id="3" name="text-2">
            <a:extLst xmlns:a="http://schemas.openxmlformats.org/drawingml/2006/main">
              <a:ext uri="{FF2B5EF4-FFF2-40B4-BE49-F238E27FC236}">
                <a16:creationId xmlns:a16="http://schemas.microsoft.com/office/drawing/2014/main" id="{3FDE387B-5858-4CFC-BAA9-BF85CD5782C0}"/>
              </a:ext>
            </a:extLst>
          </p:cNvPr>
          <p:cNvSpPr>
            <a:spLocks xmlns:a="http://schemas.openxmlformats.org/drawingml/2006/main" noGrp="1"/>
          </p:cNvSpPr>
          <p:nvPr/>
        </p:nvSpPr>
        <p:spPr>
          <a:xfrm xmlns:a="http://schemas.openxmlformats.org/drawingml/2006/main">
            <a:off x="609600" y="22002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704758"/>
                </a:solidFill>
                <a:latin typeface="Garamond"/>
                <a:ea typeface="Garamond"/>
                <a:cs typeface="Garamond"/>
              </a:defRPr>
            </a:pPr>
            <a:r>
              <a:rPr sz="2550" b="0">
                <a:solidFill>
                  <a:srgbClr val="704758"/>
                </a:solidFill>
                <a:latin typeface="Garamond"/>
                <a:ea typeface="Garamond"/>
                <a:cs typeface="Garamond"/>
              </a:rPr>
              <a:t>Giliran dan alasan</a:t>
            </a:r>
          </a:p>
        </p:txBody>
      </p:sp>
      <p:sp>
        <p:nvSpPr>
          <p:cNvPr id="4" name="text-3">
            <a:extLst xmlns:a="http://schemas.openxmlformats.org/drawingml/2006/main">
              <a:ext uri="{FF2B5EF4-FFF2-40B4-BE49-F238E27FC236}">
                <a16:creationId xmlns:a16="http://schemas.microsoft.com/office/drawing/2014/main" id="{B2C535CA-8544-4C27-BC7A-3DBC6B6B4855}"/>
              </a:ext>
            </a:extLst>
          </p:cNvPr>
          <p:cNvSpPr>
            <a:spLocks xmlns:a="http://schemas.openxmlformats.org/drawingml/2006/main" noGrp="1"/>
          </p:cNvSpPr>
          <p:nvPr/>
        </p:nvSpPr>
        <p:spPr>
          <a:xfrm xmlns:a="http://schemas.openxmlformats.org/drawingml/2006/main">
            <a:off x="609600" y="2876550"/>
            <a:ext cx="50673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B35"/>
                </a:solidFill>
                <a:latin typeface="Franklin Gothic Book"/>
                <a:ea typeface="Franklin Gothic Book"/>
                <a:cs typeface="Franklin Gothic Book"/>
              </a:defRPr>
            </a:pPr>
            <a:r>
              <a:rPr sz="2025" b="0">
                <a:solidFill>
                  <a:srgbClr val="302B35"/>
                </a:solidFill>
                <a:latin typeface="Franklin Gothic Book"/>
                <a:ea typeface="Franklin Gothic Book"/>
                <a:cs typeface="Franklin Gothic Book"/>
              </a:rPr>
              <a:t>Kelompok menyepakati bahwa setiap usulan dijelaskan sampai selesai sebelum tanggapan. Penolakan disertai alasan yang berkaitan dengan tujuan acara.</a:t>
            </a:r>
          </a:p>
        </p:txBody>
      </p:sp>
      <p:sp>
        <p:nvSpPr>
          <p:cNvPr id="5" name="text-4">
            <a:extLst xmlns:a="http://schemas.openxmlformats.org/drawingml/2006/main">
              <a:ext uri="{FF2B5EF4-FFF2-40B4-BE49-F238E27FC236}">
                <a16:creationId xmlns:a16="http://schemas.microsoft.com/office/drawing/2014/main" id="{C2F51E9C-3809-455C-841B-E7FCD2B94700}"/>
              </a:ext>
            </a:extLst>
          </p:cNvPr>
          <p:cNvSpPr>
            <a:spLocks xmlns:a="http://schemas.openxmlformats.org/drawingml/2006/main" noGrp="1"/>
          </p:cNvSpPr>
          <p:nvPr/>
        </p:nvSpPr>
        <p:spPr>
          <a:xfrm xmlns:a="http://schemas.openxmlformats.org/drawingml/2006/main">
            <a:off x="6619875" y="22002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704758"/>
                </a:solidFill>
                <a:latin typeface="Garamond"/>
                <a:ea typeface="Garamond"/>
                <a:cs typeface="Garamond"/>
              </a:defRPr>
            </a:pPr>
            <a:r>
              <a:rPr sz="2550" b="0">
                <a:solidFill>
                  <a:srgbClr val="704758"/>
                </a:solidFill>
                <a:latin typeface="Garamond"/>
                <a:ea typeface="Garamond"/>
                <a:cs typeface="Garamond"/>
              </a:rPr>
              <a:t>Ringkasan keputusan</a:t>
            </a:r>
          </a:p>
        </p:txBody>
      </p:sp>
      <p:sp>
        <p:nvSpPr>
          <p:cNvPr id="6" name="text-5">
            <a:extLst xmlns:a="http://schemas.openxmlformats.org/drawingml/2006/main">
              <a:ext uri="{FF2B5EF4-FFF2-40B4-BE49-F238E27FC236}">
                <a16:creationId xmlns:a16="http://schemas.microsoft.com/office/drawing/2014/main" id="{1A10488B-1B7F-4C0A-81C0-69525A333E11}"/>
              </a:ext>
            </a:extLst>
          </p:cNvPr>
          <p:cNvSpPr>
            <a:spLocks xmlns:a="http://schemas.openxmlformats.org/drawingml/2006/main" noGrp="1"/>
          </p:cNvSpPr>
          <p:nvPr/>
        </p:nvSpPr>
        <p:spPr>
          <a:xfrm xmlns:a="http://schemas.openxmlformats.org/drawingml/2006/main">
            <a:off x="6619875" y="2876550"/>
            <a:ext cx="4953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02B35"/>
                </a:solidFill>
                <a:latin typeface="Franklin Gothic Book"/>
                <a:ea typeface="Franklin Gothic Book"/>
                <a:cs typeface="Franklin Gothic Book"/>
              </a:defRPr>
            </a:pPr>
            <a:r>
              <a:rPr sz="2025" b="0">
                <a:solidFill>
                  <a:srgbClr val="302B35"/>
                </a:solidFill>
                <a:latin typeface="Franklin Gothic Book"/>
                <a:ea typeface="Franklin Gothic Book"/>
                <a:cs typeface="Franklin Gothic Book"/>
              </a:rPr>
              <a:t>Satu anggota mencatat alternatif, alasan, serta keputusan. Sebelum rapat berakhir, kelompok memeriksa apakah catatan mencerminkan pembahasan.</a:t>
            </a:r>
          </a:p>
        </p:txBody>
      </p:sp>
      <p:sp>
        <p:nvSpPr>
          <p:cNvPr id="7" name="text-6">
            <a:extLst xmlns:a="http://schemas.openxmlformats.org/drawingml/2006/main">
              <a:ext uri="{FF2B5EF4-FFF2-40B4-BE49-F238E27FC236}">
                <a16:creationId xmlns:a16="http://schemas.microsoft.com/office/drawing/2014/main" id="{21CF95E2-6313-42DC-9CA9-6ABEC64E5822}"/>
              </a:ext>
            </a:extLst>
          </p:cNvPr>
          <p:cNvSpPr>
            <a:spLocks xmlns:a="http://schemas.openxmlformats.org/drawingml/2006/main" noGrp="1"/>
          </p:cNvSpPr>
          <p:nvPr/>
        </p:nvSpPr>
        <p:spPr>
          <a:xfrm xmlns:a="http://schemas.openxmlformats.org/drawingml/2006/main">
            <a:off x="609600" y="5734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04758"/>
                </a:solidFill>
                <a:latin typeface="Franklin Gothic Book"/>
                <a:ea typeface="Franklin Gothic Book"/>
                <a:cs typeface="Franklin Gothic Book"/>
              </a:defRPr>
            </a:pPr>
            <a:r>
              <a:rPr sz="1875" b="0">
                <a:solidFill>
                  <a:srgbClr val="704758"/>
                </a:solidFill>
                <a:latin typeface="Franklin Gothic Book"/>
                <a:ea typeface="Franklin Gothic Book"/>
                <a:cs typeface="Franklin Gothic Book"/>
              </a:rPr>
              <a:t>Pembagian tugas pencatatan bisa bergilir, bukan melekat pada satu orang.</a:t>
            </a:r>
          </a:p>
        </p:txBody>
      </p:sp>
    </p:spTree>
    <p:extLst>
      <p:ext uri="{BB962C8B-B14F-4D97-AF65-F5344CB8AC3E}">
        <p14:creationId xmlns:p14="http://schemas.microsoft.com/office/powerpoint/2010/main" val="973987962"/>
      </p:ext>
    </p:extLst>
  </p:cSld>
</p:sld>
</file>

<file path=ppt/slides/slide7.xml><?xml version="1.0" encoding="utf-8"?>
<p:sld xmlns:p="http://schemas.openxmlformats.org/presentationml/2006/main">
  <p:cSld>
    <p:bg>
      <p:bgPr>
        <a:solidFill xmlns:a="http://schemas.openxmlformats.org/drawingml/2006/main">
          <a:srgbClr val="F2EDE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9492725-ABB4-4F39-9671-283AD11C3F99}"/>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302B35"/>
                </a:solidFill>
                <a:latin typeface="Garamond"/>
                <a:ea typeface="Garamond"/>
                <a:cs typeface="Garamond"/>
              </a:defRPr>
            </a:pPr>
            <a:r>
              <a:rPr sz="3900" b="0">
                <a:solidFill>
                  <a:srgbClr val="302B35"/>
                </a:solidFill>
                <a:latin typeface="Garamond"/>
                <a:ea typeface="Garamond"/>
                <a:cs typeface="Garamond"/>
              </a:rPr>
              <a:t>Latihan analisis kelompok</a:t>
            </a:r>
          </a:p>
        </p:txBody>
      </p:sp>
      <p:sp>
        <p:nvSpPr>
          <p:cNvPr id="2" name="text-1">
            <a:extLst xmlns:a="http://schemas.openxmlformats.org/drawingml/2006/main">
              <a:ext uri="{FF2B5EF4-FFF2-40B4-BE49-F238E27FC236}">
                <a16:creationId xmlns:a16="http://schemas.microsoft.com/office/drawing/2014/main" id="{6B9D8D11-0B42-4B37-AF51-BB23E6B7C96B}"/>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302B35"/>
                </a:solidFill>
                <a:latin typeface="Franklin Gothic Book"/>
                <a:ea typeface="Franklin Gothic Book"/>
                <a:cs typeface="Franklin Gothic Book"/>
              </a:defRPr>
            </a:pPr>
            <a:r>
              <a:rPr sz="1200" b="0">
                <a:solidFill>
                  <a:srgbClr val="302B35"/>
                </a:solidFill>
                <a:latin typeface="Franklin Gothic Book"/>
                <a:ea typeface="Franklin Gothic Book"/>
                <a:cs typeface="Franklin Gothic Book"/>
              </a:rPr>
              <a:t>07</a:t>
            </a:r>
          </a:p>
        </p:txBody>
      </p:sp>
      <p:sp>
        <p:nvSpPr>
          <p:cNvPr id="3" name="text-2">
            <a:extLst xmlns:a="http://schemas.openxmlformats.org/drawingml/2006/main">
              <a:ext uri="{FF2B5EF4-FFF2-40B4-BE49-F238E27FC236}">
                <a16:creationId xmlns:a16="http://schemas.microsoft.com/office/drawing/2014/main" id="{437B8956-D66D-45EC-8DC6-BE9DDB54E5DD}"/>
              </a:ext>
            </a:extLst>
          </p:cNvPr>
          <p:cNvSpPr>
            <a:spLocks xmlns:a="http://schemas.openxmlformats.org/drawingml/2006/main" noGrp="1"/>
          </p:cNvSpPr>
          <p:nvPr/>
        </p:nvSpPr>
        <p:spPr>
          <a:xfrm xmlns:a="http://schemas.openxmlformats.org/drawingml/2006/main">
            <a:off x="609600" y="20764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704758"/>
                </a:solidFill>
                <a:latin typeface="Garamond"/>
                <a:ea typeface="Garamond"/>
                <a:cs typeface="Garamond"/>
              </a:defRPr>
            </a:pPr>
            <a:r>
              <a:rPr sz="3600" b="0">
                <a:solidFill>
                  <a:srgbClr val="704758"/>
                </a:solidFill>
                <a:latin typeface="Garamond"/>
                <a:ea typeface="Garamond"/>
                <a:cs typeface="Garamond"/>
              </a:rPr>
              <a:t>Buat analisis singkat rapat panitia tadi.</a:t>
            </a:r>
          </a:p>
        </p:txBody>
      </p:sp>
      <p:sp>
        <p:nvSpPr>
          <p:cNvPr id="4" name="text-3">
            <a:extLst xmlns:a="http://schemas.openxmlformats.org/drawingml/2006/main">
              <a:ext uri="{FF2B5EF4-FFF2-40B4-BE49-F238E27FC236}">
                <a16:creationId xmlns:a16="http://schemas.microsoft.com/office/drawing/2014/main" id="{E7542DF5-4785-4D9F-A982-B494A7C7F05B}"/>
              </a:ext>
            </a:extLst>
          </p:cNvPr>
          <p:cNvSpPr>
            <a:spLocks xmlns:a="http://schemas.openxmlformats.org/drawingml/2006/main" noGrp="1"/>
          </p:cNvSpPr>
          <p:nvPr/>
        </p:nvSpPr>
        <p:spPr>
          <a:xfrm xmlns:a="http://schemas.openxmlformats.org/drawingml/2006/main">
            <a:off x="609600" y="3343275"/>
            <a:ext cx="104775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302B35"/>
                </a:solidFill>
                <a:latin typeface="Franklin Gothic Book"/>
                <a:ea typeface="Franklin Gothic Book"/>
                <a:cs typeface="Franklin Gothic Book"/>
              </a:defRPr>
            </a:pPr>
            <a:r>
              <a:rPr sz="2400" b="0">
                <a:solidFill>
                  <a:srgbClr val="302B35"/>
                </a:solidFill>
                <a:latin typeface="Franklin Gothic Book"/>
                <a:ea typeface="Franklin Gothic Book"/>
                <a:cs typeface="Franklin Gothic Book"/>
              </a:rPr>
              <a:t>Identifikasi satu norma yang belum jelas dan satu kontribusi peran. Gunakan perilaku dalam kasus sebagai bukti. Usulkan perubahan proses diskusi serta cara mengamati apakah perubahan itu membantu.</a:t>
            </a:r>
          </a:p>
        </p:txBody>
      </p:sp>
      <p:sp>
        <p:nvSpPr>
          <p:cNvPr id="5" name="text-4">
            <a:extLst xmlns:a="http://schemas.openxmlformats.org/drawingml/2006/main">
              <a:ext uri="{FF2B5EF4-FFF2-40B4-BE49-F238E27FC236}">
                <a16:creationId xmlns:a16="http://schemas.microsoft.com/office/drawing/2014/main" id="{87292834-D867-4B08-97DC-EF035BC6F1A3}"/>
              </a:ext>
            </a:extLst>
          </p:cNvPr>
          <p:cNvSpPr>
            <a:spLocks xmlns:a="http://schemas.openxmlformats.org/drawingml/2006/main" noGrp="1"/>
          </p:cNvSpPr>
          <p:nvPr/>
        </p:nvSpPr>
        <p:spPr>
          <a:xfrm xmlns:a="http://schemas.openxmlformats.org/drawingml/2006/main">
            <a:off x="609600" y="55054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02B35"/>
                </a:solidFill>
                <a:latin typeface="Franklin Gothic Book"/>
                <a:ea typeface="Franklin Gothic Book"/>
                <a:cs typeface="Franklin Gothic Book"/>
              </a:defRPr>
            </a:pPr>
            <a:r>
              <a:rPr sz="1875" b="0">
                <a:solidFill>
                  <a:srgbClr val="302B35"/>
                </a:solidFill>
                <a:latin typeface="Franklin Gothic Book"/>
                <a:ea typeface="Franklin Gothic Book"/>
                <a:cs typeface="Franklin Gothic Book"/>
              </a:rPr>
              <a:t>Respons 150–200 kata. Bedakan observasi, interpretasi, dan usulan.</a:t>
            </a:r>
          </a:p>
        </p:txBody>
      </p:sp>
    </p:spTree>
    <p:extLst>
      <p:ext uri="{BB962C8B-B14F-4D97-AF65-F5344CB8AC3E}">
        <p14:creationId xmlns:p14="http://schemas.microsoft.com/office/powerpoint/2010/main" val="2115686809"/>
      </p:ext>
    </p:extLst>
  </p:cSld>
</p:sld>
</file>

<file path=ppt/slides/slide8.xml><?xml version="1.0" encoding="utf-8"?>
<p:sld xmlns:p="http://schemas.openxmlformats.org/presentationml/2006/main">
  <p:cSld>
    <p:bg>
      <p:bgPr>
        <a:solidFill xmlns:a="http://schemas.openxmlformats.org/drawingml/2006/main">
          <a:srgbClr val="F2EDE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358C39B-3D37-4C04-A9B6-3A0A4CF3B313}"/>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302B35"/>
                </a:solidFill>
                <a:latin typeface="Garamond"/>
                <a:ea typeface="Garamond"/>
                <a:cs typeface="Garamond"/>
              </a:defRPr>
            </a:pPr>
            <a:r>
              <a:rPr sz="3900" b="0">
                <a:solidFill>
                  <a:srgbClr val="302B35"/>
                </a:solidFill>
                <a:latin typeface="Garamond"/>
                <a:ea typeface="Garamond"/>
                <a:cs typeface="Garamond"/>
              </a:rPr>
              <a:t>Rangkuman dan bacaan</a:t>
            </a:r>
          </a:p>
        </p:txBody>
      </p:sp>
      <p:sp>
        <p:nvSpPr>
          <p:cNvPr id="2" name="text-1">
            <a:extLst xmlns:a="http://schemas.openxmlformats.org/drawingml/2006/main">
              <a:ext uri="{FF2B5EF4-FFF2-40B4-BE49-F238E27FC236}">
                <a16:creationId xmlns:a16="http://schemas.microsoft.com/office/drawing/2014/main" id="{C9B2F15F-B0FC-4731-96E9-AB15A5392DC6}"/>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302B35"/>
                </a:solidFill>
                <a:latin typeface="Franklin Gothic Book"/>
                <a:ea typeface="Franklin Gothic Book"/>
                <a:cs typeface="Franklin Gothic Book"/>
              </a:defRPr>
            </a:pPr>
            <a:r>
              <a:rPr sz="1200" b="0">
                <a:solidFill>
                  <a:srgbClr val="302B35"/>
                </a:solidFill>
                <a:latin typeface="Franklin Gothic Book"/>
                <a:ea typeface="Franklin Gothic Book"/>
                <a:cs typeface="Franklin Gothic Book"/>
              </a:rPr>
              <a:t>08</a:t>
            </a:r>
          </a:p>
        </p:txBody>
      </p:sp>
      <p:sp>
        <p:nvSpPr>
          <p:cNvPr id="3" name="text-2">
            <a:extLst xmlns:a="http://schemas.openxmlformats.org/drawingml/2006/main">
              <a:ext uri="{FF2B5EF4-FFF2-40B4-BE49-F238E27FC236}">
                <a16:creationId xmlns:a16="http://schemas.microsoft.com/office/drawing/2014/main" id="{29B41A31-73C1-4EF8-BD60-FCF1FC6B1104}"/>
              </a:ext>
            </a:extLst>
          </p:cNvPr>
          <p:cNvSpPr>
            <a:spLocks xmlns:a="http://schemas.openxmlformats.org/drawingml/2006/main" noGrp="1"/>
          </p:cNvSpPr>
          <p:nvPr/>
        </p:nvSpPr>
        <p:spPr>
          <a:xfrm xmlns:a="http://schemas.openxmlformats.org/drawingml/2006/main">
            <a:off x="609600" y="200025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302B35"/>
                </a:solidFill>
                <a:latin typeface="Franklin Gothic Book"/>
                <a:ea typeface="Franklin Gothic Book"/>
                <a:cs typeface="Franklin Gothic Book"/>
              </a:defRPr>
            </a:pPr>
            <a:r>
              <a:rPr sz="2475" b="0">
                <a:solidFill>
                  <a:srgbClr val="302B35"/>
                </a:solidFill>
                <a:latin typeface="Franklin Gothic Book"/>
                <a:ea typeface="Franklin Gothic Book"/>
                <a:cs typeface="Franklin Gothic Book"/>
              </a:rPr>
              <a:t>Norma mengatur harapan bersama. Peran terlihat dalam kontribusi anggota. Analisis yang berguna menjelaskan perilaku dan konteks sebelum memberi penilaian.</a:t>
            </a:r>
          </a:p>
        </p:txBody>
      </p:sp>
      <p:sp>
        <p:nvSpPr>
          <p:cNvPr id="4" name="text-3">
            <a:extLst xmlns:a="http://schemas.openxmlformats.org/drawingml/2006/main">
              <a:ext uri="{FF2B5EF4-FFF2-40B4-BE49-F238E27FC236}">
                <a16:creationId xmlns:a16="http://schemas.microsoft.com/office/drawing/2014/main" id="{491A20AA-9326-4B12-8742-1100F3F1D9DE}"/>
              </a:ext>
            </a:extLst>
          </p:cNvPr>
          <p:cNvSpPr>
            <a:spLocks xmlns:a="http://schemas.openxmlformats.org/drawingml/2006/main" noGrp="1"/>
          </p:cNvSpPr>
          <p:nvPr/>
        </p:nvSpPr>
        <p:spPr>
          <a:xfrm xmlns:a="http://schemas.openxmlformats.org/drawingml/2006/main">
            <a:off x="609600" y="3667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704758"/>
                </a:solidFill>
                <a:latin typeface="Garamond"/>
                <a:ea typeface="Garamond"/>
                <a:cs typeface="Garamond"/>
              </a:defRPr>
            </a:pPr>
            <a:r>
              <a:rPr sz="2250" b="0">
                <a:solidFill>
                  <a:srgbClr val="704758"/>
                </a:solidFill>
                <a:latin typeface="Garamond"/>
                <a:ea typeface="Garamond"/>
                <a:cs typeface="Garamond"/>
              </a:rPr>
              <a:t>Bacaan konsep</a:t>
            </a:r>
          </a:p>
        </p:txBody>
      </p:sp>
      <p:sp>
        <p:nvSpPr>
          <p:cNvPr id="5" name="text-4">
            <a:extLst xmlns:a="http://schemas.openxmlformats.org/drawingml/2006/main">
              <a:ext uri="{FF2B5EF4-FFF2-40B4-BE49-F238E27FC236}">
                <a16:creationId xmlns:a16="http://schemas.microsoft.com/office/drawing/2014/main" id="{0F20A694-1C33-4069-9495-AE04871C84BB}"/>
              </a:ext>
            </a:extLst>
          </p:cNvPr>
          <p:cNvSpPr>
            <a:spLocks xmlns:a="http://schemas.openxmlformats.org/drawingml/2006/main" noGrp="1"/>
          </p:cNvSpPr>
          <p:nvPr/>
        </p:nvSpPr>
        <p:spPr>
          <a:xfrm xmlns:a="http://schemas.openxmlformats.org/drawingml/2006/main">
            <a:off x="609600" y="4248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02B35"/>
                </a:solidFill>
                <a:latin typeface="Franklin Gothic Book"/>
                <a:ea typeface="Franklin Gothic Book"/>
                <a:cs typeface="Franklin Gothic Book"/>
              </a:defRPr>
            </a:pPr>
            <a:r>
              <a:rPr sz="1575" b="0">
                <a:solidFill>
                  <a:srgbClr val="302B35"/>
                </a:solidFill>
                <a:latin typeface="Franklin Gothic Book"/>
                <a:ea typeface="Franklin Gothic Book"/>
                <a:cs typeface="Franklin Gothic Book"/>
              </a:rPr>
              <a:t>https://open.lib.umn.edu/commpractice/chapter/norms-and-roles/</a:t>
            </a:r>
          </a:p>
        </p:txBody>
      </p:sp>
      <p:sp>
        <p:nvSpPr>
          <p:cNvPr id="6" name="text-5">
            <a:extLst xmlns:a="http://schemas.openxmlformats.org/drawingml/2006/main">
              <a:ext uri="{FF2B5EF4-FFF2-40B4-BE49-F238E27FC236}">
                <a16:creationId xmlns:a16="http://schemas.microsoft.com/office/drawing/2014/main" id="{42A4F327-3040-4829-AAA4-7B44305D8D3D}"/>
              </a:ext>
            </a:extLst>
          </p:cNvPr>
          <p:cNvSpPr>
            <a:spLocks xmlns:a="http://schemas.openxmlformats.org/drawingml/2006/main" noGrp="1"/>
          </p:cNvSpPr>
          <p:nvPr/>
        </p:nvSpPr>
        <p:spPr>
          <a:xfrm xmlns:a="http://schemas.openxmlformats.org/drawingml/2006/main">
            <a:off x="609600" y="55340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302B35"/>
                </a:solidFill>
                <a:latin typeface="Franklin Gothic Book"/>
                <a:ea typeface="Franklin Gothic Book"/>
                <a:cs typeface="Franklin Gothic Book"/>
              </a:defRPr>
            </a:pPr>
            <a:r>
              <a:rPr sz="1650" b="0">
                <a:solidFill>
                  <a:srgbClr val="302B35"/>
                </a:solidFill>
                <a:latin typeface="Franklin Gothic Book"/>
                <a:ea typeface="Franklin Gothic Book"/>
                <a:cs typeface="Franklin Gothic Book"/>
              </a:rPr>
              <a:t>Kasus dan data latihan merupakan contoh orisinal hipotetis. Sesuaikan dengan RPS, prasyarat, dan waktu kelas.</a:t>
            </a:r>
          </a:p>
        </p:txBody>
      </p:sp>
    </p:spTree>
    <p:extLst>
      <p:ext uri="{BB962C8B-B14F-4D97-AF65-F5344CB8AC3E}">
        <p14:creationId xmlns:p14="http://schemas.microsoft.com/office/powerpoint/2010/main" val="610148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2026-09-26T16:08:41.3320000Z</dcterms:created>
  <dcterms:modified xsi:type="dcterms:W3CDTF">2026-09-26T16:08:41.3320000Z</dcterms:modified>
</coreProperties>
</file>