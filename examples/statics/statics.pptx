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98bdb18f3444d82" /><Relationship Type="http://schemas.openxmlformats.org/officeDocument/2006/relationships/extended-properties" Target="/docProps/app.xml" Id="Re14e8fd10bcf49e3" /><Relationship Type="http://schemas.openxmlformats.org/officeDocument/2006/relationships/officeDocument" Target="/ppt/presentation.xml" Id="Red274739890b4f4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c705626757d4d76"/>
  </p:sldMasterIdLst>
  <p:notesMasterIdLst>
    <p:notesMasterId xmlns:r="http://schemas.openxmlformats.org/officeDocument/2006/relationships" r:id="R7ffc3a6d857144ab"/>
  </p:notesMasterIdLst>
  <p:sldIdLst>
    <p:sldId xmlns:r="http://schemas.openxmlformats.org/officeDocument/2006/relationships" id="256" r:id="Rdc4a5952e8fe478a"/>
    <p:sldId xmlns:r="http://schemas.openxmlformats.org/officeDocument/2006/relationships" id="257" r:id="R7d9752665b884e5f"/>
    <p:sldId xmlns:r="http://schemas.openxmlformats.org/officeDocument/2006/relationships" id="258" r:id="Rda0181bc4d6c4b26"/>
    <p:sldId xmlns:r="http://schemas.openxmlformats.org/officeDocument/2006/relationships" id="259" r:id="R8975e9fcc5f24528"/>
    <p:sldId xmlns:r="http://schemas.openxmlformats.org/officeDocument/2006/relationships" id="260" r:id="R7b6119b243964d19"/>
    <p:sldId xmlns:r="http://schemas.openxmlformats.org/officeDocument/2006/relationships" id="261" r:id="R1bed8d4269ab4fd0"/>
    <p:sldId xmlns:r="http://schemas.openxmlformats.org/officeDocument/2006/relationships" id="262" r:id="R237f5375b66f466d"/>
    <p:sldId xmlns:r="http://schemas.openxmlformats.org/officeDocument/2006/relationships" id="263" r:id="R1db081b084a24e5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a6fb7de10cb4dd5" /><Relationship Type="http://schemas.openxmlformats.org/officeDocument/2006/relationships/slideMaster" Target="/ppt/slideMasters/slideMaster1.xml" Id="Rcc705626757d4d76" /><Relationship Type="http://schemas.openxmlformats.org/officeDocument/2006/relationships/notesMaster" Target="/ppt/notesMasters/notesMaster1.xml" Id="R7ffc3a6d857144ab" /><Relationship Type="http://schemas.openxmlformats.org/officeDocument/2006/relationships/presProps" Target="/ppt/presProps.xml" Id="R75bf41d88f3e47c4" /><Relationship Type="http://schemas.openxmlformats.org/officeDocument/2006/relationships/tableStyles" Target="/ppt/tableStyles.xml" Id="R395f71c9fa344c08" /><Relationship Type="http://schemas.openxmlformats.org/officeDocument/2006/relationships/slide" Target="/ppt/slides/slide1.xml" Id="Rdc4a5952e8fe478a" /><Relationship Type="http://schemas.openxmlformats.org/officeDocument/2006/relationships/slide" Target="/ppt/slides/slide2.xml" Id="R7d9752665b884e5f" /><Relationship Type="http://schemas.openxmlformats.org/officeDocument/2006/relationships/slide" Target="/ppt/slides/slide3.xml" Id="Rda0181bc4d6c4b26" /><Relationship Type="http://schemas.openxmlformats.org/officeDocument/2006/relationships/slide" Target="/ppt/slides/slide4.xml" Id="R8975e9fcc5f24528" /><Relationship Type="http://schemas.openxmlformats.org/officeDocument/2006/relationships/slide" Target="/ppt/slides/slide5.xml" Id="R7b6119b243964d19" /><Relationship Type="http://schemas.openxmlformats.org/officeDocument/2006/relationships/slide" Target="/ppt/slides/slide6.xml" Id="R1bed8d4269ab4fd0" /><Relationship Type="http://schemas.openxmlformats.org/officeDocument/2006/relationships/slide" Target="/ppt/slides/slide7.xml" Id="R237f5375b66f466d" /><Relationship Type="http://schemas.openxmlformats.org/officeDocument/2006/relationships/slide" Target="/ppt/slides/slide8.xml" Id="R1db081b084a24e5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001ba12bd134a8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849a820f6a64d42" /><Relationship Type="http://schemas.openxmlformats.org/officeDocument/2006/relationships/notesMaster" Target="/ppt/notesMasters/notesMaster1.xml" Id="Rac6f72745c584ee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faa21a909b84854" /><Relationship Type="http://schemas.openxmlformats.org/officeDocument/2006/relationships/notesMaster" Target="/ppt/notesMasters/notesMaster1.xml" Id="Raabd91853c5e4c9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02ec39879f040c1" /><Relationship Type="http://schemas.openxmlformats.org/officeDocument/2006/relationships/notesMaster" Target="/ppt/notesMasters/notesMaster1.xml" Id="Re8a9d643fae047a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031777308854ec9" /><Relationship Type="http://schemas.openxmlformats.org/officeDocument/2006/relationships/notesMaster" Target="/ppt/notesMasters/notesMaster1.xml" Id="Rd1cc3011f0d143a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6540eb9780e452e" /><Relationship Type="http://schemas.openxmlformats.org/officeDocument/2006/relationships/notesMaster" Target="/ppt/notesMasters/notesMaster1.xml" Id="R2ff2dcdbeba342a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b6f3ed77cf74834" /><Relationship Type="http://schemas.openxmlformats.org/officeDocument/2006/relationships/notesMaster" Target="/ppt/notesMasters/notesMaster1.xml" Id="Rc31c52c376d5486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61fa24a5acc45c7" /><Relationship Type="http://schemas.openxmlformats.org/officeDocument/2006/relationships/notesMaster" Target="/ppt/notesMasters/notesMaster1.xml" Id="R24da0f3c364d486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731bcb2ce54498b" /><Relationship Type="http://schemas.openxmlformats.org/officeDocument/2006/relationships/notesMaster" Target="/ppt/notesMasters/notesMaster1.xml" Id="Rff90fb1ec2c84dd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Pertemuan sekitar 30–40 menit. Prasyarat: gaya, momen, aljabar dasar, dan satuan SI. Tujuan: menggambar diagram benda bebas, menghitung reaksi, dan memeriksa hasil. Contoh merupakan model balok sederhana untuk pengajaran, bukan penilaian struktur bangunan.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Tetapkan model: balok kaku bertumpu sendi di A dan rol di B, bentang 4 m, gaya vertikal 12 kN pada jarak 1 m dari A. Berat balok diabaikan. Tidak ada beban horizontal sehingga reaksi horizontal nol pada model ini. Tanyakan asumsi apa yang berubah jika berat balok diperhitungkan.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Minta mahasiswa mengenali gaya beban yang mengarah ke bawah dan reaksi vertikal yang diasumsikan ke atas. Diagram tidak digambar menurut skala. Jarak beban diukur dari A. Rujukan keseimbangan: OpenStax, University Physics Volume 1, 12.1 Conditions for Static Equilibrium.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Ambil arah atas dan momen berlawanan jarum jam sebagai positif. Keseimbangan vertikal: R_A + R_B − 12 = 0. Momen terhadap A: 4R_B − 12 × 1 = 0, dalam kN m. Reaksi A tidak menyumbang momen terhadap A karena lengan momennya nol. Jelaskan alasan ini sebelum menyelesaikan aljabar.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Hasil: R_B = 3 kN dan R_A = 9 kN. Pemeriksaan gaya: 9 + 3 − 12 = 0 kN. Pemeriksaan momen terhadap A: 3 × 4 − 12 × 1 = 0 kN m. Reaksi lebih besar di A sesuai posisi beban yang lebih dekat A. Interpretasi ini berlaku untuk asumsi balok dan tumpuan yang digunakan.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Untuk P = 12 kN dan L = 4 m, R_B = Pa/L dan R_A = P − R_B. Pada a = 1, 2, 3 m, R_A = 9, 6, 3 kN dan R_B = 3, 6, 9 kN. Semua angka merupakan simulasi perhitungan. Minta mahasiswa memprediksi hasil saat beban berada tepat di tengah sebelum melihat grafik.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Jawaban: R_B = 20 × 2 / 5 = 8 kN; R_A = 20 − 8 = 12 kN. Cek gaya: 12 + 8 − 20 = 0 kN. Cek momen terhadap A: 8 × 5 − 20 × 2 = 0 kN m. Rubrik: model/asumsi 20%, persamaan 40%, hasil dan satuan 20%, pemeriksaan 20%. Jika berat balok tidak diabaikan, tambahkan gaya berat pada lokasi yang sesuai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Minta mahasiswa menyebut urutan model, diagram, persamaan, hasil, dan pemeriksaan. Hubungkan diagram slide 2–3, hitungan slide 4–5, dan interpretasi slide 6 dengan latihan slide 7. Bacaan: https://openstax.org/books/university-physics-volume-1/pages/12-1-conditions-for-static-equilibrium.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bec0f293b8404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a71c4e5215b4fb8" /><Relationship Type="http://schemas.openxmlformats.org/officeDocument/2006/relationships/slideLayout" Target="/ppt/slideLayouts/slideLayout1.xml" Id="Rc1a8d8e19dba42e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1a8d8e19dba42e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bd668a098d4102" /><Relationship Type="http://schemas.openxmlformats.org/officeDocument/2006/relationships/notesSlide" Target="/ppt/notesSlides/notesSlide1.xml" Id="R69be1162af1c466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a56c6e40d14378" /><Relationship Type="http://schemas.openxmlformats.org/officeDocument/2006/relationships/notesSlide" Target="/ppt/notesSlides/notesSlide2.xml" Id="Rd5a97e50489844d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afa5bcce474b52" /><Relationship Type="http://schemas.openxmlformats.org/officeDocument/2006/relationships/notesSlide" Target="/ppt/notesSlides/notesSlide3.xml" Id="R7e5f84c52aa64f3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8884a08bee4ec0" /><Relationship Type="http://schemas.openxmlformats.org/officeDocument/2006/relationships/notesSlide" Target="/ppt/notesSlides/notesSlide4.xml" Id="R0f15e11425594a5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a430deb1404c61" /><Relationship Type="http://schemas.openxmlformats.org/officeDocument/2006/relationships/notesSlide" Target="/ppt/notesSlides/notesSlide5.xml" Id="Rf3911b4c2eb54e5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f5534f482045bb" /><Relationship Type="http://schemas.openxmlformats.org/officeDocument/2006/relationships/chart" Target="/ppt/slides/charts/chart1.xml" Id="Rf8ce1826ce264461" /><Relationship Type="http://schemas.openxmlformats.org/officeDocument/2006/relationships/notesSlide" Target="/ppt/notesSlides/notesSlide6.xml" Id="R73f17bbbc28c4b4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17ef29aeb74197" /><Relationship Type="http://schemas.openxmlformats.org/officeDocument/2006/relationships/notesSlide" Target="/ppt/notesSlides/notesSlide7.xml" Id="R5dd850bde54a441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bdd1999a7b479d" /><Relationship Type="http://schemas.openxmlformats.org/officeDocument/2006/relationships/notesSlide" Target="/ppt/notesSlides/notesSlide8.xml" Id="Rc14491f0f6e34c61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R_A</c:v>
          </c:tx>
          <c:spPr>
            <a:solidFill xmlns:a="http://schemas.openxmlformats.org/drawingml/2006/main">
              <a:srgbClr val="147976"/>
            </a:solidFill>
          </c:spPr>
          <c:cat>
            <c:strRef>
              <c:f>'Chart Data'!$A$2:$A$4</c:f>
              <c:strCache>
                <c:ptCount val="3"/>
                <c:pt idx="0">
                  <c:v>a = 1 m</c:v>
                </c:pt>
                <c:pt idx="1">
                  <c:v>a = 2 m</c:v>
                </c:pt>
                <c:pt idx="2">
                  <c:v>a = 3 m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9</c:v>
                </c:pt>
                <c:pt idx="1">
                  <c:v>6</c:v>
                </c:pt>
                <c:pt idx="2">
                  <c:v>3</c:v>
                </c:pt>
              </c:numCache>
            </c:numRef>
          </c:val>
        </c:ser>
        <c:ser>
          <c:idx val="1"/>
          <c:order val="1"/>
          <c:tx>
            <c:v>R_B</c:v>
          </c:tx>
          <c:spPr>
            <a:solidFill xmlns:a="http://schemas.openxmlformats.org/drawingml/2006/main">
              <a:srgbClr val="98B1B8"/>
            </a:solidFill>
          </c:spPr>
          <c:cat>
            <c:strRef>
              <c:f>'Chart Data'!$C$2:$C$4</c:f>
              <c:strCache>
                <c:ptCount val="3"/>
                <c:pt idx="0">
                  <c:v>a = 1 m</c:v>
                </c:pt>
                <c:pt idx="1">
                  <c:v>a = 2 m</c:v>
                </c:pt>
                <c:pt idx="2">
                  <c:v>a = 3 m</c:v>
                </c:pt>
              </c:strCache>
            </c:strRef>
          </c:cat>
          <c:val>
            <c:numRef>
              <c:f>'Chart Data'!$D$2:$D$4</c:f>
              <c:numCache>
                <c:formatCode>0</c:formatCode>
                <c:ptCount val="3"/>
                <c:pt idx="0">
                  <c:v>3</c:v>
                </c:pt>
                <c:pt idx="1">
                  <c:v>6</c:v>
                </c:pt>
                <c:pt idx="2">
                  <c:v>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93440"/>
                  </a:solidFill>
                  <a:latin typeface="Franklin Gothic Book"/>
                  <a:ea typeface="Franklin Gothic Book"/>
                  <a:cs typeface="Franklin Gothic Book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93440"/>
                </a:solidFill>
                <a:latin typeface="Franklin Gothic Book"/>
                <a:ea typeface="Franklin Gothic Book"/>
                <a:cs typeface="Franklin Gothic Book"/>
              </a:defRPr>
            </a:pPr>
          </a:p>
        </c:txPr>
        <c:crossAx val="48672768"/>
      </c:catAx>
      <c:valAx>
        <c:axId val="48672768"/>
        <c:scaling>
          <c:orientation val="minMax"/>
          <c:max val="12"/>
          <c:min val="0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93440"/>
                </a:solidFill>
                <a:latin typeface="Franklin Gothic Book"/>
                <a:ea typeface="Franklin Gothic Book"/>
                <a:cs typeface="Franklin Gothic Book"/>
              </a:defRPr>
            </a:pPr>
          </a:p>
        </c:txPr>
        <c:crossAx val="48650112"/>
        <c:crossBetween val="between"/>
        <c:majorUnit val="3"/>
      </c:valAx>
      <c:spPr>
        <a:solidFill xmlns:a="http://schemas.openxmlformats.org/drawingml/2006/main">
          <a:srgbClr val="F4F6F5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193440"/>
              </a:solidFill>
              <a:latin typeface="Franklin Gothic Book"/>
              <a:ea typeface="Franklin Gothic Book"/>
              <a:cs typeface="Franklin Gothic Book"/>
            </a:defRPr>
          </a:pPr>
        </a:p>
      </c:txPr>
    </c:legend>
    <c:plotVisOnly val="1"/>
  </c:chart>
  <c:spPr>
    <a:solidFill xmlns:a="http://schemas.openxmlformats.org/drawingml/2006/main">
      <a:srgbClr val="F4F6F5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934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E0C6E667-7F40-4E70-A5F1-E58EAE466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34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C04B98F2-566E-4288-8C11-AC5250417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4F6F5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200" b="0">
                <a:solidFill>
                  <a:srgbClr val="F4F6F5"/>
                </a:solidFill>
                <a:latin typeface="Franklin Gothic Book"/>
                <a:ea typeface="Franklin Gothic Book"/>
                <a:cs typeface="Franklin Gothic Book"/>
              </a:rPr>
              <a:t>01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C3B95AB-CF53-47DE-A5D7-F4D32D0E5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763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6000" b="0">
                <a:solidFill>
                  <a:srgbClr val="F4F6F5"/>
                </a:solidFill>
                <a:latin typeface="Cambria"/>
                <a:ea typeface="Cambria"/>
                <a:cs typeface="Cambria"/>
              </a:defRPr>
            </a:pPr>
            <a:r>
              <a:rPr sz="6000" b="0">
                <a:solidFill>
                  <a:srgbClr val="F4F6F5"/>
                </a:solidFill>
                <a:latin typeface="Cambria"/>
                <a:ea typeface="Cambria"/>
                <a:cs typeface="Cambria"/>
              </a:rPr>
              <a:t>Reaksi tumpuan balok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1347D701-7DA2-4597-BDF4-22CCA53C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81525"/>
            <a:ext cx="1019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F4F6F5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2325" b="0">
                <a:solidFill>
                  <a:srgbClr val="F4F6F5"/>
                </a:solidFill>
                <a:latin typeface="Franklin Gothic Book"/>
                <a:ea typeface="Franklin Gothic Book"/>
                <a:cs typeface="Franklin Gothic Book"/>
              </a:rPr>
              <a:t>Statika pengantar: model, diagram, dan perhitungan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696AE2B9-7BB5-45C8-BBE2-5B41251A2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4F6F5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350" b="0">
                <a:solidFill>
                  <a:srgbClr val="F4F6F5"/>
                </a:solidFill>
                <a:latin typeface="Franklin Gothic Book"/>
                <a:ea typeface="Franklin Gothic Book"/>
                <a:cs typeface="Franklin Gothic Book"/>
              </a:rPr>
              <a:t>SLIDESTUDIO / CONTOH PERTEMUAN</a:t>
            </a:r>
          </a:p>
        </p:txBody>
      </p:sp>
    </p:spTree>
    <p:extLst>
      <p:ext uri="{BB962C8B-B14F-4D97-AF65-F5344CB8AC3E}">
        <p14:creationId xmlns:p14="http://schemas.microsoft.com/office/powerpoint/2010/main" val="2495000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A8C9227E-56AA-42DA-8D9C-04C90B4A5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34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900" b="0">
                <a:solidFill>
                  <a:srgbClr val="193440"/>
                </a:solidFill>
                <a:latin typeface="Cambria"/>
                <a:ea typeface="Cambria"/>
                <a:cs typeface="Cambria"/>
              </a:defRPr>
            </a:pPr>
            <a:r>
              <a:rPr sz="3900" b="0">
                <a:solidFill>
                  <a:srgbClr val="193440"/>
                </a:solidFill>
                <a:latin typeface="Cambria"/>
                <a:ea typeface="Cambria"/>
                <a:cs typeface="Cambria"/>
              </a:rPr>
              <a:t>Model dan asumsi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2DE8693-9EE9-448C-985D-05C890B41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93440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200" b="0">
                <a:solidFill>
                  <a:srgbClr val="193440"/>
                </a:solidFill>
                <a:latin typeface="Franklin Gothic Book"/>
                <a:ea typeface="Franklin Gothic Book"/>
                <a:cs typeface="Franklin Gothic Book"/>
              </a:rPr>
              <a:t>02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75D1218-05BA-4E41-B11A-9C04F20AD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5095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47976"/>
                </a:solidFill>
                <a:latin typeface="Cambria"/>
                <a:ea typeface="Cambria"/>
                <a:cs typeface="Cambria"/>
              </a:defRPr>
            </a:pPr>
            <a:r>
              <a:rPr sz="2550" b="0">
                <a:solidFill>
                  <a:srgbClr val="147976"/>
                </a:solidFill>
                <a:latin typeface="Cambria"/>
                <a:ea typeface="Cambria"/>
                <a:cs typeface="Cambria"/>
              </a:rPr>
              <a:t>Data soal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76EA2965-5C39-425D-89FC-0DB835BC0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28925"/>
            <a:ext cx="5048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93440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2025" b="0">
                <a:solidFill>
                  <a:srgbClr val="193440"/>
                </a:solidFill>
                <a:latin typeface="Franklin Gothic Book"/>
                <a:ea typeface="Franklin Gothic Book"/>
                <a:cs typeface="Franklin Gothic Book"/>
              </a:rPr>
              <a:t>Bentang balok AB = 4 m. Beban titik 12 kN bekerja vertikal ke bawah, berjarak 1 m dari A. A adalah sendi dan B adalah rol.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9D641E40-30D5-4743-8C2A-6BF318EB2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171700"/>
            <a:ext cx="5095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47976"/>
                </a:solidFill>
                <a:latin typeface="Cambria"/>
                <a:ea typeface="Cambria"/>
                <a:cs typeface="Cambria"/>
              </a:defRPr>
            </a:pPr>
            <a:r>
              <a:rPr sz="2550" b="0">
                <a:solidFill>
                  <a:srgbClr val="147976"/>
                </a:solidFill>
                <a:latin typeface="Cambria"/>
                <a:ea typeface="Cambria"/>
                <a:cs typeface="Cambria"/>
              </a:rPr>
              <a:t>Batas model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F08E8E0B-5191-4E8F-8DE0-7CDE6268F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828925"/>
            <a:ext cx="4953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93440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2025" b="0">
                <a:solidFill>
                  <a:srgbClr val="193440"/>
                </a:solidFill>
                <a:latin typeface="Franklin Gothic Book"/>
                <a:ea typeface="Franklin Gothic Book"/>
                <a:cs typeface="Franklin Gothic Book"/>
              </a:rPr>
              <a:t>Balok dianggap kaku dan diam. Berat sendiri diabaikan. Tidak ada gaya horizontal. Reaksi vertikal yang dicari adalah R_A dan R_B.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D02638D2-02EF-4650-9BCA-F4BD5118C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7976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800" b="0">
                <a:solidFill>
                  <a:srgbClr val="147976"/>
                </a:solidFill>
                <a:latin typeface="Franklin Gothic Book"/>
                <a:ea typeface="Franklin Gothic Book"/>
                <a:cs typeface="Franklin Gothic Book"/>
              </a:rPr>
              <a:t>Tujuan: menghitung reaksi dan menjelaskan mengapa nilainya berbeda.</a:t>
            </a:r>
          </a:p>
        </p:txBody>
      </p:sp>
    </p:spTree>
    <p:extLst>
      <p:ext uri="{BB962C8B-B14F-4D97-AF65-F5344CB8AC3E}">
        <p14:creationId xmlns:p14="http://schemas.microsoft.com/office/powerpoint/2010/main" val="539080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-0">
            <a:extLst xmlns:a="http://schemas.openxmlformats.org/drawingml/2006/main">
              <a:ext uri="{FF2B5EF4-FFF2-40B4-BE49-F238E27FC236}">
                <a16:creationId xmlns:a16="http://schemas.microsoft.com/office/drawing/2014/main" id="{1AD95EBF-3F5C-41FC-AAAF-A796BD5B4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34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900" b="0">
                <a:solidFill>
                  <a:srgbClr val="193440"/>
                </a:solidFill>
                <a:latin typeface="Cambria"/>
                <a:ea typeface="Cambria"/>
                <a:cs typeface="Cambria"/>
              </a:defRPr>
            </a:pPr>
            <a:r>
              <a:rPr sz="3900" b="0">
                <a:solidFill>
                  <a:srgbClr val="193440"/>
                </a:solidFill>
                <a:latin typeface="Cambria"/>
                <a:ea typeface="Cambria"/>
                <a:cs typeface="Cambria"/>
              </a:rPr>
              <a:t>Diagram gaya bebas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1298636-F6A9-4E94-A963-F01AEFF2B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93440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200" b="0">
                <a:solidFill>
                  <a:srgbClr val="193440"/>
                </a:solidFill>
                <a:latin typeface="Franklin Gothic Book"/>
                <a:ea typeface="Franklin Gothic Book"/>
                <a:cs typeface="Franklin Gothic Book"/>
              </a:rPr>
              <a:t>03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91686F29-1EA9-40DD-807F-5DF7C3763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93440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125" b="0">
                <a:solidFill>
                  <a:srgbClr val="193440"/>
                </a:solidFill>
                <a:latin typeface="Franklin Gothic Book"/>
                <a:ea typeface="Franklin Gothic Book"/>
                <a:cs typeface="Franklin Gothic Book"/>
              </a:rPr>
              <a:t>Model ideal. Diagram tidak berskala; jarak ditentukan label.</a:t>
            </a:r>
          </a:p>
        </p:txBody>
      </p:sp>
      <p:sp>
        <p:nvSpPr>
          <p:cNvPr id="4" name="diagram-3">
            <a:extLst xmlns:a="http://schemas.openxmlformats.org/drawingml/2006/main">
              <a:ext uri="{FF2B5EF4-FFF2-40B4-BE49-F238E27FC236}">
                <a16:creationId xmlns:a16="http://schemas.microsoft.com/office/drawing/2014/main" id="{3D5F3676-D426-4E22-B419-60D62716A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67125"/>
            <a:ext cx="8001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440"/>
          </a:solidFill>
          <a:ln xmlns:a="http://schemas.openxmlformats.org/drawingml/2006/main" w="0">
            <a:noFill/>
          </a:ln>
        </p:spPr>
      </p:sp>
      <p:sp>
        <p:nvSpPr>
          <p:cNvPr id="5" name="diagram-4">
            <a:extLst xmlns:a="http://schemas.openxmlformats.org/drawingml/2006/main">
              <a:ext uri="{FF2B5EF4-FFF2-40B4-BE49-F238E27FC236}">
                <a16:creationId xmlns:a16="http://schemas.microsoft.com/office/drawing/2014/main" id="{3E1CD383-1034-4D11-80D6-CC379825F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771900"/>
            <a:ext cx="342900" cy="95250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147976"/>
          </a:solidFill>
          <a:ln xmlns:a="http://schemas.openxmlformats.org/drawingml/2006/main" w="0">
            <a:noFill/>
          </a:ln>
        </p:spPr>
      </p:sp>
      <p:sp>
        <p:nvSpPr>
          <p:cNvPr id="6" name="diagram-5">
            <a:extLst xmlns:a="http://schemas.openxmlformats.org/drawingml/2006/main">
              <a:ext uri="{FF2B5EF4-FFF2-40B4-BE49-F238E27FC236}">
                <a16:creationId xmlns:a16="http://schemas.microsoft.com/office/drawing/2014/main" id="{BDECDED7-CF35-4839-8E70-94913D757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771900"/>
            <a:ext cx="342900" cy="95250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147976"/>
          </a:solidFill>
          <a:ln xmlns:a="http://schemas.openxmlformats.org/drawingml/2006/main" w="0">
            <a:noFill/>
          </a:ln>
        </p:spPr>
      </p:sp>
      <p:sp>
        <p:nvSpPr>
          <p:cNvPr id="7" name="diagram-6">
            <a:extLst xmlns:a="http://schemas.openxmlformats.org/drawingml/2006/main">
              <a:ext uri="{FF2B5EF4-FFF2-40B4-BE49-F238E27FC236}">
                <a16:creationId xmlns:a16="http://schemas.microsoft.com/office/drawing/2014/main" id="{28B120D1-CD9F-47FB-BC31-F0EC91673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324100"/>
            <a:ext cx="342900" cy="12858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47976"/>
          </a:solidFill>
          <a:ln xmlns:a="http://schemas.openxmlformats.org/drawingml/2006/main" w="0">
            <a:noFill/>
          </a:ln>
        </p:spPr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3D6B3075-6A6A-40A9-A4E4-9948B67E8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790700"/>
            <a:ext cx="190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47976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2400" b="0">
                <a:solidFill>
                  <a:srgbClr val="147976"/>
                </a:solidFill>
                <a:latin typeface="Franklin Gothic Book"/>
                <a:ea typeface="Franklin Gothic Book"/>
                <a:cs typeface="Franklin Gothic Book"/>
              </a:rPr>
              <a:t>12 kN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CBB2BF95-3A1A-412E-9675-0CA2E8B87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86350"/>
            <a:ext cx="152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93440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2325" b="0">
                <a:solidFill>
                  <a:srgbClr val="193440"/>
                </a:solidFill>
                <a:latin typeface="Franklin Gothic Book"/>
                <a:ea typeface="Franklin Gothic Book"/>
                <a:cs typeface="Franklin Gothic Book"/>
              </a:rPr>
              <a:t>A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239BA3EC-BC68-461C-BF4A-489CC82CE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086350"/>
            <a:ext cx="152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93440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2325" b="0">
                <a:solidFill>
                  <a:srgbClr val="193440"/>
                </a:solidFill>
                <a:latin typeface="Franklin Gothic Book"/>
                <a:ea typeface="Franklin Gothic Book"/>
                <a:cs typeface="Franklin Gothic Book"/>
              </a:rPr>
              <a:t>B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DE9AD4A6-C478-481C-B690-79F0B1E6E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43375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7976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2250" b="0">
                <a:solidFill>
                  <a:srgbClr val="147976"/>
                </a:solidFill>
                <a:latin typeface="Franklin Gothic Book"/>
                <a:ea typeface="Franklin Gothic Book"/>
                <a:cs typeface="Franklin Gothic Book"/>
              </a:rPr>
              <a:t>R_A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5AE12CDF-D3EE-4941-9F15-14A787EFF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143375"/>
            <a:ext cx="123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7976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2250" b="0">
                <a:solidFill>
                  <a:srgbClr val="147976"/>
                </a:solidFill>
                <a:latin typeface="Franklin Gothic Book"/>
                <a:ea typeface="Franklin Gothic Book"/>
                <a:cs typeface="Franklin Gothic Book"/>
              </a:rPr>
              <a:t>R_B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158DD0DE-FEF7-49DB-B4B2-43F9805C1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962400"/>
            <a:ext cx="228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93440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2025" b="0">
                <a:solidFill>
                  <a:srgbClr val="193440"/>
                </a:solidFill>
                <a:latin typeface="Franklin Gothic Book"/>
                <a:ea typeface="Franklin Gothic Book"/>
                <a:cs typeface="Franklin Gothic Book"/>
              </a:rPr>
              <a:t>1 m dari A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9B2800E2-2024-49DC-998A-BC5A9F4FE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5276850"/>
            <a:ext cx="457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47976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2325" b="0">
                <a:solidFill>
                  <a:srgbClr val="147976"/>
                </a:solidFill>
                <a:latin typeface="Franklin Gothic Book"/>
                <a:ea typeface="Franklin Gothic Book"/>
                <a:cs typeface="Franklin Gothic Book"/>
              </a:rPr>
              <a:t>Bentang AB = 4 m</a:t>
            </a:r>
          </a:p>
        </p:txBody>
      </p:sp>
    </p:spTree>
    <p:extLst>
      <p:ext uri="{BB962C8B-B14F-4D97-AF65-F5344CB8AC3E}">
        <p14:creationId xmlns:p14="http://schemas.microsoft.com/office/powerpoint/2010/main" val="9009191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7EBEF661-DB9E-4555-B4BF-4EEA0E9F6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34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900" b="0">
                <a:solidFill>
                  <a:srgbClr val="193440"/>
                </a:solidFill>
                <a:latin typeface="Cambria"/>
                <a:ea typeface="Cambria"/>
                <a:cs typeface="Cambria"/>
              </a:defRPr>
            </a:pPr>
            <a:r>
              <a:rPr sz="3900" b="0">
                <a:solidFill>
                  <a:srgbClr val="193440"/>
                </a:solidFill>
                <a:latin typeface="Cambria"/>
                <a:ea typeface="Cambria"/>
                <a:cs typeface="Cambria"/>
              </a:rPr>
              <a:t>Persamaan keseimbangan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A9DAA7D-74F7-4F1C-8296-D8520DD82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93440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200" b="0">
                <a:solidFill>
                  <a:srgbClr val="193440"/>
                </a:solidFill>
                <a:latin typeface="Franklin Gothic Book"/>
                <a:ea typeface="Franklin Gothic Book"/>
                <a:cs typeface="Franklin Gothic Book"/>
              </a:rPr>
              <a:t>04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8EB5025-CCBB-4876-8F98-31B2CB02C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93440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125" b="0">
                <a:solidFill>
                  <a:srgbClr val="193440"/>
                </a:solidFill>
                <a:latin typeface="Franklin Gothic Book"/>
                <a:ea typeface="Franklin Gothic Book"/>
                <a:cs typeface="Franklin Gothic Book"/>
              </a:rPr>
              <a:t>Konsep: OpenStax, University Physics Vol. 1, §12.1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3D32BCA-EEEC-4A7B-ADDB-56E59AD92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28825"/>
            <a:ext cx="1076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275" b="0">
                <a:solidFill>
                  <a:srgbClr val="147976"/>
                </a:solidFill>
                <a:latin typeface="Cambria"/>
                <a:ea typeface="Cambria"/>
                <a:cs typeface="Cambria"/>
              </a:defRPr>
            </a:pPr>
            <a:r>
              <a:rPr sz="4275" b="0">
                <a:solidFill>
                  <a:srgbClr val="147976"/>
                </a:solidFill>
                <a:latin typeface="Cambria"/>
                <a:ea typeface="Cambria"/>
                <a:cs typeface="Cambria"/>
              </a:rPr>
              <a:t>R_A + R_B − 12 = 0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344B5C1F-6BDE-497B-9DC4-BF25A2ADA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1076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275" b="0">
                <a:solidFill>
                  <a:srgbClr val="147976"/>
                </a:solidFill>
                <a:latin typeface="Cambria"/>
                <a:ea typeface="Cambria"/>
                <a:cs typeface="Cambria"/>
              </a:defRPr>
            </a:pPr>
            <a:r>
              <a:rPr sz="4275" b="0">
                <a:solidFill>
                  <a:srgbClr val="147976"/>
                </a:solidFill>
                <a:latin typeface="Cambria"/>
                <a:ea typeface="Cambria"/>
                <a:cs typeface="Cambria"/>
              </a:rPr>
              <a:t>4 R_B − 12 × 1 = 0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1D907B5C-43BA-466C-9B3A-9073279CC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105727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93440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2175" b="0">
                <a:solidFill>
                  <a:srgbClr val="193440"/>
                </a:solidFill>
                <a:latin typeface="Franklin Gothic Book"/>
                <a:ea typeface="Franklin Gothic Book"/>
                <a:cs typeface="Franklin Gothic Book"/>
              </a:rPr>
              <a:t>Persamaan pertama memakai gaya vertikal dalam kN. Persamaan kedua menjumlahkan momen terhadap A dalam kN·m. Momen reaksi di A bernilai nol terhadap titik A.</a:t>
            </a:r>
          </a:p>
        </p:txBody>
      </p:sp>
    </p:spTree>
    <p:extLst>
      <p:ext uri="{BB962C8B-B14F-4D97-AF65-F5344CB8AC3E}">
        <p14:creationId xmlns:p14="http://schemas.microsoft.com/office/powerpoint/2010/main" val="16870022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E4DB66C9-1975-49C9-B641-A233E7A6A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34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900" b="0">
                <a:solidFill>
                  <a:srgbClr val="193440"/>
                </a:solidFill>
                <a:latin typeface="Cambria"/>
                <a:ea typeface="Cambria"/>
                <a:cs typeface="Cambria"/>
              </a:defRPr>
            </a:pPr>
            <a:r>
              <a:rPr sz="3900" b="0">
                <a:solidFill>
                  <a:srgbClr val="193440"/>
                </a:solidFill>
                <a:latin typeface="Cambria"/>
                <a:ea typeface="Cambria"/>
                <a:cs typeface="Cambria"/>
              </a:rPr>
              <a:t>Hasil dan pemeriksaan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5EEC9FD-2020-40CE-B0DF-3ADE117AE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93440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200" b="0">
                <a:solidFill>
                  <a:srgbClr val="193440"/>
                </a:solidFill>
                <a:latin typeface="Franklin Gothic Book"/>
                <a:ea typeface="Franklin Gothic Book"/>
                <a:cs typeface="Franklin Gothic Book"/>
              </a:rPr>
              <a:t>05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24981E5-5BE5-4B55-841D-A263C1FE6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51625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725" b="0">
                <a:solidFill>
                  <a:srgbClr val="147976"/>
                </a:solidFill>
                <a:latin typeface="Cambria"/>
                <a:ea typeface="Cambria"/>
                <a:cs typeface="Cambria"/>
              </a:defRPr>
            </a:pPr>
            <a:r>
              <a:rPr sz="4725" b="0">
                <a:solidFill>
                  <a:srgbClr val="147976"/>
                </a:solidFill>
                <a:latin typeface="Cambria"/>
                <a:ea typeface="Cambria"/>
                <a:cs typeface="Cambria"/>
              </a:rPr>
              <a:t>R_B = 3 kN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3B6A4D86-84E0-4ED1-9BCD-6FE9DBDB4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076450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725" b="0">
                <a:solidFill>
                  <a:srgbClr val="147976"/>
                </a:solidFill>
                <a:latin typeface="Cambria"/>
                <a:ea typeface="Cambria"/>
                <a:cs typeface="Cambria"/>
              </a:defRPr>
            </a:pPr>
            <a:r>
              <a:rPr sz="4725" b="0">
                <a:solidFill>
                  <a:srgbClr val="147976"/>
                </a:solidFill>
                <a:latin typeface="Cambria"/>
                <a:ea typeface="Cambria"/>
                <a:cs typeface="Cambria"/>
              </a:rPr>
              <a:t>R_A = 9 kN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6EE35DDD-627F-4A10-A032-0C994736E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62325"/>
            <a:ext cx="5095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47976"/>
                </a:solidFill>
                <a:latin typeface="Cambria"/>
                <a:ea typeface="Cambria"/>
                <a:cs typeface="Cambria"/>
              </a:defRPr>
            </a:pPr>
            <a:r>
              <a:rPr sz="2550" b="0">
                <a:solidFill>
                  <a:srgbClr val="147976"/>
                </a:solidFill>
                <a:latin typeface="Cambria"/>
                <a:ea typeface="Cambria"/>
                <a:cs typeface="Cambria"/>
              </a:rPr>
              <a:t>Dari momen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F641C96D-9548-4CD1-B0E3-37DF2B813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50482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93440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2025" b="0">
                <a:solidFill>
                  <a:srgbClr val="193440"/>
                </a:solidFill>
                <a:latin typeface="Franklin Gothic Book"/>
                <a:ea typeface="Franklin Gothic Book"/>
                <a:cs typeface="Franklin Gothic Book"/>
              </a:rPr>
              <a:t>R_B = (12 × 1) / 4 = 3 kN. Substitusi ke keseimbangan gaya memberi R_A = 12 − 3 = 9 kN.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6B965E04-3EAB-46BE-A0E4-59933B2CE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362325"/>
            <a:ext cx="5095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47976"/>
                </a:solidFill>
                <a:latin typeface="Cambria"/>
                <a:ea typeface="Cambria"/>
                <a:cs typeface="Cambria"/>
              </a:defRPr>
            </a:pPr>
            <a:r>
              <a:rPr sz="2550" b="0">
                <a:solidFill>
                  <a:srgbClr val="147976"/>
                </a:solidFill>
                <a:latin typeface="Cambria"/>
                <a:ea typeface="Cambria"/>
                <a:cs typeface="Cambria"/>
              </a:rPr>
              <a:t>Cek hasil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8B82C7D8-1761-4983-BE0E-FF10AB2A9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019550"/>
            <a:ext cx="4953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93440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2025" b="0">
                <a:solidFill>
                  <a:srgbClr val="193440"/>
                </a:solidFill>
                <a:latin typeface="Franklin Gothic Book"/>
                <a:ea typeface="Franklin Gothic Book"/>
                <a:cs typeface="Franklin Gothic Book"/>
              </a:rPr>
              <a:t>Jumlah reaksi 9 + 3 = 12 kN. Beban lebih dekat A, sehingga reaksi di A lebih besar pada model ini.</a:t>
            </a:r>
          </a:p>
        </p:txBody>
      </p:sp>
    </p:spTree>
    <p:extLst>
      <p:ext uri="{BB962C8B-B14F-4D97-AF65-F5344CB8AC3E}">
        <p14:creationId xmlns:p14="http://schemas.microsoft.com/office/powerpoint/2010/main" val="74108440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06A93408-4056-4798-9655-52D18C2FE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34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900" b="0">
                <a:solidFill>
                  <a:srgbClr val="193440"/>
                </a:solidFill>
                <a:latin typeface="Cambria"/>
                <a:ea typeface="Cambria"/>
                <a:cs typeface="Cambria"/>
              </a:defRPr>
            </a:pPr>
            <a:r>
              <a:rPr sz="3900" b="0">
                <a:solidFill>
                  <a:srgbClr val="193440"/>
                </a:solidFill>
                <a:latin typeface="Cambria"/>
                <a:ea typeface="Cambria"/>
                <a:cs typeface="Cambria"/>
              </a:rPr>
              <a:t>Pengaruh posisi beban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EC24575-BB2F-45C7-AFCD-5D84A9DA9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93440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200" b="0">
                <a:solidFill>
                  <a:srgbClr val="193440"/>
                </a:solidFill>
                <a:latin typeface="Franklin Gothic Book"/>
                <a:ea typeface="Franklin Gothic Book"/>
                <a:cs typeface="Franklin Gothic Book"/>
              </a:rPr>
              <a:t>06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605EBC9-453C-45FB-9AD3-F33D7174E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93440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125" b="0">
                <a:solidFill>
                  <a:srgbClr val="193440"/>
                </a:solidFill>
                <a:latin typeface="Franklin Gothic Book"/>
                <a:ea typeface="Franklin Gothic Book"/>
                <a:cs typeface="Franklin Gothic Book"/>
              </a:rPr>
              <a:t>Simulasi beban 12 kN, bentang 4 m, berat balok diabaikan.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09600" y="2038350"/>
          <a:ext xmlns:a="http://schemas.openxmlformats.org/drawingml/2006/main" cx="7267575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8ce1826ce264461"/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C674839D-C2DF-4EBA-B6B8-210D927AF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72675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93440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575" b="0">
                <a:solidFill>
                  <a:srgbClr val="193440"/>
                </a:solidFill>
                <a:latin typeface="Franklin Gothic Book"/>
                <a:ea typeface="Franklin Gothic Book"/>
                <a:cs typeface="Franklin Gothic Book"/>
              </a:rPr>
              <a:t>Reaksi dalam kN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FF6F28BF-9C7F-431E-A04A-C7FECC6E3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09850"/>
            <a:ext cx="3076575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93440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2100" b="0">
                <a:solidFill>
                  <a:srgbClr val="193440"/>
                </a:solidFill>
                <a:latin typeface="Franklin Gothic Book"/>
                <a:ea typeface="Franklin Gothic Book"/>
                <a:cs typeface="Franklin Gothic Book"/>
              </a:rPr>
              <a:t>a adalah jarak beban dari A. Ketika beban bergeser mendekati B, R_B bertambah dan R_A berkurang. Jumlah keduanya tetap 12 kN.</a:t>
            </a:r>
          </a:p>
        </p:txBody>
      </p:sp>
    </p:spTree>
    <p:extLst>
      <p:ext uri="{BB962C8B-B14F-4D97-AF65-F5344CB8AC3E}">
        <p14:creationId xmlns:p14="http://schemas.microsoft.com/office/powerpoint/2010/main" val="15458957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B5DB763A-1CE7-49AB-BC32-25C697171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34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900" b="0">
                <a:solidFill>
                  <a:srgbClr val="193440"/>
                </a:solidFill>
                <a:latin typeface="Cambria"/>
                <a:ea typeface="Cambria"/>
                <a:cs typeface="Cambria"/>
              </a:defRPr>
            </a:pPr>
            <a:r>
              <a:rPr sz="3900" b="0">
                <a:solidFill>
                  <a:srgbClr val="193440"/>
                </a:solidFill>
                <a:latin typeface="Cambria"/>
                <a:ea typeface="Cambria"/>
                <a:cs typeface="Cambria"/>
              </a:rPr>
              <a:t>Latihan dengan beban berbeda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66452C40-8597-4FF1-9D8E-397F1021B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93440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200" b="0">
                <a:solidFill>
                  <a:srgbClr val="193440"/>
                </a:solidFill>
                <a:latin typeface="Franklin Gothic Book"/>
                <a:ea typeface="Franklin Gothic Book"/>
                <a:cs typeface="Franklin Gothic Book"/>
              </a:rPr>
              <a:t>07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828B51D-8B85-45E3-BF0D-20627CCEF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825" b="0">
                <a:solidFill>
                  <a:srgbClr val="147976"/>
                </a:solidFill>
                <a:latin typeface="Cambria"/>
                <a:ea typeface="Cambria"/>
                <a:cs typeface="Cambria"/>
              </a:defRPr>
            </a:pPr>
            <a:r>
              <a:rPr sz="3825" b="0">
                <a:solidFill>
                  <a:srgbClr val="147976"/>
                </a:solidFill>
                <a:latin typeface="Cambria"/>
                <a:ea typeface="Cambria"/>
                <a:cs typeface="Cambria"/>
              </a:rPr>
              <a:t>P = 20 kN, L = 5 m, a = 2 m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6324D503-53CB-4C80-A688-2159F2723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1047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93440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2400" b="0">
                <a:solidFill>
                  <a:srgbClr val="193440"/>
                </a:solidFill>
                <a:latin typeface="Franklin Gothic Book"/>
                <a:ea typeface="Franklin Gothic Book"/>
                <a:cs typeface="Franklin Gothic Book"/>
              </a:rPr>
              <a:t>Gambar diagram gaya bebas untuk tumpuan A sendi dan B rol. Abaikan berat balok dan gaya horizontal. Hitung reaksi vertikal, lalu periksa jumlah gaya dan momen terhadap A.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C57E8C82-BBFD-420F-BC62-6199B9E86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93440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875" b="0">
                <a:solidFill>
                  <a:srgbClr val="193440"/>
                </a:solidFill>
                <a:latin typeface="Franklin Gothic Book"/>
                <a:ea typeface="Franklin Gothic Book"/>
                <a:cs typeface="Franklin Gothic Book"/>
              </a:rPr>
              <a:t>Jawaban dan kriteria penilaian ada di catatan dosen.</a:t>
            </a:r>
          </a:p>
        </p:txBody>
      </p:sp>
    </p:spTree>
    <p:extLst>
      <p:ext uri="{BB962C8B-B14F-4D97-AF65-F5344CB8AC3E}">
        <p14:creationId xmlns:p14="http://schemas.microsoft.com/office/powerpoint/2010/main" val="36280611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D3A95FE5-A1D1-4728-9C71-8A6AB5EFE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34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900" b="0">
                <a:solidFill>
                  <a:srgbClr val="193440"/>
                </a:solidFill>
                <a:latin typeface="Cambria"/>
                <a:ea typeface="Cambria"/>
                <a:cs typeface="Cambria"/>
              </a:defRPr>
            </a:pPr>
            <a:r>
              <a:rPr sz="3900" b="0">
                <a:solidFill>
                  <a:srgbClr val="193440"/>
                </a:solidFill>
                <a:latin typeface="Cambria"/>
                <a:ea typeface="Cambria"/>
                <a:cs typeface="Cambria"/>
              </a:rPr>
              <a:t>Rangkuman dan bacaan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F0E2E225-A64E-4CA7-89A7-9D2795A5A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93440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200" b="0">
                <a:solidFill>
                  <a:srgbClr val="193440"/>
                </a:solidFill>
                <a:latin typeface="Franklin Gothic Book"/>
                <a:ea typeface="Franklin Gothic Book"/>
                <a:cs typeface="Franklin Gothic Book"/>
              </a:rPr>
              <a:t>08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1452BD0-F7DD-4D96-B433-A96A9861B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10477500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93440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2475" b="0">
                <a:solidFill>
                  <a:srgbClr val="193440"/>
                </a:solidFill>
                <a:latin typeface="Franklin Gothic Book"/>
                <a:ea typeface="Franklin Gothic Book"/>
                <a:cs typeface="Franklin Gothic Book"/>
              </a:rPr>
              <a:t>Diagram menetapkan gaya dan jarak. Persamaan keseimbangan menghasilkan reaksi. Pemeriksaan satuan dan momen membantu menemukan kesalahan hitung.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9E9FD6C-40E6-4279-AA88-B0DF3B93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7976"/>
                </a:solidFill>
                <a:latin typeface="Cambria"/>
                <a:ea typeface="Cambria"/>
                <a:cs typeface="Cambria"/>
              </a:defRPr>
            </a:pPr>
            <a:r>
              <a:rPr sz="2250" b="0">
                <a:solidFill>
                  <a:srgbClr val="147976"/>
                </a:solidFill>
                <a:latin typeface="Cambria"/>
                <a:ea typeface="Cambria"/>
                <a:cs typeface="Cambria"/>
              </a:rPr>
              <a:t>Bacaan konsep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426DA8DD-E1E4-4C62-A49B-976F7492C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668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93440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575" b="0">
                <a:solidFill>
                  <a:srgbClr val="193440"/>
                </a:solidFill>
                <a:latin typeface="Franklin Gothic Book"/>
                <a:ea typeface="Franklin Gothic Book"/>
                <a:cs typeface="Franklin Gothic Book"/>
              </a:rPr>
              <a:t>https://openstax.org/books/university-physics-volume-1/pages/12-1-conditions-for-static-equilibrium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CBA914A3-A857-4067-8041-F3F533C53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34025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93440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650" b="0">
                <a:solidFill>
                  <a:srgbClr val="193440"/>
                </a:solidFill>
                <a:latin typeface="Franklin Gothic Book"/>
                <a:ea typeface="Franklin Gothic Book"/>
                <a:cs typeface="Franklin Gothic Book"/>
              </a:rPr>
              <a:t>Kasus dan data latihan merupakan contoh orisinal hipotetis. Sesuaikan dengan RPS, prasyarat, dan waktu kelas.</a:t>
            </a:r>
          </a:p>
        </p:txBody>
      </p:sp>
    </p:spTree>
    <p:extLst>
      <p:ext uri="{BB962C8B-B14F-4D97-AF65-F5344CB8AC3E}">
        <p14:creationId xmlns:p14="http://schemas.microsoft.com/office/powerpoint/2010/main" val="8475179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2026-09-26T16:08:48.7260000Z</dcterms:created>
  <dcterms:modified xsi:type="dcterms:W3CDTF">2026-09-26T16:08:48.7260000Z</dcterms:modified>
</coreProperties>
</file>