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bc62c3dca64fc2" /><Relationship Type="http://schemas.openxmlformats.org/officeDocument/2006/relationships/extended-properties" Target="/docProps/app.xml" Id="Rfc7ea9c2ed0b4bd6" /><Relationship Type="http://schemas.openxmlformats.org/officeDocument/2006/relationships/officeDocument" Target="/ppt/presentation.xml" Id="R11674e30afbd4bb0" /></Relationships>
</file>

<file path=ppt/presentation.xml><?xml version="1.0" encoding="utf-8"?>
<p:presentation xmlns:p="http://schemas.openxmlformats.org/presentationml/2006/main">
  <p:sldMasterIdLst>
    <p:sldMasterId xmlns:r="http://schemas.openxmlformats.org/officeDocument/2006/relationships" id="2147483648" r:id="R0fbeaa8957c146ff"/>
  </p:sldMasterIdLst>
  <p:notesMasterIdLst>
    <p:notesMasterId xmlns:r="http://schemas.openxmlformats.org/officeDocument/2006/relationships" r:id="R483d0f48ca29439f"/>
  </p:notesMasterIdLst>
  <p:sldIdLst>
    <p:sldId xmlns:r="http://schemas.openxmlformats.org/officeDocument/2006/relationships" id="256" r:id="R65ca7d2a64864d72"/>
    <p:sldId xmlns:r="http://schemas.openxmlformats.org/officeDocument/2006/relationships" id="257" r:id="R762f7b612b604f89"/>
    <p:sldId xmlns:r="http://schemas.openxmlformats.org/officeDocument/2006/relationships" id="258" r:id="R238dec81f362411e"/>
    <p:sldId xmlns:r="http://schemas.openxmlformats.org/officeDocument/2006/relationships" id="259" r:id="R2755b0cf9c9b41c0"/>
    <p:sldId xmlns:r="http://schemas.openxmlformats.org/officeDocument/2006/relationships" id="260" r:id="R8411bc79d44147b9"/>
    <p:sldId xmlns:r="http://schemas.openxmlformats.org/officeDocument/2006/relationships" id="261" r:id="R995eff537cd54335"/>
    <p:sldId xmlns:r="http://schemas.openxmlformats.org/officeDocument/2006/relationships" id="262" r:id="R8f3acd12829e48b3"/>
    <p:sldId xmlns:r="http://schemas.openxmlformats.org/officeDocument/2006/relationships" id="263" r:id="Rcc6ffc81a75745e9"/>
    <p:sldId xmlns:r="http://schemas.openxmlformats.org/officeDocument/2006/relationships" id="264" r:id="Red0536c58e604028"/>
    <p:sldId xmlns:r="http://schemas.openxmlformats.org/officeDocument/2006/relationships" id="265" r:id="R03dbcf1d92554546"/>
    <p:sldId xmlns:r="http://schemas.openxmlformats.org/officeDocument/2006/relationships" id="266" r:id="R5b36437535204c82"/>
    <p:sldId xmlns:r="http://schemas.openxmlformats.org/officeDocument/2006/relationships" id="267" r:id="R7055ea8359594a7e"/>
    <p:sldId xmlns:r="http://schemas.openxmlformats.org/officeDocument/2006/relationships" id="268" r:id="Rdf0c5e06295941ba"/>
    <p:sldId xmlns:r="http://schemas.openxmlformats.org/officeDocument/2006/relationships" id="269" r:id="Rc4265685a1bd4461"/>
    <p:sldId xmlns:r="http://schemas.openxmlformats.org/officeDocument/2006/relationships" id="270" r:id="Rddb5b0dd4741476f"/>
    <p:sldId xmlns:r="http://schemas.openxmlformats.org/officeDocument/2006/relationships" id="271" r:id="Rdbb8e4d124b84d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58869cc9054991" /><Relationship Type="http://schemas.openxmlformats.org/officeDocument/2006/relationships/slideMaster" Target="/ppt/slideMasters/slideMaster1.xml" Id="R0fbeaa8957c146ff" /><Relationship Type="http://schemas.openxmlformats.org/officeDocument/2006/relationships/notesMaster" Target="/ppt/notesMasters/notesMaster1.xml" Id="R483d0f48ca29439f" /><Relationship Type="http://schemas.openxmlformats.org/officeDocument/2006/relationships/presProps" Target="/ppt/presProps.xml" Id="R48337f21c1bd4214" /><Relationship Type="http://schemas.openxmlformats.org/officeDocument/2006/relationships/tableStyles" Target="/ppt/tableStyles.xml" Id="R75879028038640f9" /><Relationship Type="http://schemas.openxmlformats.org/officeDocument/2006/relationships/slide" Target="/ppt/slides/slide1.xml" Id="R65ca7d2a64864d72" /><Relationship Type="http://schemas.openxmlformats.org/officeDocument/2006/relationships/slide" Target="/ppt/slides/slide2.xml" Id="R762f7b612b604f89" /><Relationship Type="http://schemas.openxmlformats.org/officeDocument/2006/relationships/slide" Target="/ppt/slides/slide3.xml" Id="R238dec81f362411e" /><Relationship Type="http://schemas.openxmlformats.org/officeDocument/2006/relationships/slide" Target="/ppt/slides/slide4.xml" Id="R2755b0cf9c9b41c0" /><Relationship Type="http://schemas.openxmlformats.org/officeDocument/2006/relationships/slide" Target="/ppt/slides/slide5.xml" Id="R8411bc79d44147b9" /><Relationship Type="http://schemas.openxmlformats.org/officeDocument/2006/relationships/slide" Target="/ppt/slides/slide6.xml" Id="R995eff537cd54335" /><Relationship Type="http://schemas.openxmlformats.org/officeDocument/2006/relationships/slide" Target="/ppt/slides/slide7.xml" Id="R8f3acd12829e48b3" /><Relationship Type="http://schemas.openxmlformats.org/officeDocument/2006/relationships/slide" Target="/ppt/slides/slide8.xml" Id="Rcc6ffc81a75745e9" /><Relationship Type="http://schemas.openxmlformats.org/officeDocument/2006/relationships/slide" Target="/ppt/slides/slide9.xml" Id="Red0536c58e604028" /><Relationship Type="http://schemas.openxmlformats.org/officeDocument/2006/relationships/slide" Target="/ppt/slides/slide10.xml" Id="R03dbcf1d92554546" /><Relationship Type="http://schemas.openxmlformats.org/officeDocument/2006/relationships/slide" Target="/ppt/slides/slide11.xml" Id="R5b36437535204c82" /><Relationship Type="http://schemas.openxmlformats.org/officeDocument/2006/relationships/slide" Target="/ppt/slides/slide12.xml" Id="R7055ea8359594a7e" /><Relationship Type="http://schemas.openxmlformats.org/officeDocument/2006/relationships/slide" Target="/ppt/slides/slide13.xml" Id="Rdf0c5e06295941ba" /><Relationship Type="http://schemas.openxmlformats.org/officeDocument/2006/relationships/slide" Target="/ppt/slides/slide14.xml" Id="Rc4265685a1bd4461" /><Relationship Type="http://schemas.openxmlformats.org/officeDocument/2006/relationships/slide" Target="/ppt/slides/slide15.xml" Id="Rddb5b0dd4741476f" /><Relationship Type="http://schemas.openxmlformats.org/officeDocument/2006/relationships/slide" Target="/ppt/slides/slide16.xml" Id="Rdbb8e4d124b84d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5aa0c8da6248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27360c79a34040" /><Relationship Type="http://schemas.openxmlformats.org/officeDocument/2006/relationships/notesMaster" Target="/ppt/notesMasters/notesMaster1.xml" Id="R1fbf53b797c344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790c01f9f64ac6" /><Relationship Type="http://schemas.openxmlformats.org/officeDocument/2006/relationships/notesMaster" Target="/ppt/notesMasters/notesMaster1.xml" Id="R6bf575e2774041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43089437a249be" /><Relationship Type="http://schemas.openxmlformats.org/officeDocument/2006/relationships/notesMaster" Target="/ppt/notesMasters/notesMaster1.xml" Id="R3815836c8f5c4f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662d48a4e2493c" /><Relationship Type="http://schemas.openxmlformats.org/officeDocument/2006/relationships/notesMaster" Target="/ppt/notesMasters/notesMaster1.xml" Id="R3e44d6513c7c4d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4ebd0fd47344eb" /><Relationship Type="http://schemas.openxmlformats.org/officeDocument/2006/relationships/notesMaster" Target="/ppt/notesMasters/notesMaster1.xml" Id="R0362fcca6ef143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0eee3ee84c44d3" /><Relationship Type="http://schemas.openxmlformats.org/officeDocument/2006/relationships/notesMaster" Target="/ppt/notesMasters/notesMaster1.xml" Id="R3020e2b79f7b43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daee7160f04d5e" /><Relationship Type="http://schemas.openxmlformats.org/officeDocument/2006/relationships/notesMaster" Target="/ppt/notesMasters/notesMaster1.xml" Id="R0ad34b0c7b234c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92578452894080" /><Relationship Type="http://schemas.openxmlformats.org/officeDocument/2006/relationships/notesMaster" Target="/ppt/notesMasters/notesMaster1.xml" Id="Ra6b8ab40be2547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a6a3b9e58f449d" /><Relationship Type="http://schemas.openxmlformats.org/officeDocument/2006/relationships/notesMaster" Target="/ppt/notesMasters/notesMaster1.xml" Id="R6a40123e58ba4f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fe3b2781be4735" /><Relationship Type="http://schemas.openxmlformats.org/officeDocument/2006/relationships/notesMaster" Target="/ppt/notesMasters/notesMaster1.xml" Id="R9a5095beb7eb4e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b530da89ba4d72" /><Relationship Type="http://schemas.openxmlformats.org/officeDocument/2006/relationships/notesMaster" Target="/ppt/notesMasters/notesMaster1.xml" Id="Rb5b3483686c346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54f339299947ef" /><Relationship Type="http://schemas.openxmlformats.org/officeDocument/2006/relationships/notesMaster" Target="/ppt/notesMasters/notesMaster1.xml" Id="Rdc395349b60340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0243b1eb5a4484" /><Relationship Type="http://schemas.openxmlformats.org/officeDocument/2006/relationships/notesMaster" Target="/ppt/notesMasters/notesMaster1.xml" Id="R65fe22b9dbfe4a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e2246ad4574f8f" /><Relationship Type="http://schemas.openxmlformats.org/officeDocument/2006/relationships/notesMaster" Target="/ppt/notesMasters/notesMaster1.xml" Id="R882e95ac99154a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3553883b6b42bb" /><Relationship Type="http://schemas.openxmlformats.org/officeDocument/2006/relationships/notesMaster" Target="/ppt/notesMasters/notesMaster1.xml" Id="R97eeecee22994e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32e58fe3fd4f37" /><Relationship Type="http://schemas.openxmlformats.org/officeDocument/2006/relationships/notesMaster" Target="/ppt/notesMasters/notesMaster1.xml" Id="Rf9f3be7b47d84d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Kuliah pengantar S1, 60–75 menit. Fokus: pengambilan keputusan pemasaran, STP, bauran pemasaran, dan evaluasi. Kasus Kopi Sela beserta semua angkanya merupakan simulasi orisinal untuk latihan, bukan temuan survei atau usaha nyata. Pembukaan: tanyakan kepada mahasiswa mengapa kedai dengan kopi enak tetap dapat kehilangan pelanggan.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Alokasi waktu: pembukaan 5 menit, konsep 10, STP 15, bauran 15, evaluasi 10, diskusi 10. Tujuan: mahasiswa dapat membedakan masalah pelanggan dan gejala penjualan, memilih target disertai alasan, menyusun bauran yang konsisten, serta menghitung kontribusi promosi. Pertanyaan awal: apa informasi yang diperlukan sebelum memberi diskon?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AMA mendefinisikan pemasaran melalui penciptaan, komunikasi, penyampaian, dan pertukaran penawaran yang bernilai. Slide ini merangkum definisi dan memperluasnya menjadi keputusan pengelola. https://www.ama.org/the-definition-of-marketing-what-is-marketing/</a:t>
            </a:r>
          </a:p>
          <a:p xmlns:a="http://schemas.openxmlformats.org/drawingml/2006/main">
            <a:r>
              <a:t>Contoh orisinal: kursus dapat menawarkan jadwal malam untuk peserta bekerja. Perubahan jadwal merupakan keputusan penawaran, bukan sekadar keputusan iklan. Minta mahasiswa menyebut satu keputusan pemasaran sebelum transaksi dan satu sesudah transaksi.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Seluruh kondisi kasus merupakan asumsi pembelajaran. Jangan memperlakukan perilaku mahasiswa sebagai hasil penelitian. Kasus: kedai dekat kampus, 30 tempat duduk, ramai pada jam jeda, layanan pesan ambil belum teratur. Dosen dapat mengganti skenario dengan bisnis lokal. Pertanyaan: pelanggan membeli minuman, kemudahan, tempat duduk, atau kombinasi manfaat?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Metode ini merupakan rancangan analisis orisinal kasus, bukan hasil penelitian. Minta mahasiswa membedakan observasi dan kesimpulan. Antrean yang terlihat belum membuktikan pelanggan batal membeli. Wawancara dapat menggali alasan, sedangkan catatan transaksi dan observasi membantu memeriksa pola. Hindari pertanyaan menggiring, seperti apakah Anda setuju harga terlalu mahal. Catat persetujuan responden dan jangan mengumpulkan data pribadi yang tidak diperlukan.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Konsep segmentasi dan dasar perilaku/manfaat: https://pressbooks.library.vcu.edu/marketingprinciples/chapter/chapter-7-segmentation-targeting-and-positioning/</a:t>
            </a:r>
          </a:p>
          <a:p xmlns:a="http://schemas.openxmlformats.org/drawingml/2006/main">
            <a:r>
              <a:t>Pengelompokan Kopi Sela adalah aplikasi orisinal yang perlu diuji melalui riset. Satu orang dapat berada dalam situasi cepat ambil pada pagi hari dan kerja kelompok sore hari. Karena itu, unit analisis di sini adalah kesempatan pembelian, bukan klasifikasi kepribadian permanen. Segmentasi yang berguna perlu menghasilkan perbedaan kebutuhan atau respons penawaran.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Prinsip targeting terkait daya tarik segmen dan kemampuan melayani: https://pressbooks.library.vcu.edu/marketingprinciples/chapter/chapter-7-segmentation-targeting-and-positioning/</a:t>
            </a:r>
          </a:p>
          <a:p xmlns:a="http://schemas.openxmlformats.org/drawingml/2006/main">
            <a:r>
              <a:t>Pilihan prioritas dalam slide merupakan rekomendasi simulasi, bukan hasil evaluasi pasar. Ukuran segmen, kemampuan membayar, pesaing, serta kapasitas masih perlu diketahui. Target cepat ambil tidak otomatis paling menguntungkan. Uji asumsi permintaan, waktu penyelesaian, biaya kemasan, dan kemungkinan benturan alur dengan pelanggan duduk.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Positioning adalah posisi yang ingin dibangun relatif terhadap alternatif di benak pelanggan. Sumber: https://openstax.org/books/principles-marketing/pages/5-6-product-positioning</a:t>
            </a:r>
          </a:p>
          <a:p xmlns:a="http://schemas.openxmlformats.org/drawingml/2006/main">
            <a:r>
              <a:t>Pernyataan Kopi Sela merupakan contoh orisinal. Bukti yang diperlukan: keandalan waktu, akses ambil, dan kejelasan informasi. Hindari menganggap slogan saja membangun positioning. Janji siap pada slot harus dibuktikan secara operasional. Jika kemampuan belum ada, gunakan sebagai hipotesis yang diuji, bukan klaim iklan faktual.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Kerangka 4P: https://openstax.org/books/principles-marketing/pages/1-2-the-marketing-mix-and-the-4ps-of-marketing</a:t>
            </a:r>
          </a:p>
          <a:p xmlns:a="http://schemas.openxmlformats.org/drawingml/2006/main">
            <a:r>
              <a:t>Setiap tindakan berikut adalah aplikasi orisinal kasus. Product termasuk layanan yang menyertai minuman. Place menyangkut akses dan penyaluran, tidak terbatas lokasi fisik. Promotion menyampaikan manfaat yang dapat dipenuhi. Pembatasan menu membantu fokus produksi tetapi dapat mengurangi pilihan pelanggan. Bahas tradeoff tersebut.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Perhitungan kasus orisinal. Harga Rp25.000, biaya variabel Rp12.000 per cup, diskon20% menghasilkan harga Rp20.000. Kontribusi per cup sebelum diskon Rp13.000, sesudah diskon Rp8.000. Rasio13.000/8.000=1,625: volume harus naik62,5% agar total kontribusi sama, dengan biaya variabel per unit konstan dan tanpa tambahan biaya tetap. Angka bukan laba bersih. Perubahan kapasitas atau ongkos lain dapat mengubah hasil.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hipotetis. A normal 100cup*25.000=2.500.000 pendapatan, variabel1.200.000, kontribusi1.300.000. B diskon20%,140cup*20.000=2.800.000 pendapatan, variabel1.680.000, kontribusi1.120.000. Pendapatan naik12%, kontribusi turun sekitar13,85%. Grafik memakai satuan juta rupiah. Bandingkan periode yang setara. Tidak menyimpulkan pengaruh kausal diskon dari dua observasi. Pembelian yang sudah akan terjadi dan biaya kampanye belum dihitung.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Rancangan pengalaman ini adalah hipotesis kasus. Fokus pada titik kegagalan yang dapat diamati. Ilustrasi keterlambatan lima menit tidak berasal dari observasi. Jelaskan bahwa kepuasan tidak selalu sama dengan retensi, dan pembelian ulang dipengaruhi jadwal, lokasi, alternatif, serta kebutuhan. Pengukuran janji waktu harus memakai waktu yang tercatat. Keluhan bisa mengungkap masalah tetapi tidak mewakili seluruh pelanggan.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Rancangan eksperimen merupakan usulan pembelajaran. Jangan mengklaim dua minggu cukup untuk semua tujuan. Catat volume, kontribusi, waktu layanan, pembelian ulang, komplain, dan kondisi pembanding. Untuk estimasi sebab-akibat diperlukan rancangan yang mengendalikan faktor perancu. Periode sebelum-sesudah dapat dipengaruhi ujian, cuaca, dan jadwal kuliah. Pembelian ulang harus memakai cohort dan jendela observasi setara, secara agregat dengan penggunaan data yang sesuai persetujuan. Rujukan rencana dan pengendalian: https://openstax.org/books/principles-marketing/pages/2-3-purpose-and-structure-of-the-marketing-plan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Waktu10 menit kelompok kecil. Pertanyaan1: pilihan mempertahankan jumlah slot atau menambahnya. Jawaban yang kuat mempertimbangkan keandalan layanan dan kontribusi. Pertanyaan2: dua data yang harus dicari, misalnya distribusi keterlambatan per slot dan kontribusi setelah biaya tambahan. Pertanyaan3: usulan perbaikan yang menjaga positioning, misalnya penjadwalan kapasitas, pembatasan menu, atau titik ambil. Contoh jawaban tidak tunggal. Beri nilai pada konsistensi alasan, bukti yang diminta, dan pengakuan asumsi.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Hubungkan kembali dengan tujuan slide2. Mahasiswa perlu menunjukkan diagnosis, pilihan segmen, konsistensi4P, dan evaluasi yang tepat. Tugas: audit sederhana sebuah penawaran lokal menggunakan observasi yang sah, tanpa mengarang data transaksi. Kumpulkan satu halaman yang memisahkan observasi, interpretasi, dan saran. Kriteria: ketepatan konsep30%, kekuatan alasan30%, konsistensi strategi25%, transparansi asumsi15%.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sumber primer/akademik telah diperiksa. Tidak mengutip definisi secara verbatim. Gunakan tautan di slide sebagai bacaan lanjut. Semua kasus Kopi Sela, kondisi kedai, strategi, contoh riset, rancangan evaluasi, dan angka finansial merupakan simulasi orisinal. Tidak ada klaim tentang merek nyata. Rumus kontribusi perunit dan total adalah hitungan aritmetika sederhana dari asumsi yang dinyatakan. Font Garamond dan Franklin Gothic Book perlu tersedia saat mengedit agar tata letak dipertahankan.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988595ebe54b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1c231b223e459a" /><Relationship Type="http://schemas.openxmlformats.org/officeDocument/2006/relationships/slideLayout" Target="/ppt/slideLayouts/slideLayout1.xml" Id="Rbd3d3d253aad48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3d3d253aad48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406c83b86844d2" /><Relationship Type="http://schemas.openxmlformats.org/officeDocument/2006/relationships/notesSlide" Target="/ppt/notesSlides/notesSlide1.xml" Id="R296516b655f641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2ff5e8dff448f5" /><Relationship Type="http://schemas.openxmlformats.org/officeDocument/2006/relationships/notesSlide" Target="/ppt/notesSlides/notesSlide2.xml" Id="R592b64c1ca0d4f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e2d805cbe04600" /><Relationship Type="http://schemas.openxmlformats.org/officeDocument/2006/relationships/notesSlide" Target="/ppt/notesSlides/notesSlide3.xml" Id="R49df2b9cf07844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5982b56d0e4a54" /><Relationship Type="http://schemas.openxmlformats.org/officeDocument/2006/relationships/notesSlide" Target="/ppt/notesSlides/notesSlide4.xml" Id="Rf271cb91a9b743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53330130c74518" /><Relationship Type="http://schemas.openxmlformats.org/officeDocument/2006/relationships/notesSlide" Target="/ppt/notesSlides/notesSlide5.xml" Id="Radbfc972732747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0fc8a1b3ea4e52" /><Relationship Type="http://schemas.openxmlformats.org/officeDocument/2006/relationships/notesSlide" Target="/ppt/notesSlides/notesSlide6.xml" Id="Rb51dbc5127d445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f496f15f8e4d02" /><Relationship Type="http://schemas.openxmlformats.org/officeDocument/2006/relationships/notesSlide" Target="/ppt/notesSlides/notesSlide7.xml" Id="Rbc0ccc8f768d4b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805a8690d248a8" /><Relationship Type="http://schemas.openxmlformats.org/officeDocument/2006/relationships/notesSlide" Target="/ppt/notesSlides/notesSlide8.xml" Id="R6969658cde6246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e4f7d5b966431e" /><Relationship Type="http://schemas.openxmlformats.org/officeDocument/2006/relationships/notesSlide" Target="/ppt/notesSlides/notesSlide9.xml" Id="R08f64c7ea9fa49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df100c4d234712" /><Relationship Type="http://schemas.openxmlformats.org/officeDocument/2006/relationships/notesSlide" Target="/ppt/notesSlides/notesSlide10.xml" Id="R94a1c6185a984e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98e349dbfa04949" /><Relationship Type="http://schemas.openxmlformats.org/officeDocument/2006/relationships/chart" Target="/ppt/slides/charts/chart1.xml" Id="R061a74649eb34596" /><Relationship Type="http://schemas.openxmlformats.org/officeDocument/2006/relationships/notesSlide" Target="/ppt/notesSlides/notesSlide11.xml" Id="Ra60ee9d4c5514e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fdebef1b014a36" /><Relationship Type="http://schemas.openxmlformats.org/officeDocument/2006/relationships/notesSlide" Target="/ppt/notesSlides/notesSlide12.xml" Id="R0eda8bdec71a4d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bb43a7bfa5e4013" /><Relationship Type="http://schemas.openxmlformats.org/officeDocument/2006/relationships/notesSlide" Target="/ppt/notesSlides/notesSlide13.xml" Id="R3ba25368866e443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1fb6249280a432d" /><Relationship Type="http://schemas.openxmlformats.org/officeDocument/2006/relationships/notesSlide" Target="/ppt/notesSlides/notesSlide14.xml" Id="Rb8085289b75f4b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6bca676eaf4994" /><Relationship Type="http://schemas.openxmlformats.org/officeDocument/2006/relationships/notesSlide" Target="/ppt/notesSlides/notesSlide15.xml" Id="Rd4b0f6828a934cc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ff578b75fa24390" /><Relationship Type="http://schemas.openxmlformats.org/officeDocument/2006/relationships/notesSlide" Target="/ppt/notesSlides/notesSlide16.xml" Id="R939a1485110b49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Pendapatan</c:v>
          </c:tx>
          <c:spPr>
            <a:solidFill xmlns:a="http://schemas.openxmlformats.org/drawingml/2006/main">
              <a:srgbClr val="7B8574"/>
            </a:solidFill>
          </c:spPr>
          <c:cat>
            <c:strRef>
              <c:f>'Chart Data'!$A$2:$A$3</c:f>
              <c:strCache>
                <c:ptCount val="2"/>
                <c:pt idx="0">
                  <c:v>Normal: 100 cup</c:v>
                </c:pt>
                <c:pt idx="1">
                  <c:v>Diskon: 140 cup</c:v>
                </c:pt>
              </c:strCache>
            </c:strRef>
          </c:cat>
          <c:val>
            <c:numRef>
              <c:f>'Chart Data'!$B$2:$B$3</c:f>
              <c:numCache>
                <c:formatCode>0.0</c:formatCode>
                <c:ptCount val="2"/>
                <c:pt idx="0">
                  <c:v>2.5</c:v>
                </c:pt>
                <c:pt idx="1">
                  <c:v>2.8</c:v>
                </c:pt>
              </c:numCache>
            </c:numRef>
          </c:val>
        </c:ser>
        <c:ser>
          <c:idx val="1"/>
          <c:order val="1"/>
          <c:tx>
            <c:v>Kontribusi</c:v>
          </c:tx>
          <c:spPr>
            <a:solidFill xmlns:a="http://schemas.openxmlformats.org/drawingml/2006/main">
              <a:srgbClr val="AD442F"/>
            </a:solidFill>
          </c:spPr>
          <c:cat>
            <c:strRef>
              <c:f>'Chart Data'!$C$2:$C$3</c:f>
              <c:strCache>
                <c:ptCount val="2"/>
                <c:pt idx="0">
                  <c:v>Normal: 100 cup</c:v>
                </c:pt>
                <c:pt idx="1">
                  <c:v>Diskon: 140 cup</c:v>
                </c:pt>
              </c:strCache>
            </c:strRef>
          </c:cat>
          <c:val>
            <c:numRef>
              <c:f>'Chart Data'!$D$2:$D$3</c:f>
              <c:numCache>
                <c:formatCode>0.0</c:formatCode>
                <c:ptCount val="2"/>
                <c:pt idx="0">
                  <c:v>1.3</c:v>
                </c:pt>
                <c:pt idx="1">
                  <c:v>1.12</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32922"/>
                  </a:solidFill>
                  <a:latin typeface="Franklin Gothic Book"/>
                  <a:ea typeface="Franklin Gothic Book"/>
                  <a:cs typeface="Franklin Gothic Book"/>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32922"/>
                </a:solidFill>
                <a:latin typeface="Franklin Gothic Book"/>
                <a:ea typeface="Franklin Gothic Book"/>
                <a:cs typeface="Franklin Gothic Book"/>
              </a:defRPr>
            </a:pPr>
          </a:p>
        </c:txPr>
        <c:crossAx val="48672768"/>
      </c:catAx>
      <c:valAx>
        <c:axId val="48672768"/>
        <c:scaling>
          <c:orientation val="minMax"/>
          <c:max val="3"/>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75C"/>
                </a:solidFill>
                <a:latin typeface="Franklin Gothic Book"/>
                <a:ea typeface="Franklin Gothic Book"/>
                <a:cs typeface="Franklin Gothic Book"/>
              </a:defRPr>
            </a:pPr>
          </a:p>
        </c:txPr>
        <c:crossAx val="48650112"/>
        <c:crossBetween val="between"/>
        <c:majorUnit val="1"/>
      </c:valAx>
      <c:spPr>
        <a:solidFill xmlns:a="http://schemas.openxmlformats.org/drawingml/2006/main">
          <a:srgbClr val="F4EFE5"/>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32922"/>
              </a:solidFill>
              <a:latin typeface="Franklin Gothic Book"/>
              <a:ea typeface="Franklin Gothic Book"/>
              <a:cs typeface="Franklin Gothic Book"/>
            </a:defRPr>
          </a:pPr>
        </a:p>
      </c:txPr>
    </c:legend>
    <c:plotVisOnly val="1"/>
  </c:chart>
  <c:spPr>
    <a:solidFill xmlns:a="http://schemas.openxmlformats.org/drawingml/2006/main">
      <a:srgbClr val="F4EFE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32922"/>
        </a:solidFill>
      </p:bgPr>
    </p:bg>
    <p:spTree>
      <p:nvGrpSpPr>
        <p:cNvPr id="1" name=""/>
        <p:cNvGrpSpPr/>
        <p:nvPr/>
      </p:nvGrpSpPr>
      <p:grpSpPr>
        <a:xfrm xmlns:a="http://schemas.openxmlformats.org/drawingml/2006/main"/>
      </p:grpSpPr>
      <p:sp>
        <p:nvSpPr>
          <p:cNvPr id="5" name="copy-0">
            <a:extLst xmlns:a="http://schemas.openxmlformats.org/drawingml/2006/main">
              <a:ext uri="{FF2B5EF4-FFF2-40B4-BE49-F238E27FC236}">
                <a16:creationId xmlns:a16="http://schemas.microsoft.com/office/drawing/2014/main" id="{F3F177D2-3ABA-4CA7-A92F-9632BB5D434C}"/>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F4EFE5"/>
                </a:solidFill>
                <a:latin typeface="Franklin Gothic Book"/>
                <a:ea typeface="Franklin Gothic Book"/>
                <a:cs typeface="Franklin Gothic Book"/>
              </a:defRPr>
            </a:pPr>
            <a:r>
              <a:rPr sz="1350" b="0">
                <a:solidFill>
                  <a:srgbClr val="F4EFE5"/>
                </a:solidFill>
                <a:latin typeface="Franklin Gothic Book"/>
                <a:ea typeface="Franklin Gothic Book"/>
                <a:cs typeface="Franklin Gothic Book"/>
              </a:rPr>
              <a:t>01</a:t>
            </a:r>
          </a:p>
        </p:txBody>
      </p:sp>
      <p:sp>
        <p:nvSpPr>
          <p:cNvPr id="2" name="copy-1">
            <a:extLst xmlns:a="http://schemas.openxmlformats.org/drawingml/2006/main">
              <a:ext uri="{FF2B5EF4-FFF2-40B4-BE49-F238E27FC236}">
                <a16:creationId xmlns:a16="http://schemas.microsoft.com/office/drawing/2014/main" id="{E54A8D50-C363-47C3-8776-C9A77491EB13}"/>
              </a:ext>
            </a:extLst>
          </p:cNvPr>
          <p:cNvSpPr>
            <a:spLocks xmlns:a="http://schemas.openxmlformats.org/drawingml/2006/main" noGrp="1"/>
          </p:cNvSpPr>
          <p:nvPr/>
        </p:nvSpPr>
        <p:spPr>
          <a:xfrm xmlns:a="http://schemas.openxmlformats.org/drawingml/2006/main">
            <a:off x="628650" y="5143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F4EFE5"/>
                </a:solidFill>
                <a:latin typeface="Franklin Gothic Book"/>
                <a:ea typeface="Franklin Gothic Book"/>
                <a:cs typeface="Franklin Gothic Book"/>
              </a:defRPr>
            </a:pPr>
            <a:r>
              <a:rPr sz="1575" b="0">
                <a:solidFill>
                  <a:srgbClr val="F4EFE5"/>
                </a:solidFill>
                <a:latin typeface="Franklin Gothic Book"/>
                <a:ea typeface="Franklin Gothic Book"/>
                <a:cs typeface="Franklin Gothic Book"/>
              </a:rPr>
              <a:t>MANAJEMEN PEMASARAN</a:t>
            </a:r>
          </a:p>
        </p:txBody>
      </p:sp>
      <p:sp>
        <p:nvSpPr>
          <p:cNvPr id="3" name="copy-2">
            <a:extLst xmlns:a="http://schemas.openxmlformats.org/drawingml/2006/main">
              <a:ext uri="{FF2B5EF4-FFF2-40B4-BE49-F238E27FC236}">
                <a16:creationId xmlns:a16="http://schemas.microsoft.com/office/drawing/2014/main" id="{B6564C5C-5EDE-4BE1-A7AC-D651ADE0CAEA}"/>
              </a:ext>
            </a:extLst>
          </p:cNvPr>
          <p:cNvSpPr>
            <a:spLocks xmlns:a="http://schemas.openxmlformats.org/drawingml/2006/main" noGrp="1"/>
          </p:cNvSpPr>
          <p:nvPr/>
        </p:nvSpPr>
        <p:spPr>
          <a:xfrm xmlns:a="http://schemas.openxmlformats.org/drawingml/2006/main">
            <a:off x="609600" y="1409700"/>
            <a:ext cx="10096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200" b="0">
                <a:solidFill>
                  <a:srgbClr val="F4EFE5"/>
                </a:solidFill>
                <a:latin typeface="Garamond"/>
                <a:ea typeface="Garamond"/>
                <a:cs typeface="Garamond"/>
              </a:defRPr>
            </a:pPr>
            <a:r>
              <a:rPr sz="7200" b="0">
                <a:solidFill>
                  <a:srgbClr val="F4EFE5"/>
                </a:solidFill>
                <a:latin typeface="Garamond"/>
                <a:ea typeface="Garamond"/>
                <a:cs typeface="Garamond"/>
              </a:rPr>
              <a:t>Pelanggan,</a:t>
            </a:r>
          </a:p>
          <a:p xmlns:a="http://schemas.openxmlformats.org/drawingml/2006/main">
            <a:pPr>
              <a:defRPr sz="7200" b="0">
                <a:solidFill>
                  <a:srgbClr val="F4EFE5"/>
                </a:solidFill>
                <a:latin typeface="Garamond"/>
                <a:ea typeface="Garamond"/>
                <a:cs typeface="Garamond"/>
              </a:defRPr>
            </a:pPr>
            <a:r>
              <a:rPr sz="7200" b="0">
                <a:solidFill>
                  <a:srgbClr val="F4EFE5"/>
                </a:solidFill>
                <a:latin typeface="Garamond"/>
                <a:ea typeface="Garamond"/>
                <a:cs typeface="Garamond"/>
              </a:rPr>
              <a:t>nilai, dan</a:t>
            </a:r>
          </a:p>
          <a:p xmlns:a="http://schemas.openxmlformats.org/drawingml/2006/main">
            <a:pPr>
              <a:defRPr sz="7200" b="0">
                <a:solidFill>
                  <a:srgbClr val="F4EFE5"/>
                </a:solidFill>
                <a:latin typeface="Garamond"/>
                <a:ea typeface="Garamond"/>
                <a:cs typeface="Garamond"/>
              </a:defRPr>
            </a:pPr>
            <a:r>
              <a:rPr sz="7200" b="0">
                <a:solidFill>
                  <a:srgbClr val="F4EFE5"/>
                </a:solidFill>
                <a:latin typeface="Garamond"/>
                <a:ea typeface="Garamond"/>
                <a:cs typeface="Garamond"/>
              </a:rPr>
              <a:t>pilihan strategi</a:t>
            </a:r>
          </a:p>
        </p:txBody>
      </p:sp>
      <p:sp>
        <p:nvSpPr>
          <p:cNvPr id="4" name="copy-3">
            <a:extLst xmlns:a="http://schemas.openxmlformats.org/drawingml/2006/main">
              <a:ext uri="{FF2B5EF4-FFF2-40B4-BE49-F238E27FC236}">
                <a16:creationId xmlns:a16="http://schemas.microsoft.com/office/drawing/2014/main" id="{F678B3F0-22C3-4501-8726-2C8D579259C9}"/>
              </a:ext>
            </a:extLst>
          </p:cNvPr>
          <p:cNvSpPr>
            <a:spLocks xmlns:a="http://schemas.openxmlformats.org/drawingml/2006/main" noGrp="1"/>
          </p:cNvSpPr>
          <p:nvPr/>
        </p:nvSpPr>
        <p:spPr>
          <a:xfrm xmlns:a="http://schemas.openxmlformats.org/drawingml/2006/main">
            <a:off x="647700" y="55149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4EFE5"/>
                </a:solidFill>
                <a:latin typeface="Franklin Gothic Book"/>
                <a:ea typeface="Franklin Gothic Book"/>
                <a:cs typeface="Franklin Gothic Book"/>
              </a:defRPr>
            </a:pPr>
            <a:r>
              <a:rPr sz="2100" b="0">
                <a:solidFill>
                  <a:srgbClr val="F4EFE5"/>
                </a:solidFill>
                <a:latin typeface="Franklin Gothic Book"/>
                <a:ea typeface="Franklin Gothic Book"/>
                <a:cs typeface="Franklin Gothic Book"/>
              </a:rPr>
              <a:t>Kuliah pengantar dengan studi kasus kedai kopi</a:t>
            </a:r>
          </a:p>
        </p:txBody>
      </p:sp>
    </p:spTree>
    <p:extLst>
      <p:ext uri="{BB962C8B-B14F-4D97-AF65-F5344CB8AC3E}">
        <p14:creationId xmlns:p14="http://schemas.microsoft.com/office/powerpoint/2010/main" val="2104117783"/>
      </p:ext>
    </p:extLst>
  </p:cSld>
</p:sld>
</file>

<file path=ppt/slides/slide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7" name="copy-0">
            <a:extLst xmlns:a="http://schemas.openxmlformats.org/drawingml/2006/main">
              <a:ext uri="{FF2B5EF4-FFF2-40B4-BE49-F238E27FC236}">
                <a16:creationId xmlns:a16="http://schemas.microsoft.com/office/drawing/2014/main" id="{E02B667D-3F2B-4FDF-8BD0-AB155F5F9C69}"/>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Keputusan yang dipelajari</a:t>
            </a:r>
          </a:p>
        </p:txBody>
      </p:sp>
      <p:sp>
        <p:nvSpPr>
          <p:cNvPr id="2" name="copy-1">
            <a:extLst xmlns:a="http://schemas.openxmlformats.org/drawingml/2006/main">
              <a:ext uri="{FF2B5EF4-FFF2-40B4-BE49-F238E27FC236}">
                <a16:creationId xmlns:a16="http://schemas.microsoft.com/office/drawing/2014/main" id="{4BE7D0A7-5479-4FD0-AA4A-2EE825091F48}"/>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02</a:t>
            </a:r>
          </a:p>
        </p:txBody>
      </p:sp>
      <p:sp>
        <p:nvSpPr>
          <p:cNvPr id="3" name="copy-2">
            <a:extLst xmlns:a="http://schemas.openxmlformats.org/drawingml/2006/main">
              <a:ext uri="{FF2B5EF4-FFF2-40B4-BE49-F238E27FC236}">
                <a16:creationId xmlns:a16="http://schemas.microsoft.com/office/drawing/2014/main" id="{81F82CAC-8056-4268-BD83-22152EBAEEB0}"/>
              </a:ext>
            </a:extLst>
          </p:cNvPr>
          <p:cNvSpPr>
            <a:spLocks xmlns:a="http://schemas.openxmlformats.org/drawingml/2006/main" noGrp="1"/>
          </p:cNvSpPr>
          <p:nvPr/>
        </p:nvSpPr>
        <p:spPr>
          <a:xfrm xmlns:a="http://schemas.openxmlformats.org/drawingml/2006/main">
            <a:off x="609600" y="20955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Persoalan pengelola</a:t>
            </a:r>
          </a:p>
        </p:txBody>
      </p:sp>
      <p:sp>
        <p:nvSpPr>
          <p:cNvPr id="4" name="copy-3">
            <a:extLst xmlns:a="http://schemas.openxmlformats.org/drawingml/2006/main">
              <a:ext uri="{FF2B5EF4-FFF2-40B4-BE49-F238E27FC236}">
                <a16:creationId xmlns:a16="http://schemas.microsoft.com/office/drawing/2014/main" id="{E30913AD-756F-4506-AE25-1A372D36B089}"/>
              </a:ext>
            </a:extLst>
          </p:cNvPr>
          <p:cNvSpPr>
            <a:spLocks xmlns:a="http://schemas.openxmlformats.org/drawingml/2006/main" noGrp="1"/>
          </p:cNvSpPr>
          <p:nvPr/>
        </p:nvSpPr>
        <p:spPr>
          <a:xfrm xmlns:a="http://schemas.openxmlformats.org/drawingml/2006/main">
            <a:off x="609600" y="2695575"/>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Sebuah kedai memiliki menu yang baik, tetapi pelanggan jarang kembali. Pemilik mempertimbangkan diskon besar. Apakah harga benar-benar menjadi hambatan utama, atau pelanggan kesulitan memperoleh pesanan saat mereka membutuhkannya?</a:t>
            </a:r>
          </a:p>
        </p:txBody>
      </p:sp>
      <p:sp>
        <p:nvSpPr>
          <p:cNvPr id="5" name="copy-4">
            <a:extLst xmlns:a="http://schemas.openxmlformats.org/drawingml/2006/main">
              <a:ext uri="{FF2B5EF4-FFF2-40B4-BE49-F238E27FC236}">
                <a16:creationId xmlns:a16="http://schemas.microsoft.com/office/drawing/2014/main" id="{21B95FCB-0628-4527-B720-4D06490271B5}"/>
              </a:ext>
            </a:extLst>
          </p:cNvPr>
          <p:cNvSpPr>
            <a:spLocks xmlns:a="http://schemas.openxmlformats.org/drawingml/2006/main" noGrp="1"/>
          </p:cNvSpPr>
          <p:nvPr/>
        </p:nvSpPr>
        <p:spPr>
          <a:xfrm xmlns:a="http://schemas.openxmlformats.org/drawingml/2006/main">
            <a:off x="6477000" y="20955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Hasil belajar</a:t>
            </a:r>
          </a:p>
        </p:txBody>
      </p:sp>
      <p:sp>
        <p:nvSpPr>
          <p:cNvPr id="6" name="copy-5">
            <a:extLst xmlns:a="http://schemas.openxmlformats.org/drawingml/2006/main">
              <a:ext uri="{FF2B5EF4-FFF2-40B4-BE49-F238E27FC236}">
                <a16:creationId xmlns:a16="http://schemas.microsoft.com/office/drawing/2014/main" id="{BB83FAFE-DC23-41D5-BB42-97714A23CF62}"/>
              </a:ext>
            </a:extLst>
          </p:cNvPr>
          <p:cNvSpPr>
            <a:spLocks xmlns:a="http://schemas.openxmlformats.org/drawingml/2006/main" noGrp="1"/>
          </p:cNvSpPr>
          <p:nvPr/>
        </p:nvSpPr>
        <p:spPr>
          <a:xfrm xmlns:a="http://schemas.openxmlformats.org/drawingml/2006/main">
            <a:off x="6477000" y="2695575"/>
            <a:ext cx="50673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Mahasiswa dapat merumuskan masalah pelanggan, memilih segmen yang layak dilayani, dan menyusun keputusan produk, harga, saluran, serta komunikasi yang saling mendukung.</a:t>
            </a:r>
          </a:p>
          <a:p xmlns:a="http://schemas.openxmlformats.org/drawingml/2006/main">
            <a:r>
              <a:t/>
            </a:r>
          </a:p>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Latihan penutup meminta alasan strategi dan perhitungan kontribusi promosi.</a:t>
            </a:r>
          </a:p>
        </p:txBody>
      </p:sp>
    </p:spTree>
    <p:extLst>
      <p:ext uri="{BB962C8B-B14F-4D97-AF65-F5344CB8AC3E}">
        <p14:creationId xmlns:p14="http://schemas.microsoft.com/office/powerpoint/2010/main" val="990758507"/>
      </p:ext>
    </p:extLst>
  </p:cSld>
</p:sld>
</file>

<file path=ppt/slides/slide3.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copy-0">
            <a:extLst xmlns:a="http://schemas.openxmlformats.org/drawingml/2006/main">
              <a:ext uri="{FF2B5EF4-FFF2-40B4-BE49-F238E27FC236}">
                <a16:creationId xmlns:a16="http://schemas.microsoft.com/office/drawing/2014/main" id="{57550697-A42B-435F-BD62-E4305485366D}"/>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Lingkup manajemen pemasaran</a:t>
            </a:r>
          </a:p>
        </p:txBody>
      </p:sp>
      <p:sp>
        <p:nvSpPr>
          <p:cNvPr id="2" name="copy-1">
            <a:extLst xmlns:a="http://schemas.openxmlformats.org/drawingml/2006/main">
              <a:ext uri="{FF2B5EF4-FFF2-40B4-BE49-F238E27FC236}">
                <a16:creationId xmlns:a16="http://schemas.microsoft.com/office/drawing/2014/main" id="{608C4260-94AE-42C7-81AB-251F3333D0F0}"/>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03</a:t>
            </a:r>
          </a:p>
        </p:txBody>
      </p:sp>
      <p:sp>
        <p:nvSpPr>
          <p:cNvPr id="3" name="copy-2">
            <a:extLst xmlns:a="http://schemas.openxmlformats.org/drawingml/2006/main">
              <a:ext uri="{FF2B5EF4-FFF2-40B4-BE49-F238E27FC236}">
                <a16:creationId xmlns:a16="http://schemas.microsoft.com/office/drawing/2014/main" id="{4D1B5C0E-68E7-4B69-A110-19A444555E16}"/>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32922"/>
                </a:solidFill>
                <a:latin typeface="Franklin Gothic Book"/>
                <a:ea typeface="Franklin Gothic Book"/>
                <a:cs typeface="Franklin Gothic Book"/>
              </a:defRPr>
            </a:pPr>
            <a:r>
              <a:rPr sz="1125" b="0">
                <a:solidFill>
                  <a:srgbClr val="232922"/>
                </a:solidFill>
                <a:latin typeface="Franklin Gothic Book"/>
                <a:ea typeface="Franklin Gothic Book"/>
                <a:cs typeface="Franklin Gothic Book"/>
              </a:rPr>
              <a:t>Rujukan konsep: American Marketing Association, Definition of Marketing</a:t>
            </a:r>
          </a:p>
        </p:txBody>
      </p:sp>
      <p:sp>
        <p:nvSpPr>
          <p:cNvPr id="4" name="copy-3">
            <a:extLst xmlns:a="http://schemas.openxmlformats.org/drawingml/2006/main">
              <a:ext uri="{FF2B5EF4-FFF2-40B4-BE49-F238E27FC236}">
                <a16:creationId xmlns:a16="http://schemas.microsoft.com/office/drawing/2014/main" id="{89AC8EE1-452F-405C-961C-5649DC6B53CC}"/>
              </a:ext>
            </a:extLst>
          </p:cNvPr>
          <p:cNvSpPr>
            <a:spLocks xmlns:a="http://schemas.openxmlformats.org/drawingml/2006/main" noGrp="1"/>
          </p:cNvSpPr>
          <p:nvPr/>
        </p:nvSpPr>
        <p:spPr>
          <a:xfrm xmlns:a="http://schemas.openxmlformats.org/drawingml/2006/main">
            <a:off x="609600" y="20383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0">
                <a:solidFill>
                  <a:srgbClr val="AD442F"/>
                </a:solidFill>
                <a:latin typeface="Garamond"/>
                <a:ea typeface="Garamond"/>
                <a:cs typeface="Garamond"/>
              </a:defRPr>
            </a:pPr>
            <a:r>
              <a:rPr sz="4650" b="0">
                <a:solidFill>
                  <a:srgbClr val="AD442F"/>
                </a:solidFill>
                <a:latin typeface="Garamond"/>
                <a:ea typeface="Garamond"/>
                <a:cs typeface="Garamond"/>
              </a:rPr>
              <a:t>Nilai bagi pelanggan</a:t>
            </a:r>
          </a:p>
        </p:txBody>
      </p:sp>
      <p:sp>
        <p:nvSpPr>
          <p:cNvPr id="5" name="copy-4">
            <a:extLst xmlns:a="http://schemas.openxmlformats.org/drawingml/2006/main">
              <a:ext uri="{FF2B5EF4-FFF2-40B4-BE49-F238E27FC236}">
                <a16:creationId xmlns:a16="http://schemas.microsoft.com/office/drawing/2014/main" id="{154829E7-442C-4C2C-821A-0E6EE9DE0E57}"/>
              </a:ext>
            </a:extLst>
          </p:cNvPr>
          <p:cNvSpPr>
            <a:spLocks xmlns:a="http://schemas.openxmlformats.org/drawingml/2006/main" noGrp="1"/>
          </p:cNvSpPr>
          <p:nvPr/>
        </p:nvSpPr>
        <p:spPr>
          <a:xfrm xmlns:a="http://schemas.openxmlformats.org/drawingml/2006/main">
            <a:off x="609600" y="3095625"/>
            <a:ext cx="6667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32922"/>
                </a:solidFill>
                <a:latin typeface="Franklin Gothic Book"/>
                <a:ea typeface="Franklin Gothic Book"/>
                <a:cs typeface="Franklin Gothic Book"/>
              </a:defRPr>
            </a:pPr>
            <a:r>
              <a:rPr sz="2175" b="0">
                <a:solidFill>
                  <a:srgbClr val="232922"/>
                </a:solidFill>
                <a:latin typeface="Franklin Gothic Book"/>
                <a:ea typeface="Franklin Gothic Book"/>
                <a:cs typeface="Franklin Gothic Book"/>
              </a:rPr>
              <a:t>Pemasaran menghubungkan penawaran organisasi dengan kebutuhan pelanggan melalui penciptaan nilai, komunikasi, penyampaian, dan pertukaran. Pengelola menentukan siapa yang dilayani, manfaat yang dijanjikan, serta bagaimana pelanggan memperoleh manfaat tersebut.</a:t>
            </a:r>
          </a:p>
        </p:txBody>
      </p:sp>
      <p:sp>
        <p:nvSpPr>
          <p:cNvPr id="6" name="copy-5">
            <a:extLst xmlns:a="http://schemas.openxmlformats.org/drawingml/2006/main">
              <a:ext uri="{FF2B5EF4-FFF2-40B4-BE49-F238E27FC236}">
                <a16:creationId xmlns:a16="http://schemas.microsoft.com/office/drawing/2014/main" id="{441661FE-8902-4723-89D7-976E2D178DD3}"/>
              </a:ext>
            </a:extLst>
          </p:cNvPr>
          <p:cNvSpPr>
            <a:spLocks xmlns:a="http://schemas.openxmlformats.org/drawingml/2006/main" noGrp="1"/>
          </p:cNvSpPr>
          <p:nvPr/>
        </p:nvSpPr>
        <p:spPr>
          <a:xfrm xmlns:a="http://schemas.openxmlformats.org/drawingml/2006/main">
            <a:off x="8020050" y="22098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Implikasi pengelolaan</a:t>
            </a:r>
          </a:p>
        </p:txBody>
      </p:sp>
      <p:sp>
        <p:nvSpPr>
          <p:cNvPr id="7" name="copy-6">
            <a:extLst xmlns:a="http://schemas.openxmlformats.org/drawingml/2006/main">
              <a:ext uri="{FF2B5EF4-FFF2-40B4-BE49-F238E27FC236}">
                <a16:creationId xmlns:a16="http://schemas.microsoft.com/office/drawing/2014/main" id="{140A1B07-E609-448C-A098-7879779C45FD}"/>
              </a:ext>
            </a:extLst>
          </p:cNvPr>
          <p:cNvSpPr>
            <a:spLocks xmlns:a="http://schemas.openxmlformats.org/drawingml/2006/main" noGrp="1"/>
          </p:cNvSpPr>
          <p:nvPr/>
        </p:nvSpPr>
        <p:spPr>
          <a:xfrm xmlns:a="http://schemas.openxmlformats.org/drawingml/2006/main">
            <a:off x="8020050" y="2857500"/>
            <a:ext cx="3524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32922"/>
                </a:solidFill>
                <a:latin typeface="Franklin Gothic Book"/>
                <a:ea typeface="Franklin Gothic Book"/>
                <a:cs typeface="Franklin Gothic Book"/>
              </a:defRPr>
            </a:pPr>
            <a:r>
              <a:rPr sz="1875" b="0">
                <a:solidFill>
                  <a:srgbClr val="232922"/>
                </a:solidFill>
                <a:latin typeface="Franklin Gothic Book"/>
                <a:ea typeface="Franklin Gothic Book"/>
                <a:cs typeface="Franklin Gothic Book"/>
              </a:rPr>
              <a:t>Keputusan dimulai sebelum transaksi: rancangan menu, jam layanan, dan cara pemesanan.</a:t>
            </a:r>
          </a:p>
          <a:p xmlns:a="http://schemas.openxmlformats.org/drawingml/2006/main">
            <a:r>
              <a:t/>
            </a:r>
          </a:p>
          <a:p xmlns:a="http://schemas.openxmlformats.org/drawingml/2006/main">
            <a:pPr>
              <a:defRPr sz="1875" b="0">
                <a:solidFill>
                  <a:srgbClr val="232922"/>
                </a:solidFill>
                <a:latin typeface="Franklin Gothic Book"/>
                <a:ea typeface="Franklin Gothic Book"/>
                <a:cs typeface="Franklin Gothic Book"/>
              </a:defRPr>
            </a:pPr>
            <a:r>
              <a:rPr sz="1875" b="0">
                <a:solidFill>
                  <a:srgbClr val="232922"/>
                </a:solidFill>
                <a:latin typeface="Franklin Gothic Book"/>
                <a:ea typeface="Franklin Gothic Book"/>
                <a:cs typeface="Franklin Gothic Book"/>
              </a:rPr>
              <a:t>Sesudah pembelian, kualitas pengalaman serta penanganan keluhan memengaruhi peluang pelanggan kembali.</a:t>
            </a:r>
          </a:p>
        </p:txBody>
      </p:sp>
    </p:spTree>
    <p:extLst>
      <p:ext uri="{BB962C8B-B14F-4D97-AF65-F5344CB8AC3E}">
        <p14:creationId xmlns:p14="http://schemas.microsoft.com/office/powerpoint/2010/main" val="1467726369"/>
      </p:ext>
    </p:extLst>
  </p:cSld>
</p:sld>
</file>

<file path=ppt/slides/slide4.xml><?xml version="1.0" encoding="utf-8"?>
<p:sld xmlns:p="http://schemas.openxmlformats.org/presentationml/2006/main">
  <p:cSld>
    <p:bg>
      <p:bgPr>
        <a:solidFill xmlns:a="http://schemas.openxmlformats.org/drawingml/2006/main">
          <a:srgbClr val="AD442F"/>
        </a:solidFill>
      </p:bgPr>
    </p:bg>
    <p:spTree>
      <p:nvGrpSpPr>
        <p:cNvPr id="1" name=""/>
        <p:cNvGrpSpPr/>
        <p:nvPr/>
      </p:nvGrpSpPr>
      <p:grpSpPr>
        <a:xfrm xmlns:a="http://schemas.openxmlformats.org/drawingml/2006/main"/>
      </p:grpSpPr>
      <p:sp>
        <p:nvSpPr>
          <p:cNvPr id="6" name="copy-0">
            <a:extLst xmlns:a="http://schemas.openxmlformats.org/drawingml/2006/main">
              <a:ext uri="{FF2B5EF4-FFF2-40B4-BE49-F238E27FC236}">
                <a16:creationId xmlns:a16="http://schemas.microsoft.com/office/drawing/2014/main" id="{F440BEC6-96C5-4B50-92D0-D1893E816A7D}"/>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F4EFE5"/>
                </a:solidFill>
                <a:latin typeface="Garamond"/>
                <a:ea typeface="Garamond"/>
                <a:cs typeface="Garamond"/>
              </a:defRPr>
            </a:pPr>
            <a:r>
              <a:rPr sz="4050" b="0">
                <a:solidFill>
                  <a:srgbClr val="F4EFE5"/>
                </a:solidFill>
                <a:latin typeface="Garamond"/>
                <a:ea typeface="Garamond"/>
                <a:cs typeface="Garamond"/>
              </a:rPr>
              <a:t>Kasus Kopi Sela</a:t>
            </a:r>
          </a:p>
        </p:txBody>
      </p:sp>
      <p:sp>
        <p:nvSpPr>
          <p:cNvPr id="2" name="copy-1">
            <a:extLst xmlns:a="http://schemas.openxmlformats.org/drawingml/2006/main">
              <a:ext uri="{FF2B5EF4-FFF2-40B4-BE49-F238E27FC236}">
                <a16:creationId xmlns:a16="http://schemas.microsoft.com/office/drawing/2014/main" id="{C7505A25-BCEC-43E4-B3B0-650C7355EE59}"/>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F4EFE5"/>
                </a:solidFill>
                <a:latin typeface="Franklin Gothic Book"/>
                <a:ea typeface="Franklin Gothic Book"/>
                <a:cs typeface="Franklin Gothic Book"/>
              </a:defRPr>
            </a:pPr>
            <a:r>
              <a:rPr sz="1350" b="0">
                <a:solidFill>
                  <a:srgbClr val="F4EFE5"/>
                </a:solidFill>
                <a:latin typeface="Franklin Gothic Book"/>
                <a:ea typeface="Franklin Gothic Book"/>
                <a:cs typeface="Franklin Gothic Book"/>
              </a:rPr>
              <a:t>04</a:t>
            </a:r>
          </a:p>
        </p:txBody>
      </p:sp>
      <p:sp>
        <p:nvSpPr>
          <p:cNvPr id="3" name="copy-2">
            <a:extLst xmlns:a="http://schemas.openxmlformats.org/drawingml/2006/main">
              <a:ext uri="{FF2B5EF4-FFF2-40B4-BE49-F238E27FC236}">
                <a16:creationId xmlns:a16="http://schemas.microsoft.com/office/drawing/2014/main" id="{237ECA88-2600-4F02-90E2-974E8196C170}"/>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4EFE5"/>
                </a:solidFill>
                <a:latin typeface="Franklin Gothic Book"/>
                <a:ea typeface="Franklin Gothic Book"/>
                <a:cs typeface="Franklin Gothic Book"/>
              </a:defRPr>
            </a:pPr>
            <a:r>
              <a:rPr sz="1125" b="0">
                <a:solidFill>
                  <a:srgbClr val="F4EFE5"/>
                </a:solidFill>
                <a:latin typeface="Franklin Gothic Book"/>
                <a:ea typeface="Franklin Gothic Book"/>
                <a:cs typeface="Franklin Gothic Book"/>
              </a:rPr>
              <a:t>Kasus fiktif untuk pembelajaran. Kondisi dan angka bukan data usaha nyata.</a:t>
            </a:r>
          </a:p>
        </p:txBody>
      </p:sp>
      <p:sp>
        <p:nvSpPr>
          <p:cNvPr id="4" name="copy-3">
            <a:extLst xmlns:a="http://schemas.openxmlformats.org/drawingml/2006/main">
              <a:ext uri="{FF2B5EF4-FFF2-40B4-BE49-F238E27FC236}">
                <a16:creationId xmlns:a16="http://schemas.microsoft.com/office/drawing/2014/main" id="{AC0E22CE-A7C4-4766-8436-1839B15DF2C9}"/>
              </a:ext>
            </a:extLst>
          </p:cNvPr>
          <p:cNvSpPr>
            <a:spLocks xmlns:a="http://schemas.openxmlformats.org/drawingml/2006/main" noGrp="1"/>
          </p:cNvSpPr>
          <p:nvPr/>
        </p:nvSpPr>
        <p:spPr>
          <a:xfrm xmlns:a="http://schemas.openxmlformats.org/drawingml/2006/main">
            <a:off x="609600" y="199072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0">
                <a:solidFill>
                  <a:srgbClr val="F4EFE5"/>
                </a:solidFill>
                <a:latin typeface="Garamond"/>
                <a:ea typeface="Garamond"/>
                <a:cs typeface="Garamond"/>
              </a:defRPr>
            </a:pPr>
            <a:r>
              <a:rPr sz="4800" b="0">
                <a:solidFill>
                  <a:srgbClr val="F4EFE5"/>
                </a:solidFill>
                <a:latin typeface="Garamond"/>
                <a:ea typeface="Garamond"/>
                <a:cs typeface="Garamond"/>
              </a:rPr>
              <a:t>Kopi yang sama.</a:t>
            </a:r>
          </a:p>
          <a:p xmlns:a="http://schemas.openxmlformats.org/drawingml/2006/main">
            <a:pPr>
              <a:defRPr sz="4800" b="0">
                <a:solidFill>
                  <a:srgbClr val="F4EFE5"/>
                </a:solidFill>
                <a:latin typeface="Garamond"/>
                <a:ea typeface="Garamond"/>
                <a:cs typeface="Garamond"/>
              </a:defRPr>
            </a:pPr>
            <a:r>
              <a:rPr sz="4800" b="0">
                <a:solidFill>
                  <a:srgbClr val="F4EFE5"/>
                </a:solidFill>
                <a:latin typeface="Garamond"/>
                <a:ea typeface="Garamond"/>
                <a:cs typeface="Garamond"/>
              </a:rPr>
              <a:t>Situasi pembelian berbeda.</a:t>
            </a:r>
          </a:p>
        </p:txBody>
      </p:sp>
      <p:sp>
        <p:nvSpPr>
          <p:cNvPr id="5" name="copy-4">
            <a:extLst xmlns:a="http://schemas.openxmlformats.org/drawingml/2006/main">
              <a:ext uri="{FF2B5EF4-FFF2-40B4-BE49-F238E27FC236}">
                <a16:creationId xmlns:a16="http://schemas.microsoft.com/office/drawing/2014/main" id="{904A060F-877F-4B31-B2B9-291E53F3198C}"/>
              </a:ext>
            </a:extLst>
          </p:cNvPr>
          <p:cNvSpPr>
            <a:spLocks xmlns:a="http://schemas.openxmlformats.org/drawingml/2006/main" noGrp="1"/>
          </p:cNvSpPr>
          <p:nvPr/>
        </p:nvSpPr>
        <p:spPr>
          <a:xfrm xmlns:a="http://schemas.openxmlformats.org/drawingml/2006/main">
            <a:off x="609600" y="4038600"/>
            <a:ext cx="9953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4EFE5"/>
                </a:solidFill>
                <a:latin typeface="Franklin Gothic Book"/>
                <a:ea typeface="Franklin Gothic Book"/>
                <a:cs typeface="Franklin Gothic Book"/>
              </a:defRPr>
            </a:pPr>
            <a:r>
              <a:rPr sz="2250" b="0">
                <a:solidFill>
                  <a:srgbClr val="F4EFE5"/>
                </a:solidFill>
                <a:latin typeface="Franklin Gothic Book"/>
                <a:ea typeface="Franklin Gothic Book"/>
                <a:cs typeface="Franklin Gothic Book"/>
              </a:rPr>
              <a:t>Kedai dekat kampus ini memiliki 30 tempat duduk. Sebagian pengunjung ingin mengambil kopi sebelum kelas. Pengunjung lain membutuhkan tempat untuk mengerjakan tugas. Antrean panjang muncul pada jam jeda, sementara meja lama ditempati pelanggan yang memesan satu minuman.</a:t>
            </a:r>
          </a:p>
        </p:txBody>
      </p:sp>
    </p:spTree>
    <p:extLst>
      <p:ext uri="{BB962C8B-B14F-4D97-AF65-F5344CB8AC3E}">
        <p14:creationId xmlns:p14="http://schemas.microsoft.com/office/powerpoint/2010/main" val="879841199"/>
      </p:ext>
    </p:extLst>
  </p:cSld>
</p:sld>
</file>

<file path=ppt/slides/slide5.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7" name="copy-0">
            <a:extLst xmlns:a="http://schemas.openxmlformats.org/drawingml/2006/main">
              <a:ext uri="{FF2B5EF4-FFF2-40B4-BE49-F238E27FC236}">
                <a16:creationId xmlns:a16="http://schemas.microsoft.com/office/drawing/2014/main" id="{6872D606-4CC2-4608-B3E2-7DDA55CD37CF}"/>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Diagnosis sebelum promosi</a:t>
            </a:r>
          </a:p>
        </p:txBody>
      </p:sp>
      <p:sp>
        <p:nvSpPr>
          <p:cNvPr id="2" name="copy-1">
            <a:extLst xmlns:a="http://schemas.openxmlformats.org/drawingml/2006/main">
              <a:ext uri="{FF2B5EF4-FFF2-40B4-BE49-F238E27FC236}">
                <a16:creationId xmlns:a16="http://schemas.microsoft.com/office/drawing/2014/main" id="{8E5F7AAF-3E29-4384-90AA-0EDDDF553FFF}"/>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05</a:t>
            </a:r>
          </a:p>
        </p:txBody>
      </p:sp>
      <p:sp>
        <p:nvSpPr>
          <p:cNvPr id="3" name="copy-2">
            <a:extLst xmlns:a="http://schemas.openxmlformats.org/drawingml/2006/main">
              <a:ext uri="{FF2B5EF4-FFF2-40B4-BE49-F238E27FC236}">
                <a16:creationId xmlns:a16="http://schemas.microsoft.com/office/drawing/2014/main" id="{7EB2DC39-2E6B-4A7F-A174-D6C2F1B729F3}"/>
              </a:ext>
            </a:extLst>
          </p:cNvPr>
          <p:cNvSpPr>
            <a:spLocks xmlns:a="http://schemas.openxmlformats.org/drawingml/2006/main" noGrp="1"/>
          </p:cNvSpPr>
          <p:nvPr/>
        </p:nvSpPr>
        <p:spPr>
          <a:xfrm xmlns:a="http://schemas.openxmlformats.org/drawingml/2006/main">
            <a:off x="609600" y="20764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Gejala yang tampak</a:t>
            </a:r>
          </a:p>
        </p:txBody>
      </p:sp>
      <p:sp>
        <p:nvSpPr>
          <p:cNvPr id="4" name="copy-3">
            <a:extLst xmlns:a="http://schemas.openxmlformats.org/drawingml/2006/main">
              <a:ext uri="{FF2B5EF4-FFF2-40B4-BE49-F238E27FC236}">
                <a16:creationId xmlns:a16="http://schemas.microsoft.com/office/drawing/2014/main" id="{5831A037-752D-454C-A95A-DE97E24B7FEF}"/>
              </a:ext>
            </a:extLst>
          </p:cNvPr>
          <p:cNvSpPr>
            <a:spLocks xmlns:a="http://schemas.openxmlformats.org/drawingml/2006/main" noGrp="1"/>
          </p:cNvSpPr>
          <p:nvPr/>
        </p:nvSpPr>
        <p:spPr>
          <a:xfrm xmlns:a="http://schemas.openxmlformats.org/drawingml/2006/main">
            <a:off x="609600" y="2647950"/>
            <a:ext cx="490537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Penjualan tidak bertambah walaupun pengunjung terlihat ramai. Gejala ini belum menunjukkan penyebab. Bisa jadi kapasitas layanan terbatas, pengunjung hanya mencari tempat duduk, atau menu tidak sesuai kebutuhan pada waktu tertentu.</a:t>
            </a:r>
          </a:p>
        </p:txBody>
      </p:sp>
      <p:sp>
        <p:nvSpPr>
          <p:cNvPr id="5" name="copy-4">
            <a:extLst xmlns:a="http://schemas.openxmlformats.org/drawingml/2006/main">
              <a:ext uri="{FF2B5EF4-FFF2-40B4-BE49-F238E27FC236}">
                <a16:creationId xmlns:a16="http://schemas.microsoft.com/office/drawing/2014/main" id="{F59A998F-760D-4D90-AE24-BAC69496C87C}"/>
              </a:ext>
            </a:extLst>
          </p:cNvPr>
          <p:cNvSpPr>
            <a:spLocks xmlns:a="http://schemas.openxmlformats.org/drawingml/2006/main" noGrp="1"/>
          </p:cNvSpPr>
          <p:nvPr/>
        </p:nvSpPr>
        <p:spPr>
          <a:xfrm xmlns:a="http://schemas.openxmlformats.org/drawingml/2006/main">
            <a:off x="6477000" y="20764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Informasi yang perlu dicari</a:t>
            </a:r>
          </a:p>
        </p:txBody>
      </p:sp>
      <p:sp>
        <p:nvSpPr>
          <p:cNvPr id="6" name="copy-5">
            <a:extLst xmlns:a="http://schemas.openxmlformats.org/drawingml/2006/main">
              <a:ext uri="{FF2B5EF4-FFF2-40B4-BE49-F238E27FC236}">
                <a16:creationId xmlns:a16="http://schemas.microsoft.com/office/drawing/2014/main" id="{9B35B11C-E29E-48C7-BAEF-49F49C445610}"/>
              </a:ext>
            </a:extLst>
          </p:cNvPr>
          <p:cNvSpPr>
            <a:spLocks xmlns:a="http://schemas.openxmlformats.org/drawingml/2006/main" noGrp="1"/>
          </p:cNvSpPr>
          <p:nvPr/>
        </p:nvSpPr>
        <p:spPr>
          <a:xfrm xmlns:a="http://schemas.openxmlformats.org/drawingml/2006/main">
            <a:off x="6477000" y="2647950"/>
            <a:ext cx="50673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Catat waktu antre, pesanan yang batal, dan pembelian menurut jam. Tanyakan alasan memilih kedai serta hambatan ketika memesan. Bandingkan pelanggan yang kembali dengan yang hanya sekali datang.</a:t>
            </a:r>
          </a:p>
          <a:p xmlns:a="http://schemas.openxmlformats.org/drawingml/2006/main">
            <a:r>
              <a:t/>
            </a:r>
          </a:p>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Pisahkan fakta yang teramati dari dugaan pengelola.</a:t>
            </a:r>
          </a:p>
        </p:txBody>
      </p:sp>
    </p:spTree>
    <p:extLst>
      <p:ext uri="{BB962C8B-B14F-4D97-AF65-F5344CB8AC3E}">
        <p14:creationId xmlns:p14="http://schemas.microsoft.com/office/powerpoint/2010/main" val="26901445"/>
      </p:ext>
    </p:extLst>
  </p:cSld>
</p:sld>
</file>

<file path=ppt/slides/slide6.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1" name="copy-0">
            <a:extLst xmlns:a="http://schemas.openxmlformats.org/drawingml/2006/main">
              <a:ext uri="{FF2B5EF4-FFF2-40B4-BE49-F238E27FC236}">
                <a16:creationId xmlns:a16="http://schemas.microsoft.com/office/drawing/2014/main" id="{D0637C5B-BF4D-4028-83D7-6FBDB1F48EA5}"/>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Segmentasi berdasarkan situasi</a:t>
            </a:r>
          </a:p>
        </p:txBody>
      </p:sp>
      <p:sp>
        <p:nvSpPr>
          <p:cNvPr id="2" name="copy-1">
            <a:extLst xmlns:a="http://schemas.openxmlformats.org/drawingml/2006/main">
              <a:ext uri="{FF2B5EF4-FFF2-40B4-BE49-F238E27FC236}">
                <a16:creationId xmlns:a16="http://schemas.microsoft.com/office/drawing/2014/main" id="{2BF575D3-DAD2-4BE9-974D-77A620716867}"/>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06</a:t>
            </a:r>
          </a:p>
        </p:txBody>
      </p:sp>
      <p:sp>
        <p:nvSpPr>
          <p:cNvPr id="3" name="copy-2">
            <a:extLst xmlns:a="http://schemas.openxmlformats.org/drawingml/2006/main">
              <a:ext uri="{FF2B5EF4-FFF2-40B4-BE49-F238E27FC236}">
                <a16:creationId xmlns:a16="http://schemas.microsoft.com/office/drawing/2014/main" id="{2B96CFD0-80F9-4EBF-97C8-AE24283704FA}"/>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32922"/>
                </a:solidFill>
                <a:latin typeface="Franklin Gothic Book"/>
                <a:ea typeface="Franklin Gothic Book"/>
                <a:cs typeface="Franklin Gothic Book"/>
              </a:defRPr>
            </a:pPr>
            <a:r>
              <a:rPr sz="1125" b="0">
                <a:solidFill>
                  <a:srgbClr val="232922"/>
                </a:solidFill>
                <a:latin typeface="Franklin Gothic Book"/>
                <a:ea typeface="Franklin Gothic Book"/>
                <a:cs typeface="Franklin Gothic Book"/>
              </a:rPr>
              <a:t>Rujukan konsep: VCU, Marketing Principles From The River City, Bab 7</a:t>
            </a:r>
          </a:p>
        </p:txBody>
      </p:sp>
      <p:sp>
        <p:nvSpPr>
          <p:cNvPr id="4" name="copy-3">
            <a:extLst xmlns:a="http://schemas.openxmlformats.org/drawingml/2006/main">
              <a:ext uri="{FF2B5EF4-FFF2-40B4-BE49-F238E27FC236}">
                <a16:creationId xmlns:a16="http://schemas.microsoft.com/office/drawing/2014/main" id="{E05589BE-8609-4969-82E2-0A30A0DECFA6}"/>
              </a:ext>
            </a:extLst>
          </p:cNvPr>
          <p:cNvSpPr>
            <a:spLocks xmlns:a="http://schemas.openxmlformats.org/drawingml/2006/main" noGrp="1"/>
          </p:cNvSpPr>
          <p:nvPr/>
        </p:nvSpPr>
        <p:spPr>
          <a:xfrm xmlns:a="http://schemas.openxmlformats.org/drawingml/2006/main">
            <a:off x="609600" y="19621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Segmentasi mengelompokkan pasar menurut kebutuhan atau respons yang relevan. Dalam kasus ini, pengelola menguji situasi pembelian sebagai dasar pengelompokan. Usia yang sama belum tentu menghasilkan kebutuhan layanan yang sama.</a:t>
            </a:r>
          </a:p>
        </p:txBody>
      </p:sp>
      <p:sp>
        <p:nvSpPr>
          <p:cNvPr id="5" name="copy-4">
            <a:extLst xmlns:a="http://schemas.openxmlformats.org/drawingml/2006/main">
              <a:ext uri="{FF2B5EF4-FFF2-40B4-BE49-F238E27FC236}">
                <a16:creationId xmlns:a16="http://schemas.microsoft.com/office/drawing/2014/main" id="{0794B6DF-9681-4308-889C-A4886EC45D43}"/>
              </a:ext>
            </a:extLst>
          </p:cNvPr>
          <p:cNvSpPr>
            <a:spLocks xmlns:a="http://schemas.openxmlformats.org/drawingml/2006/main" noGrp="1"/>
          </p:cNvSpPr>
          <p:nvPr/>
        </p:nvSpPr>
        <p:spPr>
          <a:xfrm xmlns:a="http://schemas.openxmlformats.org/drawingml/2006/main">
            <a:off x="609600" y="3476625"/>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Cepat ambil</a:t>
            </a:r>
          </a:p>
        </p:txBody>
      </p:sp>
      <p:sp>
        <p:nvSpPr>
          <p:cNvPr id="6" name="copy-5">
            <a:extLst xmlns:a="http://schemas.openxmlformats.org/drawingml/2006/main">
              <a:ext uri="{FF2B5EF4-FFF2-40B4-BE49-F238E27FC236}">
                <a16:creationId xmlns:a16="http://schemas.microsoft.com/office/drawing/2014/main" id="{3500BF4E-F49E-4291-A401-D63F7F5F36C9}"/>
              </a:ext>
            </a:extLst>
          </p:cNvPr>
          <p:cNvSpPr>
            <a:spLocks xmlns:a="http://schemas.openxmlformats.org/drawingml/2006/main" noGrp="1"/>
          </p:cNvSpPr>
          <p:nvPr/>
        </p:nvSpPr>
        <p:spPr>
          <a:xfrm xmlns:a="http://schemas.openxmlformats.org/drawingml/2006/main">
            <a:off x="3619500" y="3495675"/>
            <a:ext cx="7762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32922"/>
                </a:solidFill>
                <a:latin typeface="Franklin Gothic Book"/>
                <a:ea typeface="Franklin Gothic Book"/>
                <a:cs typeface="Franklin Gothic Book"/>
              </a:defRPr>
            </a:pPr>
            <a:r>
              <a:rPr sz="1950" b="0">
                <a:solidFill>
                  <a:srgbClr val="232922"/>
                </a:solidFill>
                <a:latin typeface="Franklin Gothic Book"/>
                <a:ea typeface="Franklin Gothic Book"/>
                <a:cs typeface="Franklin Gothic Book"/>
              </a:rPr>
              <a:t>Ingin pesanan tersedia sebelum kelas. Kepastian waktu lebih penting daripada suasana duduk.</a:t>
            </a:r>
          </a:p>
        </p:txBody>
      </p:sp>
      <p:sp>
        <p:nvSpPr>
          <p:cNvPr id="7" name="copy-6">
            <a:extLst xmlns:a="http://schemas.openxmlformats.org/drawingml/2006/main">
              <a:ext uri="{FF2B5EF4-FFF2-40B4-BE49-F238E27FC236}">
                <a16:creationId xmlns:a16="http://schemas.microsoft.com/office/drawing/2014/main" id="{36D45CAB-DB38-49AB-948B-000041E30EA2}"/>
              </a:ext>
            </a:extLst>
          </p:cNvPr>
          <p:cNvSpPr>
            <a:spLocks xmlns:a="http://schemas.openxmlformats.org/drawingml/2006/main" noGrp="1"/>
          </p:cNvSpPr>
          <p:nvPr/>
        </p:nvSpPr>
        <p:spPr>
          <a:xfrm xmlns:a="http://schemas.openxmlformats.org/drawingml/2006/main">
            <a:off x="609600" y="43243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Kerja kelompok</a:t>
            </a:r>
          </a:p>
        </p:txBody>
      </p:sp>
      <p:sp>
        <p:nvSpPr>
          <p:cNvPr id="8" name="copy-7">
            <a:extLst xmlns:a="http://schemas.openxmlformats.org/drawingml/2006/main">
              <a:ext uri="{FF2B5EF4-FFF2-40B4-BE49-F238E27FC236}">
                <a16:creationId xmlns:a16="http://schemas.microsoft.com/office/drawing/2014/main" id="{DC9D5F9E-C148-44E1-84AD-B5E543CB82CC}"/>
              </a:ext>
            </a:extLst>
          </p:cNvPr>
          <p:cNvSpPr>
            <a:spLocks xmlns:a="http://schemas.openxmlformats.org/drawingml/2006/main" noGrp="1"/>
          </p:cNvSpPr>
          <p:nvPr/>
        </p:nvSpPr>
        <p:spPr>
          <a:xfrm xmlns:a="http://schemas.openxmlformats.org/drawingml/2006/main">
            <a:off x="3619500" y="4343400"/>
            <a:ext cx="7762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32922"/>
                </a:solidFill>
                <a:latin typeface="Franklin Gothic Book"/>
                <a:ea typeface="Franklin Gothic Book"/>
                <a:cs typeface="Franklin Gothic Book"/>
              </a:defRPr>
            </a:pPr>
            <a:r>
              <a:rPr sz="1950" b="0">
                <a:solidFill>
                  <a:srgbClr val="232922"/>
                </a:solidFill>
                <a:latin typeface="Franklin Gothic Book"/>
                <a:ea typeface="Franklin Gothic Book"/>
                <a:cs typeface="Franklin Gothic Book"/>
              </a:rPr>
              <a:t>Membutuhkan meja, akses listrik, dan suasana yang mendukung pembicaraan.</a:t>
            </a:r>
          </a:p>
        </p:txBody>
      </p:sp>
      <p:sp>
        <p:nvSpPr>
          <p:cNvPr id="9" name="copy-8">
            <a:extLst xmlns:a="http://schemas.openxmlformats.org/drawingml/2006/main">
              <a:ext uri="{FF2B5EF4-FFF2-40B4-BE49-F238E27FC236}">
                <a16:creationId xmlns:a16="http://schemas.microsoft.com/office/drawing/2014/main" id="{49E7C14D-D445-4D3F-99F0-B191F15F20CE}"/>
              </a:ext>
            </a:extLst>
          </p:cNvPr>
          <p:cNvSpPr>
            <a:spLocks xmlns:a="http://schemas.openxmlformats.org/drawingml/2006/main" noGrp="1"/>
          </p:cNvSpPr>
          <p:nvPr/>
        </p:nvSpPr>
        <p:spPr>
          <a:xfrm xmlns:a="http://schemas.openxmlformats.org/drawingml/2006/main">
            <a:off x="609600" y="5172075"/>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Jeda santai</a:t>
            </a:r>
          </a:p>
        </p:txBody>
      </p:sp>
      <p:sp>
        <p:nvSpPr>
          <p:cNvPr id="10" name="copy-9">
            <a:extLst xmlns:a="http://schemas.openxmlformats.org/drawingml/2006/main">
              <a:ext uri="{FF2B5EF4-FFF2-40B4-BE49-F238E27FC236}">
                <a16:creationId xmlns:a16="http://schemas.microsoft.com/office/drawing/2014/main" id="{0AB01DDB-86B6-4557-901D-047221A9E4D4}"/>
              </a:ext>
            </a:extLst>
          </p:cNvPr>
          <p:cNvSpPr>
            <a:spLocks xmlns:a="http://schemas.openxmlformats.org/drawingml/2006/main" noGrp="1"/>
          </p:cNvSpPr>
          <p:nvPr/>
        </p:nvSpPr>
        <p:spPr>
          <a:xfrm xmlns:a="http://schemas.openxmlformats.org/drawingml/2006/main">
            <a:off x="3619500" y="5191125"/>
            <a:ext cx="7762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32922"/>
                </a:solidFill>
                <a:latin typeface="Franklin Gothic Book"/>
                <a:ea typeface="Franklin Gothic Book"/>
                <a:cs typeface="Franklin Gothic Book"/>
              </a:defRPr>
            </a:pPr>
            <a:r>
              <a:rPr sz="1950" b="0">
                <a:solidFill>
                  <a:srgbClr val="232922"/>
                </a:solidFill>
                <a:latin typeface="Franklin Gothic Book"/>
                <a:ea typeface="Franklin Gothic Book"/>
                <a:cs typeface="Franklin Gothic Book"/>
              </a:rPr>
              <a:t>Mencari pengalaman minum dan tempat beristirahat tanpa terburu-buru.</a:t>
            </a:r>
          </a:p>
        </p:txBody>
      </p:sp>
    </p:spTree>
    <p:extLst>
      <p:ext uri="{BB962C8B-B14F-4D97-AF65-F5344CB8AC3E}">
        <p14:creationId xmlns:p14="http://schemas.microsoft.com/office/powerpoint/2010/main" val="1442102207"/>
      </p:ext>
    </p:extLst>
  </p:cSld>
</p:sld>
</file>

<file path=ppt/slides/slide7.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copy-0">
            <a:extLst xmlns:a="http://schemas.openxmlformats.org/drawingml/2006/main">
              <a:ext uri="{FF2B5EF4-FFF2-40B4-BE49-F238E27FC236}">
                <a16:creationId xmlns:a16="http://schemas.microsoft.com/office/drawing/2014/main" id="{A0BA6540-673C-48F7-B242-8EFB83A17C22}"/>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Pilihan target dan konsekuensinya</a:t>
            </a:r>
          </a:p>
        </p:txBody>
      </p:sp>
      <p:sp>
        <p:nvSpPr>
          <p:cNvPr id="2" name="copy-1">
            <a:extLst xmlns:a="http://schemas.openxmlformats.org/drawingml/2006/main">
              <a:ext uri="{FF2B5EF4-FFF2-40B4-BE49-F238E27FC236}">
                <a16:creationId xmlns:a16="http://schemas.microsoft.com/office/drawing/2014/main" id="{77BE1D3B-CD9F-47E2-A85C-C6D40BEF071A}"/>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07</a:t>
            </a:r>
          </a:p>
        </p:txBody>
      </p:sp>
      <p:sp>
        <p:nvSpPr>
          <p:cNvPr id="3" name="copy-2">
            <a:extLst xmlns:a="http://schemas.openxmlformats.org/drawingml/2006/main">
              <a:ext uri="{FF2B5EF4-FFF2-40B4-BE49-F238E27FC236}">
                <a16:creationId xmlns:a16="http://schemas.microsoft.com/office/drawing/2014/main" id="{74F81FF1-09EB-4064-AD86-19B4E45589D3}"/>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32922"/>
                </a:solidFill>
                <a:latin typeface="Franklin Gothic Book"/>
                <a:ea typeface="Franklin Gothic Book"/>
                <a:cs typeface="Franklin Gothic Book"/>
              </a:defRPr>
            </a:pPr>
            <a:r>
              <a:rPr sz="1125" b="0">
                <a:solidFill>
                  <a:srgbClr val="232922"/>
                </a:solidFill>
                <a:latin typeface="Franklin Gothic Book"/>
                <a:ea typeface="Franklin Gothic Book"/>
                <a:cs typeface="Franklin Gothic Book"/>
              </a:rPr>
              <a:t>Rujukan konsep: VCU, Bab 7. Rekomendasi kasus masih berupa hipotesis.</a:t>
            </a:r>
          </a:p>
        </p:txBody>
      </p:sp>
      <p:sp>
        <p:nvSpPr>
          <p:cNvPr id="4" name="copy-3">
            <a:extLst xmlns:a="http://schemas.openxmlformats.org/drawingml/2006/main">
              <a:ext uri="{FF2B5EF4-FFF2-40B4-BE49-F238E27FC236}">
                <a16:creationId xmlns:a16="http://schemas.microsoft.com/office/drawing/2014/main" id="{1E6D3C21-AF49-4438-94E6-2994179A1FAD}"/>
              </a:ext>
            </a:extLst>
          </p:cNvPr>
          <p:cNvSpPr>
            <a:spLocks xmlns:a="http://schemas.openxmlformats.org/drawingml/2006/main" noGrp="1"/>
          </p:cNvSpPr>
          <p:nvPr/>
        </p:nvSpPr>
        <p:spPr>
          <a:xfrm xmlns:a="http://schemas.openxmlformats.org/drawingml/2006/main">
            <a:off x="609600" y="2028825"/>
            <a:ext cx="5048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0">
                <a:solidFill>
                  <a:srgbClr val="AD442F"/>
                </a:solidFill>
                <a:latin typeface="Garamond"/>
                <a:ea typeface="Garamond"/>
                <a:cs typeface="Garamond"/>
              </a:defRPr>
            </a:pPr>
            <a:r>
              <a:rPr sz="4650" b="0">
                <a:solidFill>
                  <a:srgbClr val="AD442F"/>
                </a:solidFill>
                <a:latin typeface="Garamond"/>
                <a:ea typeface="Garamond"/>
                <a:cs typeface="Garamond"/>
              </a:rPr>
              <a:t>Prioritas awal:</a:t>
            </a:r>
          </a:p>
          <a:p xmlns:a="http://schemas.openxmlformats.org/drawingml/2006/main">
            <a:pPr>
              <a:defRPr sz="4650" b="0">
                <a:solidFill>
                  <a:srgbClr val="AD442F"/>
                </a:solidFill>
                <a:latin typeface="Garamond"/>
                <a:ea typeface="Garamond"/>
                <a:cs typeface="Garamond"/>
              </a:defRPr>
            </a:pPr>
            <a:r>
              <a:rPr sz="4650" b="0">
                <a:solidFill>
                  <a:srgbClr val="AD442F"/>
                </a:solidFill>
                <a:latin typeface="Garamond"/>
                <a:ea typeface="Garamond"/>
                <a:cs typeface="Garamond"/>
              </a:rPr>
              <a:t>cepat ambil</a:t>
            </a:r>
          </a:p>
        </p:txBody>
      </p:sp>
      <p:sp>
        <p:nvSpPr>
          <p:cNvPr id="5" name="copy-4">
            <a:extLst xmlns:a="http://schemas.openxmlformats.org/drawingml/2006/main">
              <a:ext uri="{FF2B5EF4-FFF2-40B4-BE49-F238E27FC236}">
                <a16:creationId xmlns:a16="http://schemas.microsoft.com/office/drawing/2014/main" id="{9C97D2EB-831B-4B2A-AA43-64AE343AE1ED}"/>
              </a:ext>
            </a:extLst>
          </p:cNvPr>
          <p:cNvSpPr>
            <a:spLocks xmlns:a="http://schemas.openxmlformats.org/drawingml/2006/main" noGrp="1"/>
          </p:cNvSpPr>
          <p:nvPr/>
        </p:nvSpPr>
        <p:spPr>
          <a:xfrm xmlns:a="http://schemas.openxmlformats.org/drawingml/2006/main">
            <a:off x="609600" y="3990975"/>
            <a:ext cx="5095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Kopi Sela dapat menguji layanan pesan lebih dahulu dan ambil pada slot waktu tertentu. Pilihan ini masuk akal bila permintaan cukup besar dan dapur mampu menyiapkan pesanan secara konsisten.</a:t>
            </a:r>
          </a:p>
        </p:txBody>
      </p:sp>
      <p:sp>
        <p:nvSpPr>
          <p:cNvPr id="6" name="copy-5">
            <a:extLst xmlns:a="http://schemas.openxmlformats.org/drawingml/2006/main">
              <a:ext uri="{FF2B5EF4-FFF2-40B4-BE49-F238E27FC236}">
                <a16:creationId xmlns:a16="http://schemas.microsoft.com/office/drawing/2014/main" id="{DFC76E62-A7AB-40C0-BF73-9D399BD066AC}"/>
              </a:ext>
            </a:extLst>
          </p:cNvPr>
          <p:cNvSpPr>
            <a:spLocks xmlns:a="http://schemas.openxmlformats.org/drawingml/2006/main" noGrp="1"/>
          </p:cNvSpPr>
          <p:nvPr/>
        </p:nvSpPr>
        <p:spPr>
          <a:xfrm xmlns:a="http://schemas.openxmlformats.org/drawingml/2006/main">
            <a:off x="6667500" y="20764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Dasar penilaian</a:t>
            </a:r>
          </a:p>
        </p:txBody>
      </p:sp>
      <p:sp>
        <p:nvSpPr>
          <p:cNvPr id="7" name="copy-6">
            <a:extLst xmlns:a="http://schemas.openxmlformats.org/drawingml/2006/main">
              <a:ext uri="{FF2B5EF4-FFF2-40B4-BE49-F238E27FC236}">
                <a16:creationId xmlns:a16="http://schemas.microsoft.com/office/drawing/2014/main" id="{81200213-FE35-42C4-9DE7-4360A7A37098}"/>
              </a:ext>
            </a:extLst>
          </p:cNvPr>
          <p:cNvSpPr>
            <a:spLocks xmlns:a="http://schemas.openxmlformats.org/drawingml/2006/main" noGrp="1"/>
          </p:cNvSpPr>
          <p:nvPr/>
        </p:nvSpPr>
        <p:spPr>
          <a:xfrm xmlns:a="http://schemas.openxmlformats.org/drawingml/2006/main">
            <a:off x="6667500" y="2657475"/>
            <a:ext cx="4762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Permintaan: berapa kesempatan pembelian yang realistis?</a:t>
            </a:r>
          </a:p>
          <a:p xmlns:a="http://schemas.openxmlformats.org/drawingml/2006/main">
            <a:r>
              <a:t/>
            </a:r>
          </a:p>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Kemampuan: apakah barista sanggup memenuhi slot pada jam sibuk?</a:t>
            </a:r>
          </a:p>
          <a:p xmlns:a="http://schemas.openxmlformats.org/drawingml/2006/main">
            <a:r>
              <a:t/>
            </a:r>
          </a:p>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Kontribusi: apakah pendapatan menutup biaya tambahan dan kapasitas yang digunakan?</a:t>
            </a:r>
          </a:p>
        </p:txBody>
      </p:sp>
    </p:spTree>
    <p:extLst>
      <p:ext uri="{BB962C8B-B14F-4D97-AF65-F5344CB8AC3E}">
        <p14:creationId xmlns:p14="http://schemas.microsoft.com/office/powerpoint/2010/main" val="1458535940"/>
      </p:ext>
    </p:extLst>
  </p:cSld>
</p:sld>
</file>

<file path=ppt/slides/slide8.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6" name="copy-0">
            <a:extLst xmlns:a="http://schemas.openxmlformats.org/drawingml/2006/main">
              <a:ext uri="{FF2B5EF4-FFF2-40B4-BE49-F238E27FC236}">
                <a16:creationId xmlns:a16="http://schemas.microsoft.com/office/drawing/2014/main" id="{2E186F75-B754-4550-AA38-93F3B69D3DDA}"/>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Positioning sebagai janji layanan</a:t>
            </a:r>
          </a:p>
        </p:txBody>
      </p:sp>
      <p:sp>
        <p:nvSpPr>
          <p:cNvPr id="2" name="copy-1">
            <a:extLst xmlns:a="http://schemas.openxmlformats.org/drawingml/2006/main">
              <a:ext uri="{FF2B5EF4-FFF2-40B4-BE49-F238E27FC236}">
                <a16:creationId xmlns:a16="http://schemas.microsoft.com/office/drawing/2014/main" id="{84D73DA7-D4AD-4186-9A4B-64512283E035}"/>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08</a:t>
            </a:r>
          </a:p>
        </p:txBody>
      </p:sp>
      <p:sp>
        <p:nvSpPr>
          <p:cNvPr id="3" name="copy-2">
            <a:extLst xmlns:a="http://schemas.openxmlformats.org/drawingml/2006/main">
              <a:ext uri="{FF2B5EF4-FFF2-40B4-BE49-F238E27FC236}">
                <a16:creationId xmlns:a16="http://schemas.microsoft.com/office/drawing/2014/main" id="{249AE95B-8A3D-446D-87E8-03697371EB48}"/>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32922"/>
                </a:solidFill>
                <a:latin typeface="Franklin Gothic Book"/>
                <a:ea typeface="Franklin Gothic Book"/>
                <a:cs typeface="Franklin Gothic Book"/>
              </a:defRPr>
            </a:pPr>
            <a:r>
              <a:rPr sz="1125" b="0">
                <a:solidFill>
                  <a:srgbClr val="232922"/>
                </a:solidFill>
                <a:latin typeface="Franklin Gothic Book"/>
                <a:ea typeface="Franklin Gothic Book"/>
                <a:cs typeface="Franklin Gothic Book"/>
              </a:rPr>
              <a:t>Rujukan konsep: OpenStax, Principles of Marketing, §5.6</a:t>
            </a:r>
          </a:p>
        </p:txBody>
      </p:sp>
      <p:sp>
        <p:nvSpPr>
          <p:cNvPr id="4" name="copy-3">
            <a:extLst xmlns:a="http://schemas.openxmlformats.org/drawingml/2006/main">
              <a:ext uri="{FF2B5EF4-FFF2-40B4-BE49-F238E27FC236}">
                <a16:creationId xmlns:a16="http://schemas.microsoft.com/office/drawing/2014/main" id="{380A905D-2F67-4C8C-9CBF-4C557D6B5C90}"/>
              </a:ext>
            </a:extLst>
          </p:cNvPr>
          <p:cNvSpPr>
            <a:spLocks xmlns:a="http://schemas.openxmlformats.org/drawingml/2006/main" noGrp="1"/>
          </p:cNvSpPr>
          <p:nvPr/>
        </p:nvSpPr>
        <p:spPr>
          <a:xfrm xmlns:a="http://schemas.openxmlformats.org/drawingml/2006/main">
            <a:off x="609600" y="2066925"/>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0">
                <a:solidFill>
                  <a:srgbClr val="AD442F"/>
                </a:solidFill>
                <a:latin typeface="Garamond"/>
                <a:ea typeface="Garamond"/>
                <a:cs typeface="Garamond"/>
              </a:defRPr>
            </a:pPr>
            <a:r>
              <a:rPr sz="4875" b="0">
                <a:solidFill>
                  <a:srgbClr val="AD442F"/>
                </a:solidFill>
                <a:latin typeface="Garamond"/>
                <a:ea typeface="Garamond"/>
                <a:cs typeface="Garamond"/>
              </a:rPr>
              <a:t>“Kopi untuk jeda kelas,</a:t>
            </a:r>
          </a:p>
          <a:p xmlns:a="http://schemas.openxmlformats.org/drawingml/2006/main">
            <a:pPr>
              <a:defRPr sz="4875" b="0">
                <a:solidFill>
                  <a:srgbClr val="AD442F"/>
                </a:solidFill>
                <a:latin typeface="Garamond"/>
                <a:ea typeface="Garamond"/>
                <a:cs typeface="Garamond"/>
              </a:defRPr>
            </a:pPr>
            <a:r>
              <a:rPr sz="4875" b="0">
                <a:solidFill>
                  <a:srgbClr val="AD442F"/>
                </a:solidFill>
                <a:latin typeface="Garamond"/>
                <a:ea typeface="Garamond"/>
                <a:cs typeface="Garamond"/>
              </a:rPr>
              <a:t>siap pada waktu ambil</a:t>
            </a:r>
          </a:p>
          <a:p xmlns:a="http://schemas.openxmlformats.org/drawingml/2006/main">
            <a:pPr>
              <a:defRPr sz="4875" b="0">
                <a:solidFill>
                  <a:srgbClr val="AD442F"/>
                </a:solidFill>
                <a:latin typeface="Garamond"/>
                <a:ea typeface="Garamond"/>
                <a:cs typeface="Garamond"/>
              </a:defRPr>
            </a:pPr>
            <a:r>
              <a:rPr sz="4875" b="0">
                <a:solidFill>
                  <a:srgbClr val="AD442F"/>
                </a:solidFill>
                <a:latin typeface="Garamond"/>
                <a:ea typeface="Garamond"/>
                <a:cs typeface="Garamond"/>
              </a:rPr>
              <a:t>yang Anda pilih.”</a:t>
            </a:r>
          </a:p>
        </p:txBody>
      </p:sp>
      <p:sp>
        <p:nvSpPr>
          <p:cNvPr id="5" name="copy-4">
            <a:extLst xmlns:a="http://schemas.openxmlformats.org/drawingml/2006/main">
              <a:ext uri="{FF2B5EF4-FFF2-40B4-BE49-F238E27FC236}">
                <a16:creationId xmlns:a16="http://schemas.microsoft.com/office/drawing/2014/main" id="{E3B326C0-D748-403F-B61D-404C2A846DAD}"/>
              </a:ext>
            </a:extLst>
          </p:cNvPr>
          <p:cNvSpPr>
            <a:spLocks xmlns:a="http://schemas.openxmlformats.org/drawingml/2006/main" noGrp="1"/>
          </p:cNvSpPr>
          <p:nvPr/>
        </p:nvSpPr>
        <p:spPr>
          <a:xfrm xmlns:a="http://schemas.openxmlformats.org/drawingml/2006/main">
            <a:off x="609600" y="4676775"/>
            <a:ext cx="10382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Pernyataan ini menghubungkan pelanggan sasaran dengan manfaat yang relevan. Pembandingnya adalah pembelian langsung yang waktunya sulit dipastikan. Agar janji tersebut dipercaya, kedai membutuhkan slot yang realistis, proses produksi teratur, dan informasi keterlambatan yang jelas.</a:t>
            </a:r>
          </a:p>
        </p:txBody>
      </p:sp>
    </p:spTree>
    <p:extLst>
      <p:ext uri="{BB962C8B-B14F-4D97-AF65-F5344CB8AC3E}">
        <p14:creationId xmlns:p14="http://schemas.microsoft.com/office/powerpoint/2010/main" val="1346182565"/>
      </p:ext>
    </p:extLst>
  </p:cSld>
</p:sld>
</file>

<file path=ppt/slides/slide9.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2" name="copy-0">
            <a:extLst xmlns:a="http://schemas.openxmlformats.org/drawingml/2006/main">
              <a:ext uri="{FF2B5EF4-FFF2-40B4-BE49-F238E27FC236}">
                <a16:creationId xmlns:a16="http://schemas.microsoft.com/office/drawing/2014/main" id="{04F4CF70-95E3-4712-B34D-4B81914A6BB8}"/>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Bauran pemasaran yang konsisten</a:t>
            </a:r>
          </a:p>
        </p:txBody>
      </p:sp>
      <p:sp>
        <p:nvSpPr>
          <p:cNvPr id="2" name="copy-1">
            <a:extLst xmlns:a="http://schemas.openxmlformats.org/drawingml/2006/main">
              <a:ext uri="{FF2B5EF4-FFF2-40B4-BE49-F238E27FC236}">
                <a16:creationId xmlns:a16="http://schemas.microsoft.com/office/drawing/2014/main" id="{75E60125-0674-46F0-A01F-A80B31DB7F17}"/>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09</a:t>
            </a:r>
          </a:p>
        </p:txBody>
      </p:sp>
      <p:sp>
        <p:nvSpPr>
          <p:cNvPr id="3" name="copy-2">
            <a:extLst xmlns:a="http://schemas.openxmlformats.org/drawingml/2006/main">
              <a:ext uri="{FF2B5EF4-FFF2-40B4-BE49-F238E27FC236}">
                <a16:creationId xmlns:a16="http://schemas.microsoft.com/office/drawing/2014/main" id="{1038143A-FF9D-4964-A6D1-C3785BE9F479}"/>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32922"/>
                </a:solidFill>
                <a:latin typeface="Franklin Gothic Book"/>
                <a:ea typeface="Franklin Gothic Book"/>
                <a:cs typeface="Franklin Gothic Book"/>
              </a:defRPr>
            </a:pPr>
            <a:r>
              <a:rPr sz="1125" b="0">
                <a:solidFill>
                  <a:srgbClr val="232922"/>
                </a:solidFill>
                <a:latin typeface="Franklin Gothic Book"/>
                <a:ea typeface="Franklin Gothic Book"/>
                <a:cs typeface="Franklin Gothic Book"/>
              </a:rPr>
              <a:t>Rujukan konsep: OpenStax, Principles of Marketing, §1.2</a:t>
            </a:r>
          </a:p>
        </p:txBody>
      </p:sp>
      <p:sp>
        <p:nvSpPr>
          <p:cNvPr id="4" name="copy-3">
            <a:extLst xmlns:a="http://schemas.openxmlformats.org/drawingml/2006/main">
              <a:ext uri="{FF2B5EF4-FFF2-40B4-BE49-F238E27FC236}">
                <a16:creationId xmlns:a16="http://schemas.microsoft.com/office/drawing/2014/main" id="{9D7FC833-F19E-449A-B11E-B661574862AA}"/>
              </a:ext>
            </a:extLst>
          </p:cNvPr>
          <p:cNvSpPr>
            <a:spLocks xmlns:a="http://schemas.openxmlformats.org/drawingml/2006/main" noGrp="1"/>
          </p:cNvSpPr>
          <p:nvPr/>
        </p:nvSpPr>
        <p:spPr>
          <a:xfrm xmlns:a="http://schemas.openxmlformats.org/drawingml/2006/main">
            <a:off x="609600" y="2038350"/>
            <a:ext cx="266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AD442F"/>
                </a:solidFill>
                <a:latin typeface="Garamond"/>
                <a:ea typeface="Garamond"/>
                <a:cs typeface="Garamond"/>
              </a:defRPr>
            </a:pPr>
            <a:r>
              <a:rPr sz="3225" b="0">
                <a:solidFill>
                  <a:srgbClr val="AD442F"/>
                </a:solidFill>
                <a:latin typeface="Garamond"/>
                <a:ea typeface="Garamond"/>
                <a:cs typeface="Garamond"/>
              </a:rPr>
              <a:t>Product</a:t>
            </a:r>
          </a:p>
        </p:txBody>
      </p:sp>
      <p:sp>
        <p:nvSpPr>
          <p:cNvPr id="5" name="copy-4">
            <a:extLst xmlns:a="http://schemas.openxmlformats.org/drawingml/2006/main">
              <a:ext uri="{FF2B5EF4-FFF2-40B4-BE49-F238E27FC236}">
                <a16:creationId xmlns:a16="http://schemas.microsoft.com/office/drawing/2014/main" id="{28FA155E-6F05-4AE3-8E6B-4B73DE57B2E2}"/>
              </a:ext>
            </a:extLst>
          </p:cNvPr>
          <p:cNvSpPr>
            <a:spLocks xmlns:a="http://schemas.openxmlformats.org/drawingml/2006/main" noGrp="1"/>
          </p:cNvSpPr>
          <p:nvPr/>
        </p:nvSpPr>
        <p:spPr>
          <a:xfrm xmlns:a="http://schemas.openxmlformats.org/drawingml/2006/main">
            <a:off x="3629025" y="20669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Menu ringkas untuk pesan ambil, pilihan ukuran jelas, dan standar rasa yang sama pada setiap pesanan.</a:t>
            </a:r>
          </a:p>
        </p:txBody>
      </p:sp>
      <p:sp>
        <p:nvSpPr>
          <p:cNvPr id="6" name="copy-5">
            <a:extLst xmlns:a="http://schemas.openxmlformats.org/drawingml/2006/main">
              <a:ext uri="{FF2B5EF4-FFF2-40B4-BE49-F238E27FC236}">
                <a16:creationId xmlns:a16="http://schemas.microsoft.com/office/drawing/2014/main" id="{9F8E4D3B-DA94-44E1-89D1-7EC897DC9B3E}"/>
              </a:ext>
            </a:extLst>
          </p:cNvPr>
          <p:cNvSpPr>
            <a:spLocks xmlns:a="http://schemas.openxmlformats.org/drawingml/2006/main" noGrp="1"/>
          </p:cNvSpPr>
          <p:nvPr/>
        </p:nvSpPr>
        <p:spPr>
          <a:xfrm xmlns:a="http://schemas.openxmlformats.org/drawingml/2006/main">
            <a:off x="609600" y="3038475"/>
            <a:ext cx="266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AD442F"/>
                </a:solidFill>
                <a:latin typeface="Garamond"/>
                <a:ea typeface="Garamond"/>
                <a:cs typeface="Garamond"/>
              </a:defRPr>
            </a:pPr>
            <a:r>
              <a:rPr sz="3225" b="0">
                <a:solidFill>
                  <a:srgbClr val="AD442F"/>
                </a:solidFill>
                <a:latin typeface="Garamond"/>
                <a:ea typeface="Garamond"/>
                <a:cs typeface="Garamond"/>
              </a:rPr>
              <a:t>Price</a:t>
            </a:r>
          </a:p>
        </p:txBody>
      </p:sp>
      <p:sp>
        <p:nvSpPr>
          <p:cNvPr id="7" name="copy-6">
            <a:extLst xmlns:a="http://schemas.openxmlformats.org/drawingml/2006/main">
              <a:ext uri="{FF2B5EF4-FFF2-40B4-BE49-F238E27FC236}">
                <a16:creationId xmlns:a16="http://schemas.microsoft.com/office/drawing/2014/main" id="{9EE308E6-3FB9-4B9C-8DCE-5EC9C5C008D6}"/>
              </a:ext>
            </a:extLst>
          </p:cNvPr>
          <p:cNvSpPr>
            <a:spLocks xmlns:a="http://schemas.openxmlformats.org/drawingml/2006/main" noGrp="1"/>
          </p:cNvSpPr>
          <p:nvPr/>
        </p:nvSpPr>
        <p:spPr>
          <a:xfrm xmlns:a="http://schemas.openxmlformats.org/drawingml/2006/main">
            <a:off x="3629025" y="3067050"/>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Harga paket yang mudah dipahami. Pengelola menghitung biaya kemasan dan kapasitas sebelum menetapkan insentif.</a:t>
            </a:r>
          </a:p>
        </p:txBody>
      </p:sp>
      <p:sp>
        <p:nvSpPr>
          <p:cNvPr id="8" name="copy-7">
            <a:extLst xmlns:a="http://schemas.openxmlformats.org/drawingml/2006/main">
              <a:ext uri="{FF2B5EF4-FFF2-40B4-BE49-F238E27FC236}">
                <a16:creationId xmlns:a16="http://schemas.microsoft.com/office/drawing/2014/main" id="{B89855F4-3758-4A72-A585-EE1B5C00BDEE}"/>
              </a:ext>
            </a:extLst>
          </p:cNvPr>
          <p:cNvSpPr>
            <a:spLocks xmlns:a="http://schemas.openxmlformats.org/drawingml/2006/main" noGrp="1"/>
          </p:cNvSpPr>
          <p:nvPr/>
        </p:nvSpPr>
        <p:spPr>
          <a:xfrm xmlns:a="http://schemas.openxmlformats.org/drawingml/2006/main">
            <a:off x="609600" y="4038600"/>
            <a:ext cx="266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AD442F"/>
                </a:solidFill>
                <a:latin typeface="Garamond"/>
                <a:ea typeface="Garamond"/>
                <a:cs typeface="Garamond"/>
              </a:defRPr>
            </a:pPr>
            <a:r>
              <a:rPr sz="3225" b="0">
                <a:solidFill>
                  <a:srgbClr val="AD442F"/>
                </a:solidFill>
                <a:latin typeface="Garamond"/>
                <a:ea typeface="Garamond"/>
                <a:cs typeface="Garamond"/>
              </a:rPr>
              <a:t>Place</a:t>
            </a:r>
          </a:p>
        </p:txBody>
      </p:sp>
      <p:sp>
        <p:nvSpPr>
          <p:cNvPr id="9" name="copy-8">
            <a:extLst xmlns:a="http://schemas.openxmlformats.org/drawingml/2006/main">
              <a:ext uri="{FF2B5EF4-FFF2-40B4-BE49-F238E27FC236}">
                <a16:creationId xmlns:a16="http://schemas.microsoft.com/office/drawing/2014/main" id="{070D1FAF-F4B6-48A1-8F50-82FFD2D9998B}"/>
              </a:ext>
            </a:extLst>
          </p:cNvPr>
          <p:cNvSpPr>
            <a:spLocks xmlns:a="http://schemas.openxmlformats.org/drawingml/2006/main" noGrp="1"/>
          </p:cNvSpPr>
          <p:nvPr/>
        </p:nvSpPr>
        <p:spPr>
          <a:xfrm xmlns:a="http://schemas.openxmlformats.org/drawingml/2006/main">
            <a:off x="3629025" y="406717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Pemesanan melalui kanal yang mudah diakses, titik ambil terpisah, serta slot yang sesuai jadwal layanan.</a:t>
            </a:r>
          </a:p>
        </p:txBody>
      </p:sp>
      <p:sp>
        <p:nvSpPr>
          <p:cNvPr id="10" name="copy-9">
            <a:extLst xmlns:a="http://schemas.openxmlformats.org/drawingml/2006/main">
              <a:ext uri="{FF2B5EF4-FFF2-40B4-BE49-F238E27FC236}">
                <a16:creationId xmlns:a16="http://schemas.microsoft.com/office/drawing/2014/main" id="{EC3EC894-597C-4D46-B8E8-8CDF1163600A}"/>
              </a:ext>
            </a:extLst>
          </p:cNvPr>
          <p:cNvSpPr>
            <a:spLocks xmlns:a="http://schemas.openxmlformats.org/drawingml/2006/main" noGrp="1"/>
          </p:cNvSpPr>
          <p:nvPr/>
        </p:nvSpPr>
        <p:spPr>
          <a:xfrm xmlns:a="http://schemas.openxmlformats.org/drawingml/2006/main">
            <a:off x="609600" y="5038725"/>
            <a:ext cx="266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AD442F"/>
                </a:solidFill>
                <a:latin typeface="Garamond"/>
                <a:ea typeface="Garamond"/>
                <a:cs typeface="Garamond"/>
              </a:defRPr>
            </a:pPr>
            <a:r>
              <a:rPr sz="3225" b="0">
                <a:solidFill>
                  <a:srgbClr val="AD442F"/>
                </a:solidFill>
                <a:latin typeface="Garamond"/>
                <a:ea typeface="Garamond"/>
                <a:cs typeface="Garamond"/>
              </a:rPr>
              <a:t>Promotion</a:t>
            </a:r>
          </a:p>
        </p:txBody>
      </p:sp>
      <p:sp>
        <p:nvSpPr>
          <p:cNvPr id="11" name="copy-10">
            <a:extLst xmlns:a="http://schemas.openxmlformats.org/drawingml/2006/main">
              <a:ext uri="{FF2B5EF4-FFF2-40B4-BE49-F238E27FC236}">
                <a16:creationId xmlns:a16="http://schemas.microsoft.com/office/drawing/2014/main" id="{3969C5C5-AB81-4D2E-82D9-125239CA9B5F}"/>
              </a:ext>
            </a:extLst>
          </p:cNvPr>
          <p:cNvSpPr>
            <a:spLocks xmlns:a="http://schemas.openxmlformats.org/drawingml/2006/main" noGrp="1"/>
          </p:cNvSpPr>
          <p:nvPr/>
        </p:nvSpPr>
        <p:spPr>
          <a:xfrm xmlns:a="http://schemas.openxmlformats.org/drawingml/2006/main">
            <a:off x="3629025" y="5067300"/>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Pesan komunikasi menekankan kepastian waktu. Uji coba layanan memberi pelanggan kesempatan menilai janji itu.</a:t>
            </a:r>
          </a:p>
        </p:txBody>
      </p:sp>
    </p:spTree>
    <p:extLst>
      <p:ext uri="{BB962C8B-B14F-4D97-AF65-F5344CB8AC3E}">
        <p14:creationId xmlns:p14="http://schemas.microsoft.com/office/powerpoint/2010/main" val="287742255"/>
      </p:ext>
    </p:extLst>
  </p:cSld>
</p:sld>
</file>

<file path=ppt/slides/slide10.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0" name="copy-0">
            <a:extLst xmlns:a="http://schemas.openxmlformats.org/drawingml/2006/main">
              <a:ext uri="{FF2B5EF4-FFF2-40B4-BE49-F238E27FC236}">
                <a16:creationId xmlns:a16="http://schemas.microsoft.com/office/drawing/2014/main" id="{188DF0A4-3174-4495-AA20-472BB2F4E387}"/>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Harga, diskon, dan kontribusi</a:t>
            </a:r>
          </a:p>
        </p:txBody>
      </p:sp>
      <p:sp>
        <p:nvSpPr>
          <p:cNvPr id="2" name="copy-1">
            <a:extLst xmlns:a="http://schemas.openxmlformats.org/drawingml/2006/main">
              <a:ext uri="{FF2B5EF4-FFF2-40B4-BE49-F238E27FC236}">
                <a16:creationId xmlns:a16="http://schemas.microsoft.com/office/drawing/2014/main" id="{82E06D74-C1DD-4101-93C0-A3FBD636F556}"/>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10</a:t>
            </a:r>
          </a:p>
        </p:txBody>
      </p:sp>
      <p:sp>
        <p:nvSpPr>
          <p:cNvPr id="3" name="copy-2">
            <a:extLst xmlns:a="http://schemas.openxmlformats.org/drawingml/2006/main">
              <a:ext uri="{FF2B5EF4-FFF2-40B4-BE49-F238E27FC236}">
                <a16:creationId xmlns:a16="http://schemas.microsoft.com/office/drawing/2014/main" id="{F704D0C5-A224-454A-8A39-D639DCC919A7}"/>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32922"/>
                </a:solidFill>
                <a:latin typeface="Franklin Gothic Book"/>
                <a:ea typeface="Franklin Gothic Book"/>
                <a:cs typeface="Franklin Gothic Book"/>
              </a:defRPr>
            </a:pPr>
            <a:r>
              <a:rPr sz="1125" b="0">
                <a:solidFill>
                  <a:srgbClr val="232922"/>
                </a:solidFill>
                <a:latin typeface="Franklin Gothic Book"/>
                <a:ea typeface="Franklin Gothic Book"/>
                <a:cs typeface="Franklin Gothic Book"/>
              </a:rPr>
              <a:t>Simulasi per cup. Biaya variabel tetap Rp12.000, belum memasukkan biaya tetap.</a:t>
            </a:r>
          </a:p>
        </p:txBody>
      </p:sp>
      <p:sp>
        <p:nvSpPr>
          <p:cNvPr id="4" name="copy-3">
            <a:extLst xmlns:a="http://schemas.openxmlformats.org/drawingml/2006/main">
              <a:ext uri="{FF2B5EF4-FFF2-40B4-BE49-F238E27FC236}">
                <a16:creationId xmlns:a16="http://schemas.microsoft.com/office/drawing/2014/main" id="{991705A3-9EB9-466E-BA28-715F86AC2022}"/>
              </a:ext>
            </a:extLst>
          </p:cNvPr>
          <p:cNvSpPr>
            <a:spLocks xmlns:a="http://schemas.openxmlformats.org/drawingml/2006/main" noGrp="1"/>
          </p:cNvSpPr>
          <p:nvPr/>
        </p:nvSpPr>
        <p:spPr>
          <a:xfrm xmlns:a="http://schemas.openxmlformats.org/drawingml/2006/main">
            <a:off x="609600" y="20764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0">
                <a:solidFill>
                  <a:srgbClr val="AD442F"/>
                </a:solidFill>
                <a:latin typeface="Garamond"/>
                <a:ea typeface="Garamond"/>
                <a:cs typeface="Garamond"/>
              </a:defRPr>
            </a:pPr>
            <a:r>
              <a:rPr sz="5700" b="0">
                <a:solidFill>
                  <a:srgbClr val="AD442F"/>
                </a:solidFill>
                <a:latin typeface="Garamond"/>
                <a:ea typeface="Garamond"/>
                <a:cs typeface="Garamond"/>
              </a:rPr>
              <a:t>Rp13.000</a:t>
            </a:r>
          </a:p>
        </p:txBody>
      </p:sp>
      <p:sp>
        <p:nvSpPr>
          <p:cNvPr id="5" name="copy-4">
            <a:extLst xmlns:a="http://schemas.openxmlformats.org/drawingml/2006/main">
              <a:ext uri="{FF2B5EF4-FFF2-40B4-BE49-F238E27FC236}">
                <a16:creationId xmlns:a16="http://schemas.microsoft.com/office/drawing/2014/main" id="{5A6B41A0-D1AA-48E0-82DF-85ECCB201AB7}"/>
              </a:ext>
            </a:extLst>
          </p:cNvPr>
          <p:cNvSpPr>
            <a:spLocks xmlns:a="http://schemas.openxmlformats.org/drawingml/2006/main" noGrp="1"/>
          </p:cNvSpPr>
          <p:nvPr/>
        </p:nvSpPr>
        <p:spPr>
          <a:xfrm xmlns:a="http://schemas.openxmlformats.org/drawingml/2006/main">
            <a:off x="609600" y="30575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32922"/>
                </a:solidFill>
                <a:latin typeface="Franklin Gothic Book"/>
                <a:ea typeface="Franklin Gothic Book"/>
                <a:cs typeface="Franklin Gothic Book"/>
              </a:defRPr>
            </a:pPr>
            <a:r>
              <a:rPr sz="1950" b="0">
                <a:solidFill>
                  <a:srgbClr val="232922"/>
                </a:solidFill>
                <a:latin typeface="Franklin Gothic Book"/>
                <a:ea typeface="Franklin Gothic Book"/>
                <a:cs typeface="Franklin Gothic Book"/>
              </a:rPr>
              <a:t>kontribusi sebelum diskon</a:t>
            </a:r>
          </a:p>
        </p:txBody>
      </p:sp>
      <p:sp>
        <p:nvSpPr>
          <p:cNvPr id="6" name="copy-5">
            <a:extLst xmlns:a="http://schemas.openxmlformats.org/drawingml/2006/main">
              <a:ext uri="{FF2B5EF4-FFF2-40B4-BE49-F238E27FC236}">
                <a16:creationId xmlns:a16="http://schemas.microsoft.com/office/drawing/2014/main" id="{98F1425F-CE9C-46F7-991A-31842E82DD66}"/>
              </a:ext>
            </a:extLst>
          </p:cNvPr>
          <p:cNvSpPr>
            <a:spLocks xmlns:a="http://schemas.openxmlformats.org/drawingml/2006/main" noGrp="1"/>
          </p:cNvSpPr>
          <p:nvPr/>
        </p:nvSpPr>
        <p:spPr>
          <a:xfrm xmlns:a="http://schemas.openxmlformats.org/drawingml/2006/main">
            <a:off x="6638925" y="20764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0">
                <a:solidFill>
                  <a:srgbClr val="AD442F"/>
                </a:solidFill>
                <a:latin typeface="Garamond"/>
                <a:ea typeface="Garamond"/>
                <a:cs typeface="Garamond"/>
              </a:defRPr>
            </a:pPr>
            <a:r>
              <a:rPr sz="5700" b="0">
                <a:solidFill>
                  <a:srgbClr val="AD442F"/>
                </a:solidFill>
                <a:latin typeface="Garamond"/>
                <a:ea typeface="Garamond"/>
                <a:cs typeface="Garamond"/>
              </a:rPr>
              <a:t>Rp8.000</a:t>
            </a:r>
          </a:p>
        </p:txBody>
      </p:sp>
      <p:sp>
        <p:nvSpPr>
          <p:cNvPr id="7" name="copy-6">
            <a:extLst xmlns:a="http://schemas.openxmlformats.org/drawingml/2006/main">
              <a:ext uri="{FF2B5EF4-FFF2-40B4-BE49-F238E27FC236}">
                <a16:creationId xmlns:a16="http://schemas.microsoft.com/office/drawing/2014/main" id="{D8444692-2472-4223-B225-0EE8942A5717}"/>
              </a:ext>
            </a:extLst>
          </p:cNvPr>
          <p:cNvSpPr>
            <a:spLocks xmlns:a="http://schemas.openxmlformats.org/drawingml/2006/main" noGrp="1"/>
          </p:cNvSpPr>
          <p:nvPr/>
        </p:nvSpPr>
        <p:spPr>
          <a:xfrm xmlns:a="http://schemas.openxmlformats.org/drawingml/2006/main">
            <a:off x="6638925" y="3057525"/>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32922"/>
                </a:solidFill>
                <a:latin typeface="Franklin Gothic Book"/>
                <a:ea typeface="Franklin Gothic Book"/>
                <a:cs typeface="Franklin Gothic Book"/>
              </a:defRPr>
            </a:pPr>
            <a:r>
              <a:rPr sz="1950" b="0">
                <a:solidFill>
                  <a:srgbClr val="232922"/>
                </a:solidFill>
                <a:latin typeface="Franklin Gothic Book"/>
                <a:ea typeface="Franklin Gothic Book"/>
                <a:cs typeface="Franklin Gothic Book"/>
              </a:rPr>
              <a:t>kontribusi sesudah diskon 20%</a:t>
            </a:r>
          </a:p>
        </p:txBody>
      </p:sp>
      <p:sp>
        <p:nvSpPr>
          <p:cNvPr id="8" name="copy-7">
            <a:extLst xmlns:a="http://schemas.openxmlformats.org/drawingml/2006/main">
              <a:ext uri="{FF2B5EF4-FFF2-40B4-BE49-F238E27FC236}">
                <a16:creationId xmlns:a16="http://schemas.microsoft.com/office/drawing/2014/main" id="{03F2F319-BA43-4B50-BB17-4913871DD5CA}"/>
              </a:ext>
            </a:extLst>
          </p:cNvPr>
          <p:cNvSpPr>
            <a:spLocks xmlns:a="http://schemas.openxmlformats.org/drawingml/2006/main" noGrp="1"/>
          </p:cNvSpPr>
          <p:nvPr/>
        </p:nvSpPr>
        <p:spPr>
          <a:xfrm xmlns:a="http://schemas.openxmlformats.org/drawingml/2006/main">
            <a:off x="609600" y="4029075"/>
            <a:ext cx="50863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Harga normal Rp25.000 dikurangi biaya variabel Rp12.000 menghasilkan kontribusi Rp13.000. Setelah diskon, harga menjadi Rp20.000 dan kontribusi turun menjadi Rp8.000.</a:t>
            </a:r>
          </a:p>
        </p:txBody>
      </p:sp>
      <p:sp>
        <p:nvSpPr>
          <p:cNvPr id="9" name="copy-8">
            <a:extLst xmlns:a="http://schemas.openxmlformats.org/drawingml/2006/main">
              <a:ext uri="{FF2B5EF4-FFF2-40B4-BE49-F238E27FC236}">
                <a16:creationId xmlns:a16="http://schemas.microsoft.com/office/drawing/2014/main" id="{F538C5E3-B134-4870-BD1B-08880701A712}"/>
              </a:ext>
            </a:extLst>
          </p:cNvPr>
          <p:cNvSpPr>
            <a:spLocks xmlns:a="http://schemas.openxmlformats.org/drawingml/2006/main" noGrp="1"/>
          </p:cNvSpPr>
          <p:nvPr/>
        </p:nvSpPr>
        <p:spPr>
          <a:xfrm xmlns:a="http://schemas.openxmlformats.org/drawingml/2006/main">
            <a:off x="6638925" y="4029075"/>
            <a:ext cx="486727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Volume perlu menjadi 1,625 kali volume awal agar total kontribusi tetap sama. Kenaikan yang dibutuhkan adalah 62,5%, sebelum memperhitungkan tambahan biaya dan keterbatasan kapasitas.</a:t>
            </a:r>
          </a:p>
        </p:txBody>
      </p:sp>
    </p:spTree>
    <p:extLst>
      <p:ext uri="{BB962C8B-B14F-4D97-AF65-F5344CB8AC3E}">
        <p14:creationId xmlns:p14="http://schemas.microsoft.com/office/powerpoint/2010/main" val="1365120799"/>
      </p:ext>
    </p:extLst>
  </p:cSld>
</p:sld>
</file>

<file path=ppt/slides/slide11.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7" name="copy-0">
            <a:extLst xmlns:a="http://schemas.openxmlformats.org/drawingml/2006/main">
              <a:ext uri="{FF2B5EF4-FFF2-40B4-BE49-F238E27FC236}">
                <a16:creationId xmlns:a16="http://schemas.microsoft.com/office/drawing/2014/main" id="{91FD3B22-7898-44C5-83C7-6E1EF1E36945}"/>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Penjualan naik, kontribusi turun</a:t>
            </a:r>
          </a:p>
        </p:txBody>
      </p:sp>
      <p:sp>
        <p:nvSpPr>
          <p:cNvPr id="2" name="copy-1">
            <a:extLst xmlns:a="http://schemas.openxmlformats.org/drawingml/2006/main">
              <a:ext uri="{FF2B5EF4-FFF2-40B4-BE49-F238E27FC236}">
                <a16:creationId xmlns:a16="http://schemas.microsoft.com/office/drawing/2014/main" id="{5C122484-EF22-4795-8577-B666CB803FC4}"/>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11</a:t>
            </a:r>
          </a:p>
        </p:txBody>
      </p:sp>
      <p:sp>
        <p:nvSpPr>
          <p:cNvPr id="3" name="copy-2">
            <a:extLst xmlns:a="http://schemas.openxmlformats.org/drawingml/2006/main">
              <a:ext uri="{FF2B5EF4-FFF2-40B4-BE49-F238E27FC236}">
                <a16:creationId xmlns:a16="http://schemas.microsoft.com/office/drawing/2014/main" id="{41CB00A6-EF59-4B33-B4AF-4B267D584736}"/>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32922"/>
                </a:solidFill>
                <a:latin typeface="Franklin Gothic Book"/>
                <a:ea typeface="Franklin Gothic Book"/>
                <a:cs typeface="Franklin Gothic Book"/>
              </a:defRPr>
            </a:pPr>
            <a:r>
              <a:rPr sz="1125" b="0">
                <a:solidFill>
                  <a:srgbClr val="232922"/>
                </a:solidFill>
                <a:latin typeface="Franklin Gothic Book"/>
                <a:ea typeface="Franklin Gothic Book"/>
                <a:cs typeface="Franklin Gothic Book"/>
              </a:rPr>
              <a:t>Simulasi periode setara. Kontribusi = pendapatan dikurangi biaya variabel.</a:t>
            </a:r>
          </a:p>
        </p:txBody>
      </p:sp>
      <p:graphicFrame>
        <p:nvGraphicFramePr>
          <p:cNvPr id="10" name="Chart"/>
          <p:cNvGraphicFramePr/>
          <p:nvPr/>
        </p:nvGraphicFramePr>
        <p:xfrm>
          <a:off xmlns:a="http://schemas.openxmlformats.org/drawingml/2006/main" x="609600" y="2066925"/>
          <a:ext xmlns:a="http://schemas.openxmlformats.org/drawingml/2006/main" cx="6953250" cy="3571875"/>
        </p:xfrm>
        <a:graphic xmlns:a="http://schemas.openxmlformats.org/drawingml/2006/main">
          <a:graphicData uri="http://schemas.openxmlformats.org/drawingml/2006/chart">
            <c:chart xmlns:r="http://schemas.openxmlformats.org/officeDocument/2006/relationships" xmlns:c="http://schemas.openxmlformats.org/drawingml/2006/chart" r:id="R061a74649eb34596"/>
          </a:graphicData>
        </a:graphic>
      </p:graphicFrame>
      <p:sp>
        <p:nvSpPr>
          <p:cNvPr id="5" name="copy-3">
            <a:extLst xmlns:a="http://schemas.openxmlformats.org/drawingml/2006/main">
              <a:ext uri="{FF2B5EF4-FFF2-40B4-BE49-F238E27FC236}">
                <a16:creationId xmlns:a16="http://schemas.microsoft.com/office/drawing/2014/main" id="{20B971E8-B675-4A0B-9B3A-7806081C9C4D}"/>
              </a:ext>
            </a:extLst>
          </p:cNvPr>
          <p:cNvSpPr>
            <a:spLocks xmlns:a="http://schemas.openxmlformats.org/drawingml/2006/main" noGrp="1"/>
          </p:cNvSpPr>
          <p:nvPr/>
        </p:nvSpPr>
        <p:spPr>
          <a:xfrm xmlns:a="http://schemas.openxmlformats.org/drawingml/2006/main">
            <a:off x="609600" y="17526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66675C"/>
                </a:solidFill>
                <a:latin typeface="Garamond"/>
                <a:ea typeface="Garamond"/>
                <a:cs typeface="Garamond"/>
              </a:defRPr>
            </a:pPr>
            <a:r>
              <a:rPr sz="2550" b="0">
                <a:solidFill>
                  <a:srgbClr val="66675C"/>
                </a:solidFill>
                <a:latin typeface="Garamond"/>
                <a:ea typeface="Garamond"/>
                <a:cs typeface="Garamond"/>
              </a:rPr>
              <a:t>Juta rupiah</a:t>
            </a:r>
          </a:p>
        </p:txBody>
      </p:sp>
      <p:sp>
        <p:nvSpPr>
          <p:cNvPr id="6" name="copy-4">
            <a:extLst xmlns:a="http://schemas.openxmlformats.org/drawingml/2006/main">
              <a:ext uri="{FF2B5EF4-FFF2-40B4-BE49-F238E27FC236}">
                <a16:creationId xmlns:a16="http://schemas.microsoft.com/office/drawing/2014/main" id="{4D5EDD37-473E-4CC8-8163-BB049F972682}"/>
              </a:ext>
            </a:extLst>
          </p:cNvPr>
          <p:cNvSpPr>
            <a:spLocks xmlns:a="http://schemas.openxmlformats.org/drawingml/2006/main" noGrp="1"/>
          </p:cNvSpPr>
          <p:nvPr/>
        </p:nvSpPr>
        <p:spPr>
          <a:xfrm xmlns:a="http://schemas.openxmlformats.org/drawingml/2006/main">
            <a:off x="8210550" y="2238375"/>
            <a:ext cx="333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32922"/>
                </a:solidFill>
                <a:latin typeface="Franklin Gothic Book"/>
                <a:ea typeface="Franklin Gothic Book"/>
                <a:cs typeface="Franklin Gothic Book"/>
              </a:defRPr>
            </a:pPr>
            <a:r>
              <a:rPr sz="2100" b="0">
                <a:solidFill>
                  <a:srgbClr val="232922"/>
                </a:solidFill>
                <a:latin typeface="Franklin Gothic Book"/>
                <a:ea typeface="Franklin Gothic Book"/>
                <a:cs typeface="Franklin Gothic Book"/>
              </a:rPr>
              <a:t>Jumlah cup bertambah 40%. Pendapatan juga naik, tetapi kontribusi turun karena margin setiap cup lebih rendah.</a:t>
            </a:r>
          </a:p>
          <a:p xmlns:a="http://schemas.openxmlformats.org/drawingml/2006/main">
            <a:r>
              <a:t/>
            </a:r>
          </a:p>
          <a:p xmlns:a="http://schemas.openxmlformats.org/drawingml/2006/main">
            <a:pPr>
              <a:defRPr sz="2100" b="0">
                <a:solidFill>
                  <a:srgbClr val="232922"/>
                </a:solidFill>
                <a:latin typeface="Franklin Gothic Book"/>
                <a:ea typeface="Franklin Gothic Book"/>
                <a:cs typeface="Franklin Gothic Book"/>
              </a:defRPr>
            </a:pPr>
            <a:r>
              <a:rPr sz="2100" b="0">
                <a:solidFill>
                  <a:srgbClr val="232922"/>
                </a:solidFill>
                <a:latin typeface="Franklin Gothic Book"/>
                <a:ea typeface="Franklin Gothic Book"/>
                <a:cs typeface="Franklin Gothic Book"/>
              </a:rPr>
              <a:t>Evaluasi promosi perlu menimbang hasil finansial bersama tujuan seperti pelanggan baru atau pembelian ulang.</a:t>
            </a:r>
          </a:p>
        </p:txBody>
      </p:sp>
    </p:spTree>
    <p:extLst>
      <p:ext uri="{BB962C8B-B14F-4D97-AF65-F5344CB8AC3E}">
        <p14:creationId xmlns:p14="http://schemas.microsoft.com/office/powerpoint/2010/main" val="622268362"/>
      </p:ext>
    </p:extLst>
  </p:cSld>
</p:sld>
</file>

<file path=ppt/slides/slide1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0" name="copy-0">
            <a:extLst xmlns:a="http://schemas.openxmlformats.org/drawingml/2006/main">
              <a:ext uri="{FF2B5EF4-FFF2-40B4-BE49-F238E27FC236}">
                <a16:creationId xmlns:a16="http://schemas.microsoft.com/office/drawing/2014/main" id="{8C4A58B4-B049-4A54-90C9-3C8E85CCA088}"/>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Pengalaman pelanggan dan bukti</a:t>
            </a:r>
          </a:p>
        </p:txBody>
      </p:sp>
      <p:sp>
        <p:nvSpPr>
          <p:cNvPr id="2" name="copy-1">
            <a:extLst xmlns:a="http://schemas.openxmlformats.org/drawingml/2006/main">
              <a:ext uri="{FF2B5EF4-FFF2-40B4-BE49-F238E27FC236}">
                <a16:creationId xmlns:a16="http://schemas.microsoft.com/office/drawing/2014/main" id="{253CDE05-869F-41B0-A29A-201583C84071}"/>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12</a:t>
            </a:r>
          </a:p>
        </p:txBody>
      </p:sp>
      <p:sp>
        <p:nvSpPr>
          <p:cNvPr id="3" name="copy-2">
            <a:extLst xmlns:a="http://schemas.openxmlformats.org/drawingml/2006/main">
              <a:ext uri="{FF2B5EF4-FFF2-40B4-BE49-F238E27FC236}">
                <a16:creationId xmlns:a16="http://schemas.microsoft.com/office/drawing/2014/main" id="{6954BA10-DABE-413D-B653-849CF381C4D9}"/>
              </a:ext>
            </a:extLst>
          </p:cNvPr>
          <p:cNvSpPr>
            <a:spLocks xmlns:a="http://schemas.openxmlformats.org/drawingml/2006/main" noGrp="1"/>
          </p:cNvSpPr>
          <p:nvPr/>
        </p:nvSpPr>
        <p:spPr>
          <a:xfrm xmlns:a="http://schemas.openxmlformats.org/drawingml/2006/main">
            <a:off x="609600" y="20955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AD442F"/>
                </a:solidFill>
                <a:latin typeface="Garamond"/>
                <a:ea typeface="Garamond"/>
                <a:cs typeface="Garamond"/>
              </a:defRPr>
            </a:pPr>
            <a:r>
              <a:rPr sz="2250" b="0">
                <a:solidFill>
                  <a:srgbClr val="AD442F"/>
                </a:solidFill>
                <a:latin typeface="Garamond"/>
                <a:ea typeface="Garamond"/>
                <a:cs typeface="Garamond"/>
              </a:rPr>
              <a:t>Sebelum membeli</a:t>
            </a:r>
          </a:p>
        </p:txBody>
      </p:sp>
      <p:sp>
        <p:nvSpPr>
          <p:cNvPr id="4" name="copy-3">
            <a:extLst xmlns:a="http://schemas.openxmlformats.org/drawingml/2006/main">
              <a:ext uri="{FF2B5EF4-FFF2-40B4-BE49-F238E27FC236}">
                <a16:creationId xmlns:a16="http://schemas.microsoft.com/office/drawing/2014/main" id="{DEC46E29-102D-4A82-8098-E433CEE7FB5D}"/>
              </a:ext>
            </a:extLst>
          </p:cNvPr>
          <p:cNvSpPr>
            <a:spLocks xmlns:a="http://schemas.openxmlformats.org/drawingml/2006/main" noGrp="1"/>
          </p:cNvSpPr>
          <p:nvPr/>
        </p:nvSpPr>
        <p:spPr>
          <a:xfrm xmlns:a="http://schemas.openxmlformats.org/drawingml/2006/main">
            <a:off x="609600" y="2686050"/>
            <a:ext cx="3190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32922"/>
                </a:solidFill>
                <a:latin typeface="Franklin Gothic Book"/>
                <a:ea typeface="Franklin Gothic Book"/>
                <a:cs typeface="Franklin Gothic Book"/>
              </a:defRPr>
            </a:pPr>
            <a:r>
              <a:rPr sz="1950" b="0">
                <a:solidFill>
                  <a:srgbClr val="232922"/>
                </a:solidFill>
                <a:latin typeface="Franklin Gothic Book"/>
                <a:ea typeface="Franklin Gothic Book"/>
                <a:cs typeface="Franklin Gothic Book"/>
              </a:rPr>
              <a:t>Pelanggan melihat menu, harga, serta slot yang tersedia. Ketidakjelasan informasi dapat membuat orang menunda pesanan meskipun tertarik.</a:t>
            </a:r>
          </a:p>
        </p:txBody>
      </p:sp>
      <p:sp>
        <p:nvSpPr>
          <p:cNvPr id="5" name="copy-4">
            <a:extLst xmlns:a="http://schemas.openxmlformats.org/drawingml/2006/main">
              <a:ext uri="{FF2B5EF4-FFF2-40B4-BE49-F238E27FC236}">
                <a16:creationId xmlns:a16="http://schemas.microsoft.com/office/drawing/2014/main" id="{34D72D43-0B29-4B2C-B5BA-8CBCDBF79540}"/>
              </a:ext>
            </a:extLst>
          </p:cNvPr>
          <p:cNvSpPr>
            <a:spLocks xmlns:a="http://schemas.openxmlformats.org/drawingml/2006/main" noGrp="1"/>
          </p:cNvSpPr>
          <p:nvPr/>
        </p:nvSpPr>
        <p:spPr>
          <a:xfrm xmlns:a="http://schemas.openxmlformats.org/drawingml/2006/main">
            <a:off x="4400550" y="20955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AD442F"/>
                </a:solidFill>
                <a:latin typeface="Garamond"/>
                <a:ea typeface="Garamond"/>
                <a:cs typeface="Garamond"/>
              </a:defRPr>
            </a:pPr>
            <a:r>
              <a:rPr sz="2250" b="0">
                <a:solidFill>
                  <a:srgbClr val="AD442F"/>
                </a:solidFill>
                <a:latin typeface="Garamond"/>
                <a:ea typeface="Garamond"/>
                <a:cs typeface="Garamond"/>
              </a:rPr>
              <a:t>Saat menerima</a:t>
            </a:r>
          </a:p>
        </p:txBody>
      </p:sp>
      <p:sp>
        <p:nvSpPr>
          <p:cNvPr id="6" name="copy-5">
            <a:extLst xmlns:a="http://schemas.openxmlformats.org/drawingml/2006/main">
              <a:ext uri="{FF2B5EF4-FFF2-40B4-BE49-F238E27FC236}">
                <a16:creationId xmlns:a16="http://schemas.microsoft.com/office/drawing/2014/main" id="{0E175A0A-2AB5-4B1F-BDE9-FBA57C718DD1}"/>
              </a:ext>
            </a:extLst>
          </p:cNvPr>
          <p:cNvSpPr>
            <a:spLocks xmlns:a="http://schemas.openxmlformats.org/drawingml/2006/main" noGrp="1"/>
          </p:cNvSpPr>
          <p:nvPr/>
        </p:nvSpPr>
        <p:spPr>
          <a:xfrm xmlns:a="http://schemas.openxmlformats.org/drawingml/2006/main">
            <a:off x="4400550" y="2686050"/>
            <a:ext cx="3190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32922"/>
                </a:solidFill>
                <a:latin typeface="Franklin Gothic Book"/>
                <a:ea typeface="Franklin Gothic Book"/>
                <a:cs typeface="Franklin Gothic Book"/>
              </a:defRPr>
            </a:pPr>
            <a:r>
              <a:rPr sz="1950" b="0">
                <a:solidFill>
                  <a:srgbClr val="232922"/>
                </a:solidFill>
                <a:latin typeface="Franklin Gothic Book"/>
                <a:ea typeface="Franklin Gothic Book"/>
                <a:cs typeface="Franklin Gothic Book"/>
              </a:rPr>
              <a:t>Nama pesanan mudah ditemukan dan minuman siap sesuai slot. Keterlambatan lima menit dapat terasa besar bagi pelanggan yang akan masuk kelas.</a:t>
            </a:r>
          </a:p>
        </p:txBody>
      </p:sp>
      <p:sp>
        <p:nvSpPr>
          <p:cNvPr id="7" name="copy-6">
            <a:extLst xmlns:a="http://schemas.openxmlformats.org/drawingml/2006/main">
              <a:ext uri="{FF2B5EF4-FFF2-40B4-BE49-F238E27FC236}">
                <a16:creationId xmlns:a16="http://schemas.microsoft.com/office/drawing/2014/main" id="{92B9AE6B-2DBD-47B3-B52A-FF9795953B22}"/>
              </a:ext>
            </a:extLst>
          </p:cNvPr>
          <p:cNvSpPr>
            <a:spLocks xmlns:a="http://schemas.openxmlformats.org/drawingml/2006/main" noGrp="1"/>
          </p:cNvSpPr>
          <p:nvPr/>
        </p:nvSpPr>
        <p:spPr>
          <a:xfrm xmlns:a="http://schemas.openxmlformats.org/drawingml/2006/main">
            <a:off x="8210550" y="20955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AD442F"/>
                </a:solidFill>
                <a:latin typeface="Garamond"/>
                <a:ea typeface="Garamond"/>
                <a:cs typeface="Garamond"/>
              </a:defRPr>
            </a:pPr>
            <a:r>
              <a:rPr sz="2250" b="0">
                <a:solidFill>
                  <a:srgbClr val="AD442F"/>
                </a:solidFill>
                <a:latin typeface="Garamond"/>
                <a:ea typeface="Garamond"/>
                <a:cs typeface="Garamond"/>
              </a:rPr>
              <a:t>Setelah memakai</a:t>
            </a:r>
          </a:p>
        </p:txBody>
      </p:sp>
      <p:sp>
        <p:nvSpPr>
          <p:cNvPr id="8" name="copy-7">
            <a:extLst xmlns:a="http://schemas.openxmlformats.org/drawingml/2006/main">
              <a:ext uri="{FF2B5EF4-FFF2-40B4-BE49-F238E27FC236}">
                <a16:creationId xmlns:a16="http://schemas.microsoft.com/office/drawing/2014/main" id="{2FB74B25-C270-4111-B8BB-2CC82617BF28}"/>
              </a:ext>
            </a:extLst>
          </p:cNvPr>
          <p:cNvSpPr>
            <a:spLocks xmlns:a="http://schemas.openxmlformats.org/drawingml/2006/main" noGrp="1"/>
          </p:cNvSpPr>
          <p:nvPr/>
        </p:nvSpPr>
        <p:spPr>
          <a:xfrm xmlns:a="http://schemas.openxmlformats.org/drawingml/2006/main">
            <a:off x="8210550" y="2686050"/>
            <a:ext cx="3333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32922"/>
                </a:solidFill>
                <a:latin typeface="Franklin Gothic Book"/>
                <a:ea typeface="Franklin Gothic Book"/>
                <a:cs typeface="Franklin Gothic Book"/>
              </a:defRPr>
            </a:pPr>
            <a:r>
              <a:rPr sz="1950" b="0">
                <a:solidFill>
                  <a:srgbClr val="232922"/>
                </a:solidFill>
                <a:latin typeface="Franklin Gothic Book"/>
                <a:ea typeface="Franklin Gothic Book"/>
                <a:cs typeface="Franklin Gothic Book"/>
              </a:rPr>
              <a:t>Rasa sesuai harapan dan keluhan memperoleh tanggapan. Pengelola dapat menanyakan pengalaman tanpa menganggap semua pelanggan yang diam merasa puas.</a:t>
            </a:r>
          </a:p>
        </p:txBody>
      </p:sp>
      <p:sp>
        <p:nvSpPr>
          <p:cNvPr id="9" name="copy-8">
            <a:extLst xmlns:a="http://schemas.openxmlformats.org/drawingml/2006/main">
              <a:ext uri="{FF2B5EF4-FFF2-40B4-BE49-F238E27FC236}">
                <a16:creationId xmlns:a16="http://schemas.microsoft.com/office/drawing/2014/main" id="{895C4815-1DDF-44F4-869F-9DD30444C491}"/>
              </a:ext>
            </a:extLst>
          </p:cNvPr>
          <p:cNvSpPr>
            <a:spLocks xmlns:a="http://schemas.openxmlformats.org/drawingml/2006/main" noGrp="1"/>
          </p:cNvSpPr>
          <p:nvPr/>
        </p:nvSpPr>
        <p:spPr>
          <a:xfrm xmlns:a="http://schemas.openxmlformats.org/drawingml/2006/main">
            <a:off x="609600" y="53625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AD442F"/>
                </a:solidFill>
                <a:latin typeface="Garamond"/>
                <a:ea typeface="Garamond"/>
                <a:cs typeface="Garamond"/>
              </a:defRPr>
            </a:pPr>
            <a:r>
              <a:rPr sz="2925" b="0">
                <a:solidFill>
                  <a:srgbClr val="AD442F"/>
                </a:solidFill>
                <a:latin typeface="Garamond"/>
                <a:ea typeface="Garamond"/>
                <a:cs typeface="Garamond"/>
              </a:rPr>
              <a:t>Janji waktu harus tampak dalam proses layanan sehari-hari.</a:t>
            </a:r>
          </a:p>
        </p:txBody>
      </p:sp>
    </p:spTree>
    <p:extLst>
      <p:ext uri="{BB962C8B-B14F-4D97-AF65-F5344CB8AC3E}">
        <p14:creationId xmlns:p14="http://schemas.microsoft.com/office/powerpoint/2010/main" val="2108735506"/>
      </p:ext>
    </p:extLst>
  </p:cSld>
</p:sld>
</file>

<file path=ppt/slides/slide13.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copy-0">
            <a:extLst xmlns:a="http://schemas.openxmlformats.org/drawingml/2006/main">
              <a:ext uri="{FF2B5EF4-FFF2-40B4-BE49-F238E27FC236}">
                <a16:creationId xmlns:a16="http://schemas.microsoft.com/office/drawing/2014/main" id="{0971C6B3-E18D-428A-BD44-0F783ABC2869}"/>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Evaluasi uji coba dua minggu</a:t>
            </a:r>
          </a:p>
        </p:txBody>
      </p:sp>
      <p:sp>
        <p:nvSpPr>
          <p:cNvPr id="2" name="copy-1">
            <a:extLst xmlns:a="http://schemas.openxmlformats.org/drawingml/2006/main">
              <a:ext uri="{FF2B5EF4-FFF2-40B4-BE49-F238E27FC236}">
                <a16:creationId xmlns:a16="http://schemas.microsoft.com/office/drawing/2014/main" id="{544A977D-EB3E-4501-9D9F-535CE4C208FE}"/>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13</a:t>
            </a:r>
          </a:p>
        </p:txBody>
      </p:sp>
      <p:sp>
        <p:nvSpPr>
          <p:cNvPr id="3" name="copy-2">
            <a:extLst xmlns:a="http://schemas.openxmlformats.org/drawingml/2006/main">
              <a:ext uri="{FF2B5EF4-FFF2-40B4-BE49-F238E27FC236}">
                <a16:creationId xmlns:a16="http://schemas.microsoft.com/office/drawing/2014/main" id="{DA499070-672E-4C98-BC3B-150298477EEE}"/>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32922"/>
                </a:solidFill>
                <a:latin typeface="Franklin Gothic Book"/>
                <a:ea typeface="Franklin Gothic Book"/>
                <a:cs typeface="Franklin Gothic Book"/>
              </a:defRPr>
            </a:pPr>
            <a:r>
              <a:rPr sz="1125" b="0">
                <a:solidFill>
                  <a:srgbClr val="232922"/>
                </a:solidFill>
                <a:latin typeface="Franklin Gothic Book"/>
                <a:ea typeface="Franklin Gothic Book"/>
                <a:cs typeface="Franklin Gothic Book"/>
              </a:rPr>
              <a:t>Rujukan perencanaan: OpenStax, Principles of Marketing, §2.3</a:t>
            </a:r>
          </a:p>
        </p:txBody>
      </p:sp>
      <p:sp>
        <p:nvSpPr>
          <p:cNvPr id="4" name="copy-3">
            <a:extLst xmlns:a="http://schemas.openxmlformats.org/drawingml/2006/main">
              <a:ext uri="{FF2B5EF4-FFF2-40B4-BE49-F238E27FC236}">
                <a16:creationId xmlns:a16="http://schemas.microsoft.com/office/drawing/2014/main" id="{4C2E77E6-B840-4E07-AA20-78E06AFF839D}"/>
              </a:ext>
            </a:extLst>
          </p:cNvPr>
          <p:cNvSpPr>
            <a:spLocks xmlns:a="http://schemas.openxmlformats.org/drawingml/2006/main" noGrp="1"/>
          </p:cNvSpPr>
          <p:nvPr/>
        </p:nvSpPr>
        <p:spPr>
          <a:xfrm xmlns:a="http://schemas.openxmlformats.org/drawingml/2006/main">
            <a:off x="609600" y="2028825"/>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32922"/>
                </a:solidFill>
                <a:latin typeface="Franklin Gothic Book"/>
                <a:ea typeface="Franklin Gothic Book"/>
                <a:cs typeface="Franklin Gothic Book"/>
              </a:defRPr>
            </a:pPr>
            <a:r>
              <a:rPr sz="2100" b="0">
                <a:solidFill>
                  <a:srgbClr val="232922"/>
                </a:solidFill>
                <a:latin typeface="Franklin Gothic Book"/>
                <a:ea typeface="Franklin Gothic Book"/>
                <a:cs typeface="Franklin Gothic Book"/>
              </a:rPr>
              <a:t>Tujuan uji coba adalah mengetahui apakah layanan pesan ambil layak dilanjutkan. Pengelola menentukan kriteria sebelum program berjalan, kemudian membandingkan hasil dengan periode atau kelompok yang relevan.</a:t>
            </a:r>
          </a:p>
        </p:txBody>
      </p:sp>
      <p:sp>
        <p:nvSpPr>
          <p:cNvPr id="5" name="copy-4">
            <a:extLst xmlns:a="http://schemas.openxmlformats.org/drawingml/2006/main">
              <a:ext uri="{FF2B5EF4-FFF2-40B4-BE49-F238E27FC236}">
                <a16:creationId xmlns:a16="http://schemas.microsoft.com/office/drawing/2014/main" id="{9460D7DF-E91A-45A9-A806-FAD9875D0A61}"/>
              </a:ext>
            </a:extLst>
          </p:cNvPr>
          <p:cNvSpPr>
            <a:spLocks xmlns:a="http://schemas.openxmlformats.org/drawingml/2006/main" noGrp="1"/>
          </p:cNvSpPr>
          <p:nvPr/>
        </p:nvSpPr>
        <p:spPr>
          <a:xfrm xmlns:a="http://schemas.openxmlformats.org/drawingml/2006/main">
            <a:off x="609600" y="35909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Indikator operasional</a:t>
            </a:r>
          </a:p>
        </p:txBody>
      </p:sp>
      <p:sp>
        <p:nvSpPr>
          <p:cNvPr id="6" name="copy-5">
            <a:extLst xmlns:a="http://schemas.openxmlformats.org/drawingml/2006/main">
              <a:ext uri="{FF2B5EF4-FFF2-40B4-BE49-F238E27FC236}">
                <a16:creationId xmlns:a16="http://schemas.microsoft.com/office/drawing/2014/main" id="{50FA67A8-9554-4CD0-9FE2-9A029A771772}"/>
              </a:ext>
            </a:extLst>
          </p:cNvPr>
          <p:cNvSpPr>
            <a:spLocks xmlns:a="http://schemas.openxmlformats.org/drawingml/2006/main" noGrp="1"/>
          </p:cNvSpPr>
          <p:nvPr/>
        </p:nvSpPr>
        <p:spPr>
          <a:xfrm xmlns:a="http://schemas.openxmlformats.org/drawingml/2006/main">
            <a:off x="609600" y="4181475"/>
            <a:ext cx="4953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Proporsi pesanan siap sesuai slot, waktu antre, pesanan yang batal, dan jumlah keluhan. Angka ini menjelaskan apakah kedai mampu memenuhi janji layanan.</a:t>
            </a:r>
          </a:p>
        </p:txBody>
      </p:sp>
      <p:sp>
        <p:nvSpPr>
          <p:cNvPr id="7" name="copy-6">
            <a:extLst xmlns:a="http://schemas.openxmlformats.org/drawingml/2006/main">
              <a:ext uri="{FF2B5EF4-FFF2-40B4-BE49-F238E27FC236}">
                <a16:creationId xmlns:a16="http://schemas.microsoft.com/office/drawing/2014/main" id="{66466E55-2B99-4183-9482-03594941764C}"/>
              </a:ext>
            </a:extLst>
          </p:cNvPr>
          <p:cNvSpPr>
            <a:spLocks xmlns:a="http://schemas.openxmlformats.org/drawingml/2006/main" noGrp="1"/>
          </p:cNvSpPr>
          <p:nvPr/>
        </p:nvSpPr>
        <p:spPr>
          <a:xfrm xmlns:a="http://schemas.openxmlformats.org/drawingml/2006/main">
            <a:off x="6610350" y="35909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Indikator ekonomi</a:t>
            </a:r>
          </a:p>
        </p:txBody>
      </p:sp>
      <p:sp>
        <p:nvSpPr>
          <p:cNvPr id="8" name="copy-7">
            <a:extLst xmlns:a="http://schemas.openxmlformats.org/drawingml/2006/main">
              <a:ext uri="{FF2B5EF4-FFF2-40B4-BE49-F238E27FC236}">
                <a16:creationId xmlns:a16="http://schemas.microsoft.com/office/drawing/2014/main" id="{743315AC-8B7D-44AD-904B-B51C75AE5401}"/>
              </a:ext>
            </a:extLst>
          </p:cNvPr>
          <p:cNvSpPr>
            <a:spLocks xmlns:a="http://schemas.openxmlformats.org/drawingml/2006/main" noGrp="1"/>
          </p:cNvSpPr>
          <p:nvPr/>
        </p:nvSpPr>
        <p:spPr>
          <a:xfrm xmlns:a="http://schemas.openxmlformats.org/drawingml/2006/main">
            <a:off x="6610350" y="4181475"/>
            <a:ext cx="4953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2922"/>
                </a:solidFill>
                <a:latin typeface="Franklin Gothic Book"/>
                <a:ea typeface="Franklin Gothic Book"/>
                <a:cs typeface="Franklin Gothic Book"/>
              </a:defRPr>
            </a:pPr>
            <a:r>
              <a:rPr sz="2025" b="0">
                <a:solidFill>
                  <a:srgbClr val="232922"/>
                </a:solidFill>
                <a:latin typeface="Franklin Gothic Book"/>
                <a:ea typeface="Franklin Gothic Book"/>
                <a:cs typeface="Franklin Gothic Book"/>
              </a:rPr>
              <a:t>Kontribusi setelah biaya promosi dan biaya tambahan, serta pembelian ulang dalam jangka observasi yang sama. Kenaikan omzet saja belum cukup untuk menilai keberhasilan.</a:t>
            </a:r>
          </a:p>
        </p:txBody>
      </p:sp>
    </p:spTree>
    <p:extLst>
      <p:ext uri="{BB962C8B-B14F-4D97-AF65-F5344CB8AC3E}">
        <p14:creationId xmlns:p14="http://schemas.microsoft.com/office/powerpoint/2010/main" val="965279169"/>
      </p:ext>
    </p:extLst>
  </p:cSld>
</p:sld>
</file>

<file path=ppt/slides/slide14.xml><?xml version="1.0" encoding="utf-8"?>
<p:sld xmlns:p="http://schemas.openxmlformats.org/presentationml/2006/main">
  <p:cSld>
    <p:bg>
      <p:bgPr>
        <a:solidFill xmlns:a="http://schemas.openxmlformats.org/drawingml/2006/main">
          <a:srgbClr val="232922"/>
        </a:solidFill>
      </p:bgPr>
    </p:bg>
    <p:spTree>
      <p:nvGrpSpPr>
        <p:cNvPr id="1" name=""/>
        <p:cNvGrpSpPr/>
        <p:nvPr/>
      </p:nvGrpSpPr>
      <p:grpSpPr>
        <a:xfrm xmlns:a="http://schemas.openxmlformats.org/drawingml/2006/main"/>
      </p:grpSpPr>
      <p:sp>
        <p:nvSpPr>
          <p:cNvPr id="7" name="copy-0">
            <a:extLst xmlns:a="http://schemas.openxmlformats.org/drawingml/2006/main">
              <a:ext uri="{FF2B5EF4-FFF2-40B4-BE49-F238E27FC236}">
                <a16:creationId xmlns:a16="http://schemas.microsoft.com/office/drawing/2014/main" id="{B2C326B5-13A0-4756-9C86-C1C6FCE25792}"/>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F4EFE5"/>
                </a:solidFill>
                <a:latin typeface="Garamond"/>
                <a:ea typeface="Garamond"/>
                <a:cs typeface="Garamond"/>
              </a:defRPr>
            </a:pPr>
            <a:r>
              <a:rPr sz="4050" b="0">
                <a:solidFill>
                  <a:srgbClr val="F4EFE5"/>
                </a:solidFill>
                <a:latin typeface="Garamond"/>
                <a:ea typeface="Garamond"/>
                <a:cs typeface="Garamond"/>
              </a:rPr>
              <a:t>Diskusi: kapasitas yang terbatas</a:t>
            </a:r>
          </a:p>
        </p:txBody>
      </p:sp>
      <p:sp>
        <p:nvSpPr>
          <p:cNvPr id="2" name="copy-1">
            <a:extLst xmlns:a="http://schemas.openxmlformats.org/drawingml/2006/main">
              <a:ext uri="{FF2B5EF4-FFF2-40B4-BE49-F238E27FC236}">
                <a16:creationId xmlns:a16="http://schemas.microsoft.com/office/drawing/2014/main" id="{CEB4453D-5777-4617-B21A-91F3F8AEAD30}"/>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F4EFE5"/>
                </a:solidFill>
                <a:latin typeface="Franklin Gothic Book"/>
                <a:ea typeface="Franklin Gothic Book"/>
                <a:cs typeface="Franklin Gothic Book"/>
              </a:defRPr>
            </a:pPr>
            <a:r>
              <a:rPr sz="1350" b="0">
                <a:solidFill>
                  <a:srgbClr val="F4EFE5"/>
                </a:solidFill>
                <a:latin typeface="Franklin Gothic Book"/>
                <a:ea typeface="Franklin Gothic Book"/>
                <a:cs typeface="Franklin Gothic Book"/>
              </a:rPr>
              <a:t>14</a:t>
            </a:r>
          </a:p>
        </p:txBody>
      </p:sp>
      <p:sp>
        <p:nvSpPr>
          <p:cNvPr id="3" name="copy-2">
            <a:extLst xmlns:a="http://schemas.openxmlformats.org/drawingml/2006/main">
              <a:ext uri="{FF2B5EF4-FFF2-40B4-BE49-F238E27FC236}">
                <a16:creationId xmlns:a16="http://schemas.microsoft.com/office/drawing/2014/main" id="{6F35AAE3-E440-422B-92EB-D94BF2FDEC05}"/>
              </a:ext>
            </a:extLst>
          </p:cNvPr>
          <p:cNvSpPr>
            <a:spLocks xmlns:a="http://schemas.openxmlformats.org/drawingml/2006/main" noGrp="1"/>
          </p:cNvSpPr>
          <p:nvPr/>
        </p:nvSpPr>
        <p:spPr>
          <a:xfrm xmlns:a="http://schemas.openxmlformats.org/drawingml/2006/main">
            <a:off x="6096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4EFE5"/>
                </a:solidFill>
                <a:latin typeface="Franklin Gothic Book"/>
                <a:ea typeface="Franklin Gothic Book"/>
                <a:cs typeface="Franklin Gothic Book"/>
              </a:defRPr>
            </a:pPr>
            <a:r>
              <a:rPr sz="1125" b="0">
                <a:solidFill>
                  <a:srgbClr val="F4EFE5"/>
                </a:solidFill>
                <a:latin typeface="Franklin Gothic Book"/>
                <a:ea typeface="Franklin Gothic Book"/>
                <a:cs typeface="Franklin Gothic Book"/>
              </a:rPr>
              <a:t>Skenario lanjutan fiktif. Diskusi kelompok 10 menit.</a:t>
            </a:r>
          </a:p>
        </p:txBody>
      </p:sp>
      <p:sp>
        <p:nvSpPr>
          <p:cNvPr id="4" name="copy-3">
            <a:extLst xmlns:a="http://schemas.openxmlformats.org/drawingml/2006/main">
              <a:ext uri="{FF2B5EF4-FFF2-40B4-BE49-F238E27FC236}">
                <a16:creationId xmlns:a16="http://schemas.microsoft.com/office/drawing/2014/main" id="{A00C85B4-2B0C-4F3C-9E56-2CC24F7C5959}"/>
              </a:ext>
            </a:extLst>
          </p:cNvPr>
          <p:cNvSpPr>
            <a:spLocks xmlns:a="http://schemas.openxmlformats.org/drawingml/2006/main" noGrp="1"/>
          </p:cNvSpPr>
          <p:nvPr/>
        </p:nvSpPr>
        <p:spPr>
          <a:xfrm xmlns:a="http://schemas.openxmlformats.org/drawingml/2006/main">
            <a:off x="609600" y="2009775"/>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F4EFE5"/>
                </a:solidFill>
                <a:latin typeface="Franklin Gothic Book"/>
                <a:ea typeface="Franklin Gothic Book"/>
                <a:cs typeface="Franklin Gothic Book"/>
              </a:defRPr>
            </a:pPr>
            <a:r>
              <a:rPr sz="2400" b="0">
                <a:solidFill>
                  <a:srgbClr val="F4EFE5"/>
                </a:solidFill>
                <a:latin typeface="Franklin Gothic Book"/>
                <a:ea typeface="Franklin Gothic Book"/>
                <a:cs typeface="Franklin Gothic Book"/>
              </a:rPr>
              <a:t>Layanan pesan ambil menarik pesanan tambahan, tetapi barista mulai terlambat memenuhi slot pada jam jeda. Pemilik ingin menambah diskon agar volume terus naik.</a:t>
            </a:r>
          </a:p>
        </p:txBody>
      </p:sp>
      <p:sp>
        <p:nvSpPr>
          <p:cNvPr id="5" name="copy-4">
            <a:extLst xmlns:a="http://schemas.openxmlformats.org/drawingml/2006/main">
              <a:ext uri="{FF2B5EF4-FFF2-40B4-BE49-F238E27FC236}">
                <a16:creationId xmlns:a16="http://schemas.microsoft.com/office/drawing/2014/main" id="{ABA5CE97-22A1-4C67-9DA1-A688CA561DBA}"/>
              </a:ext>
            </a:extLst>
          </p:cNvPr>
          <p:cNvSpPr>
            <a:spLocks xmlns:a="http://schemas.openxmlformats.org/drawingml/2006/main" noGrp="1"/>
          </p:cNvSpPr>
          <p:nvPr/>
        </p:nvSpPr>
        <p:spPr>
          <a:xfrm xmlns:a="http://schemas.openxmlformats.org/drawingml/2006/main">
            <a:off x="609600" y="37147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0">
                <a:solidFill>
                  <a:srgbClr val="F4EFE5"/>
                </a:solidFill>
                <a:latin typeface="Garamond"/>
                <a:ea typeface="Garamond"/>
                <a:cs typeface="Garamond"/>
              </a:defRPr>
            </a:pPr>
            <a:r>
              <a:rPr sz="4800" b="0">
                <a:solidFill>
                  <a:srgbClr val="F4EFE5"/>
                </a:solidFill>
                <a:latin typeface="Garamond"/>
                <a:ea typeface="Garamond"/>
                <a:cs typeface="Garamond"/>
              </a:rPr>
              <a:t>Apa keputusan pengelola?</a:t>
            </a:r>
          </a:p>
        </p:txBody>
      </p:sp>
      <p:sp>
        <p:nvSpPr>
          <p:cNvPr id="6" name="copy-5">
            <a:extLst xmlns:a="http://schemas.openxmlformats.org/drawingml/2006/main">
              <a:ext uri="{FF2B5EF4-FFF2-40B4-BE49-F238E27FC236}">
                <a16:creationId xmlns:a16="http://schemas.microsoft.com/office/drawing/2014/main" id="{ADD61B01-E759-45BE-BCB2-EC6F0DF5574E}"/>
              </a:ext>
            </a:extLst>
          </p:cNvPr>
          <p:cNvSpPr>
            <a:spLocks xmlns:a="http://schemas.openxmlformats.org/drawingml/2006/main" noGrp="1"/>
          </p:cNvSpPr>
          <p:nvPr/>
        </p:nvSpPr>
        <p:spPr>
          <a:xfrm xmlns:a="http://schemas.openxmlformats.org/drawingml/2006/main">
            <a:off x="609600" y="48672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EFE5"/>
                </a:solidFill>
                <a:latin typeface="Franklin Gothic Book"/>
                <a:ea typeface="Franklin Gothic Book"/>
                <a:cs typeface="Franklin Gothic Book"/>
              </a:defRPr>
            </a:pPr>
            <a:r>
              <a:rPr sz="2175" b="0">
                <a:solidFill>
                  <a:srgbClr val="F4EFE5"/>
                </a:solidFill>
                <a:latin typeface="Franklin Gothic Book"/>
                <a:ea typeface="Franklin Gothic Book"/>
                <a:cs typeface="Franklin Gothic Book"/>
              </a:rPr>
              <a:t>Tentukan satu tindakan, dua data yang diperlukan, dan risiko yang harus diawasi. Jelaskan apakah keputusan tersebut tetap mendukung janji waktu kepada pelanggan.</a:t>
            </a:r>
          </a:p>
        </p:txBody>
      </p:sp>
    </p:spTree>
    <p:extLst>
      <p:ext uri="{BB962C8B-B14F-4D97-AF65-F5344CB8AC3E}">
        <p14:creationId xmlns:p14="http://schemas.microsoft.com/office/powerpoint/2010/main" val="1077349383"/>
      </p:ext>
    </p:extLst>
  </p:cSld>
</p:sld>
</file>

<file path=ppt/slides/slide15.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7" name="copy-0">
            <a:extLst xmlns:a="http://schemas.openxmlformats.org/drawingml/2006/main">
              <a:ext uri="{FF2B5EF4-FFF2-40B4-BE49-F238E27FC236}">
                <a16:creationId xmlns:a16="http://schemas.microsoft.com/office/drawing/2014/main" id="{10C7098D-A7E4-4C2F-B302-B2651E81028F}"/>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Rangkuman keputusan pemasaran</a:t>
            </a:r>
          </a:p>
        </p:txBody>
      </p:sp>
      <p:sp>
        <p:nvSpPr>
          <p:cNvPr id="2" name="copy-1">
            <a:extLst xmlns:a="http://schemas.openxmlformats.org/drawingml/2006/main">
              <a:ext uri="{FF2B5EF4-FFF2-40B4-BE49-F238E27FC236}">
                <a16:creationId xmlns:a16="http://schemas.microsoft.com/office/drawing/2014/main" id="{3530E148-2F0A-432F-8BE5-6E7F21B89532}"/>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15</a:t>
            </a:r>
          </a:p>
        </p:txBody>
      </p:sp>
      <p:sp>
        <p:nvSpPr>
          <p:cNvPr id="3" name="copy-2">
            <a:extLst xmlns:a="http://schemas.openxmlformats.org/drawingml/2006/main">
              <a:ext uri="{FF2B5EF4-FFF2-40B4-BE49-F238E27FC236}">
                <a16:creationId xmlns:a16="http://schemas.microsoft.com/office/drawing/2014/main" id="{396C9079-4A14-4565-9538-29A921EAC661}"/>
              </a:ext>
            </a:extLst>
          </p:cNvPr>
          <p:cNvSpPr>
            <a:spLocks xmlns:a="http://schemas.openxmlformats.org/drawingml/2006/main" noGrp="1"/>
          </p:cNvSpPr>
          <p:nvPr/>
        </p:nvSpPr>
        <p:spPr>
          <a:xfrm xmlns:a="http://schemas.openxmlformats.org/drawingml/2006/main">
            <a:off x="609600" y="20383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0">
                <a:solidFill>
                  <a:srgbClr val="AD442F"/>
                </a:solidFill>
                <a:latin typeface="Garamond"/>
                <a:ea typeface="Garamond"/>
                <a:cs typeface="Garamond"/>
              </a:defRPr>
            </a:pPr>
            <a:r>
              <a:rPr sz="4875" b="0">
                <a:solidFill>
                  <a:srgbClr val="AD442F"/>
                </a:solidFill>
                <a:latin typeface="Garamond"/>
                <a:ea typeface="Garamond"/>
                <a:cs typeface="Garamond"/>
              </a:rPr>
              <a:t>Kebutuhan pelanggan</a:t>
            </a:r>
          </a:p>
          <a:p xmlns:a="http://schemas.openxmlformats.org/drawingml/2006/main">
            <a:pPr>
              <a:defRPr sz="4875" b="0">
                <a:solidFill>
                  <a:srgbClr val="AD442F"/>
                </a:solidFill>
                <a:latin typeface="Garamond"/>
                <a:ea typeface="Garamond"/>
                <a:cs typeface="Garamond"/>
              </a:defRPr>
            </a:pPr>
            <a:r>
              <a:rPr sz="4875" b="0">
                <a:solidFill>
                  <a:srgbClr val="AD442F"/>
                </a:solidFill>
                <a:latin typeface="Garamond"/>
                <a:ea typeface="Garamond"/>
                <a:cs typeface="Garamond"/>
              </a:rPr>
              <a:t>mengarahkan pilihan strategi</a:t>
            </a:r>
          </a:p>
        </p:txBody>
      </p:sp>
      <p:sp>
        <p:nvSpPr>
          <p:cNvPr id="4" name="copy-3">
            <a:extLst xmlns:a="http://schemas.openxmlformats.org/drawingml/2006/main">
              <a:ext uri="{FF2B5EF4-FFF2-40B4-BE49-F238E27FC236}">
                <a16:creationId xmlns:a16="http://schemas.microsoft.com/office/drawing/2014/main" id="{C3CBA290-60DF-479C-B617-F522A86C6D12}"/>
              </a:ext>
            </a:extLst>
          </p:cNvPr>
          <p:cNvSpPr>
            <a:spLocks xmlns:a="http://schemas.openxmlformats.org/drawingml/2006/main" noGrp="1"/>
          </p:cNvSpPr>
          <p:nvPr/>
        </p:nvSpPr>
        <p:spPr>
          <a:xfrm xmlns:a="http://schemas.openxmlformats.org/drawingml/2006/main">
            <a:off x="609600" y="3876675"/>
            <a:ext cx="67151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32922"/>
                </a:solidFill>
                <a:latin typeface="Franklin Gothic Book"/>
                <a:ea typeface="Franklin Gothic Book"/>
                <a:cs typeface="Franklin Gothic Book"/>
              </a:defRPr>
            </a:pPr>
            <a:r>
              <a:rPr sz="2100" b="0">
                <a:solidFill>
                  <a:srgbClr val="232922"/>
                </a:solidFill>
                <a:latin typeface="Franklin Gothic Book"/>
                <a:ea typeface="Franklin Gothic Book"/>
                <a:cs typeface="Franklin Gothic Book"/>
              </a:rPr>
              <a:t>Diagnosis menentukan masalah yang layak dipecahkan. Segmentasi dan target membantu pengelola memilih kebutuhan yang dapat dilayani. Positioning menetapkan manfaat yang dijanjikan, sedangkan bauran pemasaran membuat janji tersebut hadir dalam penawaran dan pengalaman.</a:t>
            </a:r>
          </a:p>
        </p:txBody>
      </p:sp>
      <p:sp>
        <p:nvSpPr>
          <p:cNvPr id="5" name="copy-4">
            <a:extLst xmlns:a="http://schemas.openxmlformats.org/drawingml/2006/main">
              <a:ext uri="{FF2B5EF4-FFF2-40B4-BE49-F238E27FC236}">
                <a16:creationId xmlns:a16="http://schemas.microsoft.com/office/drawing/2014/main" id="{0BDA880D-4DA9-4DC9-9340-EE3AD0888929}"/>
              </a:ext>
            </a:extLst>
          </p:cNvPr>
          <p:cNvSpPr>
            <a:spLocks xmlns:a="http://schemas.openxmlformats.org/drawingml/2006/main" noGrp="1"/>
          </p:cNvSpPr>
          <p:nvPr/>
        </p:nvSpPr>
        <p:spPr>
          <a:xfrm xmlns:a="http://schemas.openxmlformats.org/drawingml/2006/main">
            <a:off x="8153400" y="39624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AD442F"/>
                </a:solidFill>
                <a:latin typeface="Garamond"/>
                <a:ea typeface="Garamond"/>
                <a:cs typeface="Garamond"/>
              </a:defRPr>
            </a:pPr>
            <a:r>
              <a:rPr sz="2550" b="0">
                <a:solidFill>
                  <a:srgbClr val="AD442F"/>
                </a:solidFill>
                <a:latin typeface="Garamond"/>
                <a:ea typeface="Garamond"/>
                <a:cs typeface="Garamond"/>
              </a:rPr>
              <a:t>Tugas mandiri</a:t>
            </a:r>
          </a:p>
        </p:txBody>
      </p:sp>
      <p:sp>
        <p:nvSpPr>
          <p:cNvPr id="6" name="copy-5">
            <a:extLst xmlns:a="http://schemas.openxmlformats.org/drawingml/2006/main">
              <a:ext uri="{FF2B5EF4-FFF2-40B4-BE49-F238E27FC236}">
                <a16:creationId xmlns:a16="http://schemas.microsoft.com/office/drawing/2014/main" id="{7ECC9E36-79B6-4BA0-9B65-347AC7870F9E}"/>
              </a:ext>
            </a:extLst>
          </p:cNvPr>
          <p:cNvSpPr>
            <a:spLocks xmlns:a="http://schemas.openxmlformats.org/drawingml/2006/main" noGrp="1"/>
          </p:cNvSpPr>
          <p:nvPr/>
        </p:nvSpPr>
        <p:spPr>
          <a:xfrm xmlns:a="http://schemas.openxmlformats.org/drawingml/2006/main">
            <a:off x="8153400" y="45624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32922"/>
                </a:solidFill>
                <a:latin typeface="Franklin Gothic Book"/>
                <a:ea typeface="Franklin Gothic Book"/>
                <a:cs typeface="Franklin Gothic Book"/>
              </a:defRPr>
            </a:pPr>
            <a:r>
              <a:rPr sz="1875" b="0">
                <a:solidFill>
                  <a:srgbClr val="232922"/>
                </a:solidFill>
                <a:latin typeface="Franklin Gothic Book"/>
                <a:ea typeface="Franklin Gothic Book"/>
                <a:cs typeface="Franklin Gothic Book"/>
              </a:rPr>
              <a:t>Pilih satu usaha lokal. Susun audit satu halaman tentang target, janji manfaat, dan konsistensi baurannya. Pisahkan hasil observasi dari asumsi Anda.</a:t>
            </a:r>
          </a:p>
        </p:txBody>
      </p:sp>
    </p:spTree>
    <p:extLst>
      <p:ext uri="{BB962C8B-B14F-4D97-AF65-F5344CB8AC3E}">
        <p14:creationId xmlns:p14="http://schemas.microsoft.com/office/powerpoint/2010/main" val="1083727985"/>
      </p:ext>
    </p:extLst>
  </p:cSld>
</p:sld>
</file>

<file path=ppt/slides/slide16.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7" name="copy-0">
            <a:extLst xmlns:a="http://schemas.openxmlformats.org/drawingml/2006/main">
              <a:ext uri="{FF2B5EF4-FFF2-40B4-BE49-F238E27FC236}">
                <a16:creationId xmlns:a16="http://schemas.microsoft.com/office/drawing/2014/main" id="{A55DCC33-BD78-4400-A520-EE536F93A58D}"/>
              </a:ext>
            </a:extLst>
          </p:cNvPr>
          <p:cNvSpPr>
            <a:spLocks xmlns:a="http://schemas.openxmlformats.org/drawingml/2006/main" noGrp="1"/>
          </p:cNvSpPr>
          <p:nvPr/>
        </p:nvSpPr>
        <p:spPr>
          <a:xfrm xmlns:a="http://schemas.openxmlformats.org/drawingml/2006/main">
            <a:off x="609600" y="8191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a:solidFill>
                  <a:srgbClr val="232922"/>
                </a:solidFill>
                <a:latin typeface="Garamond"/>
                <a:ea typeface="Garamond"/>
                <a:cs typeface="Garamond"/>
              </a:defRPr>
            </a:pPr>
            <a:r>
              <a:rPr sz="4050" b="0">
                <a:solidFill>
                  <a:srgbClr val="232922"/>
                </a:solidFill>
                <a:latin typeface="Garamond"/>
                <a:ea typeface="Garamond"/>
                <a:cs typeface="Garamond"/>
              </a:rPr>
              <a:t>Bacaan dan batasan kasus</a:t>
            </a:r>
          </a:p>
        </p:txBody>
      </p:sp>
      <p:sp>
        <p:nvSpPr>
          <p:cNvPr id="2" name="copy-1">
            <a:extLst xmlns:a="http://schemas.openxmlformats.org/drawingml/2006/main">
              <a:ext uri="{FF2B5EF4-FFF2-40B4-BE49-F238E27FC236}">
                <a16:creationId xmlns:a16="http://schemas.microsoft.com/office/drawing/2014/main" id="{4FEB514E-BB03-4A2F-BF47-E226FAE19B7D}"/>
              </a:ext>
            </a:extLst>
          </p:cNvPr>
          <p:cNvSpPr>
            <a:spLocks xmlns:a="http://schemas.openxmlformats.org/drawingml/2006/main" noGrp="1"/>
          </p:cNvSpPr>
          <p:nvPr/>
        </p:nvSpPr>
        <p:spPr>
          <a:xfrm xmlns:a="http://schemas.openxmlformats.org/drawingml/2006/main">
            <a:off x="11049000"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232922"/>
                </a:solidFill>
                <a:latin typeface="Franklin Gothic Book"/>
                <a:ea typeface="Franklin Gothic Book"/>
                <a:cs typeface="Franklin Gothic Book"/>
              </a:defRPr>
            </a:pPr>
            <a:r>
              <a:rPr sz="1350" b="0">
                <a:solidFill>
                  <a:srgbClr val="232922"/>
                </a:solidFill>
                <a:latin typeface="Franklin Gothic Book"/>
                <a:ea typeface="Franklin Gothic Book"/>
                <a:cs typeface="Franklin Gothic Book"/>
              </a:rPr>
              <a:t>16</a:t>
            </a:r>
          </a:p>
        </p:txBody>
      </p:sp>
      <p:sp>
        <p:nvSpPr>
          <p:cNvPr id="3" name="copy-2">
            <a:extLst xmlns:a="http://schemas.openxmlformats.org/drawingml/2006/main">
              <a:ext uri="{FF2B5EF4-FFF2-40B4-BE49-F238E27FC236}">
                <a16:creationId xmlns:a16="http://schemas.microsoft.com/office/drawing/2014/main" id="{F6A719AF-EC87-43DD-A456-BB5BD78BAA52}"/>
              </a:ext>
            </a:extLst>
          </p:cNvPr>
          <p:cNvSpPr>
            <a:spLocks xmlns:a="http://schemas.openxmlformats.org/drawingml/2006/main" noGrp="1"/>
          </p:cNvSpPr>
          <p:nvPr/>
        </p:nvSpPr>
        <p:spPr>
          <a:xfrm xmlns:a="http://schemas.openxmlformats.org/drawingml/2006/main">
            <a:off x="609600" y="1971675"/>
            <a:ext cx="1071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32922"/>
                </a:solidFill>
                <a:latin typeface="Franklin Gothic Book"/>
                <a:ea typeface="Franklin Gothic Book"/>
                <a:cs typeface="Franklin Gothic Book"/>
              </a:defRPr>
            </a:pPr>
            <a:r>
              <a:rPr sz="1725" b="0">
                <a:solidFill>
                  <a:srgbClr val="232922"/>
                </a:solidFill>
                <a:latin typeface="Franklin Gothic Book"/>
                <a:ea typeface="Franklin Gothic Book"/>
                <a:cs typeface="Franklin Gothic Book"/>
              </a:rPr>
              <a:t>American Marketing Association</a:t>
            </a:r>
          </a:p>
          <a:p xmlns:a="http://schemas.openxmlformats.org/drawingml/2006/main">
            <a:pPr>
              <a:defRPr sz="1725" b="0">
                <a:solidFill>
                  <a:srgbClr val="232922"/>
                </a:solidFill>
                <a:latin typeface="Franklin Gothic Book"/>
                <a:ea typeface="Franklin Gothic Book"/>
                <a:cs typeface="Franklin Gothic Book"/>
              </a:defRPr>
            </a:pPr>
            <a:r>
              <a:rPr sz="1725" b="0">
                <a:solidFill>
                  <a:srgbClr val="232922"/>
                </a:solidFill>
                <a:latin typeface="Franklin Gothic Book"/>
                <a:ea typeface="Franklin Gothic Book"/>
                <a:cs typeface="Franklin Gothic Book"/>
              </a:rPr>
              <a:t>Definition of Marketing</a:t>
            </a:r>
          </a:p>
          <a:p xmlns:a="http://schemas.openxmlformats.org/drawingml/2006/main">
            <a:pPr>
              <a:defRPr sz="1725" b="0">
                <a:solidFill>
                  <a:srgbClr val="232922"/>
                </a:solidFill>
                <a:latin typeface="Franklin Gothic Book"/>
                <a:ea typeface="Franklin Gothic Book"/>
                <a:cs typeface="Franklin Gothic Book"/>
              </a:defRPr>
            </a:pPr>
            <a:r>
              <a:rPr sz="1725" b="0">
                <a:solidFill>
                  <a:srgbClr val="232922"/>
                </a:solidFill>
                <a:latin typeface="Franklin Gothic Book"/>
                <a:ea typeface="Franklin Gothic Book"/>
                <a:cs typeface="Franklin Gothic Book"/>
              </a:rPr>
              <a:t>https://www.ama.org/the-definition-of-marketing-what-is-marketing/</a:t>
            </a:r>
          </a:p>
        </p:txBody>
      </p:sp>
      <p:sp>
        <p:nvSpPr>
          <p:cNvPr id="4" name="copy-3">
            <a:extLst xmlns:a="http://schemas.openxmlformats.org/drawingml/2006/main">
              <a:ext uri="{FF2B5EF4-FFF2-40B4-BE49-F238E27FC236}">
                <a16:creationId xmlns:a16="http://schemas.microsoft.com/office/drawing/2014/main" id="{F857FE7F-F3ED-4884-9EEA-242D06F454AF}"/>
              </a:ext>
            </a:extLst>
          </p:cNvPr>
          <p:cNvSpPr>
            <a:spLocks xmlns:a="http://schemas.openxmlformats.org/drawingml/2006/main" noGrp="1"/>
          </p:cNvSpPr>
          <p:nvPr/>
        </p:nvSpPr>
        <p:spPr>
          <a:xfrm xmlns:a="http://schemas.openxmlformats.org/drawingml/2006/main">
            <a:off x="609600" y="3000375"/>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32922"/>
                </a:solidFill>
                <a:latin typeface="Franklin Gothic Book"/>
                <a:ea typeface="Franklin Gothic Book"/>
                <a:cs typeface="Franklin Gothic Book"/>
              </a:defRPr>
            </a:pPr>
            <a:r>
              <a:rPr sz="1650" b="0">
                <a:solidFill>
                  <a:srgbClr val="232922"/>
                </a:solidFill>
                <a:latin typeface="Franklin Gothic Book"/>
                <a:ea typeface="Franklin Gothic Book"/>
                <a:cs typeface="Franklin Gothic Book"/>
              </a:rPr>
              <a:t>VCU Libraries, Marketing Principles From The River City</a:t>
            </a:r>
          </a:p>
          <a:p xmlns:a="http://schemas.openxmlformats.org/drawingml/2006/main">
            <a:pPr>
              <a:defRPr sz="1650" b="0">
                <a:solidFill>
                  <a:srgbClr val="232922"/>
                </a:solidFill>
                <a:latin typeface="Franklin Gothic Book"/>
                <a:ea typeface="Franklin Gothic Book"/>
                <a:cs typeface="Franklin Gothic Book"/>
              </a:defRPr>
            </a:pPr>
            <a:r>
              <a:rPr sz="1650" b="0">
                <a:solidFill>
                  <a:srgbClr val="232922"/>
                </a:solidFill>
                <a:latin typeface="Franklin Gothic Book"/>
                <a:ea typeface="Franklin Gothic Book"/>
                <a:cs typeface="Franklin Gothic Book"/>
              </a:rPr>
              <a:t>Bab 7: Segmentation, Targeting, and Positioning</a:t>
            </a:r>
          </a:p>
          <a:p xmlns:a="http://schemas.openxmlformats.org/drawingml/2006/main">
            <a:pPr>
              <a:defRPr sz="1650" b="0">
                <a:solidFill>
                  <a:srgbClr val="232922"/>
                </a:solidFill>
                <a:latin typeface="Franklin Gothic Book"/>
                <a:ea typeface="Franklin Gothic Book"/>
                <a:cs typeface="Franklin Gothic Book"/>
              </a:defRPr>
            </a:pPr>
            <a:r>
              <a:rPr sz="1650" b="0">
                <a:solidFill>
                  <a:srgbClr val="232922"/>
                </a:solidFill>
                <a:latin typeface="Franklin Gothic Book"/>
                <a:ea typeface="Franklin Gothic Book"/>
                <a:cs typeface="Franklin Gothic Book"/>
              </a:rPr>
              <a:t>https://pressbooks.library.vcu.edu/marketingprinciples/chapter/chapter-7-segmentation-targeting-and-positioning/</a:t>
            </a:r>
          </a:p>
        </p:txBody>
      </p:sp>
      <p:sp>
        <p:nvSpPr>
          <p:cNvPr id="5" name="copy-4">
            <a:extLst xmlns:a="http://schemas.openxmlformats.org/drawingml/2006/main">
              <a:ext uri="{FF2B5EF4-FFF2-40B4-BE49-F238E27FC236}">
                <a16:creationId xmlns:a16="http://schemas.microsoft.com/office/drawing/2014/main" id="{E679B55A-E69B-4297-9F4F-B35BD359901F}"/>
              </a:ext>
            </a:extLst>
          </p:cNvPr>
          <p:cNvSpPr>
            <a:spLocks xmlns:a="http://schemas.openxmlformats.org/drawingml/2006/main" noGrp="1"/>
          </p:cNvSpPr>
          <p:nvPr/>
        </p:nvSpPr>
        <p:spPr>
          <a:xfrm xmlns:a="http://schemas.openxmlformats.org/drawingml/2006/main">
            <a:off x="609600" y="4095750"/>
            <a:ext cx="10715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32922"/>
                </a:solidFill>
                <a:latin typeface="Franklin Gothic Book"/>
                <a:ea typeface="Franklin Gothic Book"/>
                <a:cs typeface="Franklin Gothic Book"/>
              </a:defRPr>
            </a:pPr>
            <a:r>
              <a:rPr sz="1725" b="0">
                <a:solidFill>
                  <a:srgbClr val="232922"/>
                </a:solidFill>
                <a:latin typeface="Franklin Gothic Book"/>
                <a:ea typeface="Franklin Gothic Book"/>
                <a:cs typeface="Franklin Gothic Book"/>
              </a:rPr>
              <a:t>OpenStax, Principles of Marketing</a:t>
            </a:r>
          </a:p>
          <a:p xmlns:a="http://schemas.openxmlformats.org/drawingml/2006/main">
            <a:pPr>
              <a:defRPr sz="1725" b="0">
                <a:solidFill>
                  <a:srgbClr val="232922"/>
                </a:solidFill>
                <a:latin typeface="Franklin Gothic Book"/>
                <a:ea typeface="Franklin Gothic Book"/>
                <a:cs typeface="Franklin Gothic Book"/>
              </a:defRPr>
            </a:pPr>
            <a:r>
              <a:rPr sz="1725" b="0">
                <a:solidFill>
                  <a:srgbClr val="232922"/>
                </a:solidFill>
                <a:latin typeface="Franklin Gothic Book"/>
                <a:ea typeface="Franklin Gothic Book"/>
                <a:cs typeface="Franklin Gothic Book"/>
              </a:rPr>
              <a:t>§1.2 Marketing Mix, §2.3 Marketing Plan, §5.6 Product Positioning</a:t>
            </a:r>
          </a:p>
          <a:p xmlns:a="http://schemas.openxmlformats.org/drawingml/2006/main">
            <a:pPr>
              <a:defRPr sz="1725" b="0">
                <a:solidFill>
                  <a:srgbClr val="232922"/>
                </a:solidFill>
                <a:latin typeface="Franklin Gothic Book"/>
                <a:ea typeface="Franklin Gothic Book"/>
                <a:cs typeface="Franklin Gothic Book"/>
              </a:defRPr>
            </a:pPr>
            <a:r>
              <a:rPr sz="1725" b="0">
                <a:solidFill>
                  <a:srgbClr val="232922"/>
                </a:solidFill>
                <a:latin typeface="Franklin Gothic Book"/>
                <a:ea typeface="Franklin Gothic Book"/>
                <a:cs typeface="Franklin Gothic Book"/>
              </a:rPr>
              <a:t>openstax.org/books/principles-marketing</a:t>
            </a:r>
          </a:p>
        </p:txBody>
      </p:sp>
      <p:sp>
        <p:nvSpPr>
          <p:cNvPr id="6" name="copy-5">
            <a:extLst xmlns:a="http://schemas.openxmlformats.org/drawingml/2006/main">
              <a:ext uri="{FF2B5EF4-FFF2-40B4-BE49-F238E27FC236}">
                <a16:creationId xmlns:a16="http://schemas.microsoft.com/office/drawing/2014/main" id="{A3CACC18-71C7-44A1-A47D-3CE1689C4D76}"/>
              </a:ext>
            </a:extLst>
          </p:cNvPr>
          <p:cNvSpPr>
            <a:spLocks xmlns:a="http://schemas.openxmlformats.org/drawingml/2006/main" noGrp="1"/>
          </p:cNvSpPr>
          <p:nvPr/>
        </p:nvSpPr>
        <p:spPr>
          <a:xfrm xmlns:a="http://schemas.openxmlformats.org/drawingml/2006/main">
            <a:off x="609600" y="525780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AD442F"/>
                </a:solidFill>
                <a:latin typeface="Franklin Gothic Book"/>
                <a:ea typeface="Franklin Gothic Book"/>
                <a:cs typeface="Franklin Gothic Book"/>
              </a:defRPr>
            </a:pPr>
            <a:r>
              <a:rPr sz="1725" b="0">
                <a:solidFill>
                  <a:srgbClr val="AD442F"/>
                </a:solidFill>
                <a:latin typeface="Franklin Gothic Book"/>
                <a:ea typeface="Franklin Gothic Book"/>
                <a:cs typeface="Franklin Gothic Book"/>
              </a:rPr>
              <a:t>Kopi Sela adalah kasus fiktif. Semua angka dan keputusan kasus merupakan simulasi pembelajaran, bukan hasil riset pasar atau laporan bisnis nyata.</a:t>
            </a:r>
          </a:p>
        </p:txBody>
      </p:sp>
    </p:spTree>
    <p:extLst>
      <p:ext uri="{BB962C8B-B14F-4D97-AF65-F5344CB8AC3E}">
        <p14:creationId xmlns:p14="http://schemas.microsoft.com/office/powerpoint/2010/main" val="1249590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2026-09-26T14:12:45.4520000Z</dcterms:created>
  <dcterms:modified xsi:type="dcterms:W3CDTF">2026-09-26T14:12:45.4520000Z</dcterms:modified>
</coreProperties>
</file>