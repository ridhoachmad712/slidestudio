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536645a02c4b2a" /><Relationship Type="http://schemas.openxmlformats.org/officeDocument/2006/relationships/extended-properties" Target="/docProps/app.xml" Id="R7680591f71b145ae" /><Relationship Type="http://schemas.openxmlformats.org/officeDocument/2006/relationships/officeDocument" Target="/ppt/presentation.xml" Id="R4c0574f5f4d549b4" /></Relationships>
</file>

<file path=ppt/presentation.xml><?xml version="1.0" encoding="utf-8"?>
<p:presentation xmlns:p="http://schemas.openxmlformats.org/presentationml/2006/main">
  <p:sldMasterIdLst>
    <p:sldMasterId xmlns:r="http://schemas.openxmlformats.org/officeDocument/2006/relationships" id="2147483648" r:id="R8a6daf2410cd458a"/>
  </p:sldMasterIdLst>
  <p:notesMasterIdLst>
    <p:notesMasterId xmlns:r="http://schemas.openxmlformats.org/officeDocument/2006/relationships" r:id="R8ddcc768c1ef4371"/>
  </p:notesMasterIdLst>
  <p:sldIdLst>
    <p:sldId xmlns:r="http://schemas.openxmlformats.org/officeDocument/2006/relationships" id="256" r:id="Rbf0ec93dd9864acf"/>
    <p:sldId xmlns:r="http://schemas.openxmlformats.org/officeDocument/2006/relationships" id="257" r:id="R88803b1af72e4225"/>
    <p:sldId xmlns:r="http://schemas.openxmlformats.org/officeDocument/2006/relationships" id="258" r:id="Rb22ad0ea9c904c1a"/>
    <p:sldId xmlns:r="http://schemas.openxmlformats.org/officeDocument/2006/relationships" id="259" r:id="R7cc76a748c294192"/>
    <p:sldId xmlns:r="http://schemas.openxmlformats.org/officeDocument/2006/relationships" id="260" r:id="R296947a527be4983"/>
    <p:sldId xmlns:r="http://schemas.openxmlformats.org/officeDocument/2006/relationships" id="261" r:id="Re396bec0b9c242ce"/>
    <p:sldId xmlns:r="http://schemas.openxmlformats.org/officeDocument/2006/relationships" id="262" r:id="Raba7d6f74c714c9b"/>
    <p:sldId xmlns:r="http://schemas.openxmlformats.org/officeDocument/2006/relationships" id="263" r:id="R3827f70c839440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a6462b5b524e4d" /><Relationship Type="http://schemas.openxmlformats.org/officeDocument/2006/relationships/slideMaster" Target="/ppt/slideMasters/slideMaster1.xml" Id="R8a6daf2410cd458a" /><Relationship Type="http://schemas.openxmlformats.org/officeDocument/2006/relationships/notesMaster" Target="/ppt/notesMasters/notesMaster1.xml" Id="R8ddcc768c1ef4371" /><Relationship Type="http://schemas.openxmlformats.org/officeDocument/2006/relationships/presProps" Target="/ppt/presProps.xml" Id="R7707fa9f86964539" /><Relationship Type="http://schemas.openxmlformats.org/officeDocument/2006/relationships/tableStyles" Target="/ppt/tableStyles.xml" Id="Rc083877120a44baf" /><Relationship Type="http://schemas.openxmlformats.org/officeDocument/2006/relationships/slide" Target="/ppt/slides/slide1.xml" Id="Rbf0ec93dd9864acf" /><Relationship Type="http://schemas.openxmlformats.org/officeDocument/2006/relationships/slide" Target="/ppt/slides/slide2.xml" Id="R88803b1af72e4225" /><Relationship Type="http://schemas.openxmlformats.org/officeDocument/2006/relationships/slide" Target="/ppt/slides/slide3.xml" Id="Rb22ad0ea9c904c1a" /><Relationship Type="http://schemas.openxmlformats.org/officeDocument/2006/relationships/slide" Target="/ppt/slides/slide4.xml" Id="R7cc76a748c294192" /><Relationship Type="http://schemas.openxmlformats.org/officeDocument/2006/relationships/slide" Target="/ppt/slides/slide5.xml" Id="R296947a527be4983" /><Relationship Type="http://schemas.openxmlformats.org/officeDocument/2006/relationships/slide" Target="/ppt/slides/slide6.xml" Id="Re396bec0b9c242ce" /><Relationship Type="http://schemas.openxmlformats.org/officeDocument/2006/relationships/slide" Target="/ppt/slides/slide7.xml" Id="Raba7d6f74c714c9b" /><Relationship Type="http://schemas.openxmlformats.org/officeDocument/2006/relationships/slide" Target="/ppt/slides/slide8.xml" Id="R3827f70c839440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5983f330ec4c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497da043bc4d62" /><Relationship Type="http://schemas.openxmlformats.org/officeDocument/2006/relationships/notesMaster" Target="/ppt/notesMasters/notesMaster1.xml" Id="R6b40112a112642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297ac6aca64d18" /><Relationship Type="http://schemas.openxmlformats.org/officeDocument/2006/relationships/notesMaster" Target="/ppt/notesMasters/notesMaster1.xml" Id="R8f6fcb986e3441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ceee0de6cd49c3" /><Relationship Type="http://schemas.openxmlformats.org/officeDocument/2006/relationships/notesMaster" Target="/ppt/notesMasters/notesMaster1.xml" Id="Rdecd69b37af945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06eeda8c224495" /><Relationship Type="http://schemas.openxmlformats.org/officeDocument/2006/relationships/notesMaster" Target="/ppt/notesMasters/notesMaster1.xml" Id="R09903f1087cf43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ed9936c2a04b79" /><Relationship Type="http://schemas.openxmlformats.org/officeDocument/2006/relationships/notesMaster" Target="/ppt/notesMasters/notesMaster1.xml" Id="R17174733f7c94c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e72bd062f64661" /><Relationship Type="http://schemas.openxmlformats.org/officeDocument/2006/relationships/notesMaster" Target="/ppt/notesMasters/notesMaster1.xml" Id="R14d45577f19943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97bdd9d55f4632" /><Relationship Type="http://schemas.openxmlformats.org/officeDocument/2006/relationships/notesMaster" Target="/ppt/notesMasters/notesMaster1.xml" Id="Rc1549520313a4e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e628d3f5b9422c" /><Relationship Type="http://schemas.openxmlformats.org/officeDocument/2006/relationships/notesMaster" Target="/ppt/notesMasters/notesMaster1.xml" Id="R19c5b8c92e79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Pertemuan sekitar 30–40 menit. Tujuan: mengoperasionalkan variabel, membedakan observasi dan eksperimen, serta menilai perancu dan batas kesimpulan. Kasus merupakan latihan hipotetis, bukan penelitian yang telah dilaksanakan.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Kasus menanyakan hubungan durasi belajar mandiri dengan skor kuis. Durasi dioperasionalkan sebagai jam yang dilaporkan selama tujuh hari, hasil sebagai skor 0–100. Bahas kemungkinan salah ingat dan perbedaan tafsir belajar mandiri. Pertanyaan hubungan belum merupakan klaim sebab-akibat.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Tanyakan apakah peneliti menentukan perlakuan. Bila hanya mencatat kondisi yang terjadi, rancangan bersifat observasional; bila menetapkan kondisi perlakuan, rancangan berupa eksperimen. Tidak semua eksperimen memakai penugasan acak. Alur ini adalah pengantar, bukan protokol lengkap. Rujukan: OpenStax, Introductory Statistics 2e, 1.4 Experimental Design and Ethics.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Sampling menentukan peserta, sedangkan penugasan menentukan perlakuan dalam eksperimen. Penugasan acak mendukung penilaian sebab-akibat bila pelaksanaan dan analisis tepat, tetapi tidak otomatis membuat sampel mewakili populasi. Minta mahasiswa memberi contoh kelompok yang mudah dijangkau namun tidak representatif.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Kemampuan awal dapat memengaruhi durasi belajar dan skor, sehingga merupakan calon perancu. Mahasiswa boleh mengusulkan motivasi, jadwal, atau akses materi, dengan alasan yang jelas. Faktor tersebut belum terbukti pada kasus ini; perlu informasi tambahan. Rujukan konsep perancu: OpenStax, Introductory Statistics 2e, bagian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ini hanya latihan kelas. Tanyakan cara menyamakan definisi dan menguji pertanyaan sebelum pengumpulan data. Bedakan respons tidak lengkap dari nilai nol. Untuk pelaksanaan nyata, dosen perlu meninjau kelayakan, persetujuan yang diperlukan, kerahasiaan, dan pengelolaan data sesuai konteks institusi.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Jawaban: klaim sebab-akibat terlalu kuat karena peneliti hanya melakukan observasi. Informasi tambahan dapat berupa kemampuan awal, cara memilih peserta, atau ketepatan pelaporan durasi. Contoh revisi: penelitian ini dirancang untuk menilai hubungan durasi belajar dan skor; hasilnya belum tersedia. Rubrik: mengenali rancangan 30%, batas klaim 30%, perbaikan 30%, kejelasan asumsi 10%. Jangan mengarang hasil survei.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Hubungkan definisi variabel slide 2, pemilihan rancangan slide 3–4, dan perancu slide 5 dengan kritik pada slide 7. Bacaan: https://openstax.org/books/introductory-statistics-2e/pages/1-4-experimental-design-and-ethics. Contoh tidak menggantikan peninjauan rancangan penelitian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fd4213a7d54b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6ed8a75e7847f9" /><Relationship Type="http://schemas.openxmlformats.org/officeDocument/2006/relationships/slideLayout" Target="/ppt/slideLayouts/slideLayout1.xml" Id="R5339b30212b14c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39b30212b14c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4c046a263a42e3" /><Relationship Type="http://schemas.openxmlformats.org/officeDocument/2006/relationships/notesSlide" Target="/ppt/notesSlides/notesSlide1.xml" Id="Rbeb53b58421443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611dfd7574410d" /><Relationship Type="http://schemas.openxmlformats.org/officeDocument/2006/relationships/notesSlide" Target="/ppt/notesSlides/notesSlide2.xml" Id="Rc0197dc1a71f4e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ea1fc3887b4500" /><Relationship Type="http://schemas.openxmlformats.org/officeDocument/2006/relationships/notesSlide" Target="/ppt/notesSlides/notesSlide3.xml" Id="R3592b284d6484d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53a3236f924634" /><Relationship Type="http://schemas.openxmlformats.org/officeDocument/2006/relationships/notesSlide" Target="/ppt/notesSlides/notesSlide4.xml" Id="Rb868bb0169fd4a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954fbe459e4dbd" /><Relationship Type="http://schemas.openxmlformats.org/officeDocument/2006/relationships/notesSlide" Target="/ppt/notesSlides/notesSlide5.xml" Id="R2fe0a42ab6634e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d543fc89284760" /><Relationship Type="http://schemas.openxmlformats.org/officeDocument/2006/relationships/notesSlide" Target="/ppt/notesSlides/notesSlide6.xml" Id="R28644014ef3140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bfb41bb547447d" /><Relationship Type="http://schemas.openxmlformats.org/officeDocument/2006/relationships/notesSlide" Target="/ppt/notesSlides/notesSlide7.xml" Id="R39dc5fa888f948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eca30c7b884cbe" /><Relationship Type="http://schemas.openxmlformats.org/officeDocument/2006/relationships/notesSlide" Target="/ppt/notesSlides/notesSlide8.xml" Id="R39d325b946334af9" /></Relationships>
</file>

<file path=ppt/slides/slide1.xml><?xml version="1.0" encoding="utf-8"?>
<p:sld xmlns:p="http://schemas.openxmlformats.org/presentationml/2006/main">
  <p:cSld>
    <p:bg>
      <p:bgPr>
        <a:solidFill xmlns:a="http://schemas.openxmlformats.org/drawingml/2006/main">
          <a:srgbClr val="20365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1F67B14-A8F1-4D34-A316-0B02CB208245}"/>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text-1">
            <a:extLst xmlns:a="http://schemas.openxmlformats.org/drawingml/2006/main">
              <a:ext uri="{FF2B5EF4-FFF2-40B4-BE49-F238E27FC236}">
                <a16:creationId xmlns:a16="http://schemas.microsoft.com/office/drawing/2014/main" id="{EB8AD92F-A3AB-4A74-A938-1C818294AC66}"/>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FFFFFF"/>
                </a:solidFill>
                <a:latin typeface="Franklin Gothic Book"/>
                <a:ea typeface="Franklin Gothic Book"/>
                <a:cs typeface="Franklin Gothic Book"/>
              </a:defRPr>
            </a:pPr>
            <a:r>
              <a:rPr sz="1200" b="0">
                <a:solidFill>
                  <a:srgbClr val="FFFFFF"/>
                </a:solidFill>
                <a:latin typeface="Franklin Gothic Book"/>
                <a:ea typeface="Franklin Gothic Book"/>
                <a:cs typeface="Franklin Gothic Book"/>
              </a:rPr>
              <a:t>01</a:t>
            </a:r>
          </a:p>
        </p:txBody>
      </p:sp>
      <p:sp>
        <p:nvSpPr>
          <p:cNvPr id="3" name="text-2">
            <a:extLst xmlns:a="http://schemas.openxmlformats.org/drawingml/2006/main">
              <a:ext uri="{FF2B5EF4-FFF2-40B4-BE49-F238E27FC236}">
                <a16:creationId xmlns:a16="http://schemas.microsoft.com/office/drawing/2014/main" id="{2D24E681-B910-4178-9EF6-33A113766B8E}"/>
              </a:ext>
            </a:extLst>
          </p:cNvPr>
          <p:cNvSpPr>
            <a:spLocks xmlns:a="http://schemas.openxmlformats.org/drawingml/2006/main" noGrp="1"/>
          </p:cNvSpPr>
          <p:nvPr/>
        </p:nvSpPr>
        <p:spPr>
          <a:xfrm xmlns:a="http://schemas.openxmlformats.org/drawingml/2006/main">
            <a:off x="609600" y="1609725"/>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000" b="0">
                <a:solidFill>
                  <a:srgbClr val="FFFFFF"/>
                </a:solidFill>
                <a:latin typeface="Franklin Gothic Book"/>
                <a:ea typeface="Franklin Gothic Book"/>
                <a:cs typeface="Franklin Gothic Book"/>
              </a:defRPr>
            </a:pPr>
            <a:r>
              <a:rPr sz="6000" b="0">
                <a:solidFill>
                  <a:srgbClr val="FFFFFF"/>
                </a:solidFill>
                <a:latin typeface="Franklin Gothic Book"/>
                <a:ea typeface="Franklin Gothic Book"/>
                <a:cs typeface="Franklin Gothic Book"/>
              </a:rPr>
              <a:t>Rancangan penelitian sederhana</a:t>
            </a:r>
          </a:p>
        </p:txBody>
      </p:sp>
      <p:sp>
        <p:nvSpPr>
          <p:cNvPr id="4" name="text-3">
            <a:extLst xmlns:a="http://schemas.openxmlformats.org/drawingml/2006/main">
              <a:ext uri="{FF2B5EF4-FFF2-40B4-BE49-F238E27FC236}">
                <a16:creationId xmlns:a16="http://schemas.microsoft.com/office/drawing/2014/main" id="{95B1F1D4-E70F-467A-ACDC-359CFC459EAD}"/>
              </a:ext>
            </a:extLst>
          </p:cNvPr>
          <p:cNvSpPr>
            <a:spLocks xmlns:a="http://schemas.openxmlformats.org/drawingml/2006/main" noGrp="1"/>
          </p:cNvSpPr>
          <p:nvPr/>
        </p:nvSpPr>
        <p:spPr>
          <a:xfrm xmlns:a="http://schemas.openxmlformats.org/drawingml/2006/main">
            <a:off x="647700" y="45815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Franklin Gothic Book"/>
                <a:ea typeface="Franklin Gothic Book"/>
                <a:cs typeface="Franklin Gothic Book"/>
              </a:defRPr>
            </a:pPr>
            <a:r>
              <a:rPr sz="2325" b="0">
                <a:solidFill>
                  <a:srgbClr val="FFFFFF"/>
                </a:solidFill>
                <a:latin typeface="Franklin Gothic Book"/>
                <a:ea typeface="Franklin Gothic Book"/>
                <a:cs typeface="Franklin Gothic Book"/>
              </a:rPr>
              <a:t>Metode penelitian: pertanyaan, alur, dan batas kesimpulan</a:t>
            </a:r>
          </a:p>
        </p:txBody>
      </p:sp>
      <p:sp>
        <p:nvSpPr>
          <p:cNvPr id="5" name="text-4">
            <a:extLst xmlns:a="http://schemas.openxmlformats.org/drawingml/2006/main">
              <a:ext uri="{FF2B5EF4-FFF2-40B4-BE49-F238E27FC236}">
                <a16:creationId xmlns:a16="http://schemas.microsoft.com/office/drawing/2014/main" id="{724EB153-E54D-40D8-83E9-E8A95A220715}"/>
              </a:ext>
            </a:extLst>
          </p:cNvPr>
          <p:cNvSpPr>
            <a:spLocks xmlns:a="http://schemas.openxmlformats.org/drawingml/2006/main" noGrp="1"/>
          </p:cNvSpPr>
          <p:nvPr/>
        </p:nvSpPr>
        <p:spPr>
          <a:xfrm xmlns:a="http://schemas.openxmlformats.org/drawingml/2006/main">
            <a:off x="647700" y="6667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FFFFF"/>
                </a:solidFill>
                <a:latin typeface="Franklin Gothic Book"/>
                <a:ea typeface="Franklin Gothic Book"/>
                <a:cs typeface="Franklin Gothic Book"/>
              </a:defRPr>
            </a:pPr>
            <a:r>
              <a:rPr sz="1350" b="0">
                <a:solidFill>
                  <a:srgbClr val="FFFFFF"/>
                </a:solidFill>
                <a:latin typeface="Franklin Gothic Book"/>
                <a:ea typeface="Franklin Gothic Book"/>
                <a:cs typeface="Franklin Gothic Book"/>
              </a:rPr>
              <a:t>SLIDESTUDIO / CONTOH PERTEMUAN</a:t>
            </a:r>
          </a:p>
        </p:txBody>
      </p:sp>
    </p:spTree>
    <p:extLst>
      <p:ext uri="{BB962C8B-B14F-4D97-AF65-F5344CB8AC3E}">
        <p14:creationId xmlns:p14="http://schemas.microsoft.com/office/powerpoint/2010/main" val="12837077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F8680D8-4029-49B9-B91E-C6ED966C18B1}"/>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Pertanyaan dan variabel</a:t>
            </a:r>
          </a:p>
        </p:txBody>
      </p:sp>
      <p:sp>
        <p:nvSpPr>
          <p:cNvPr id="2" name="text-1">
            <a:extLst xmlns:a="http://schemas.openxmlformats.org/drawingml/2006/main">
              <a:ext uri="{FF2B5EF4-FFF2-40B4-BE49-F238E27FC236}">
                <a16:creationId xmlns:a16="http://schemas.microsoft.com/office/drawing/2014/main" id="{42601078-8447-49F1-8E9C-863AB715D50F}"/>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02</a:t>
            </a:r>
          </a:p>
        </p:txBody>
      </p:sp>
      <p:sp>
        <p:nvSpPr>
          <p:cNvPr id="3" name="text-2">
            <a:extLst xmlns:a="http://schemas.openxmlformats.org/drawingml/2006/main">
              <a:ext uri="{FF2B5EF4-FFF2-40B4-BE49-F238E27FC236}">
                <a16:creationId xmlns:a16="http://schemas.microsoft.com/office/drawing/2014/main" id="{AA8CC9F1-A3D8-46DB-9DBB-DE4E1A042002}"/>
              </a:ext>
            </a:extLst>
          </p:cNvPr>
          <p:cNvSpPr>
            <a:spLocks xmlns:a="http://schemas.openxmlformats.org/drawingml/2006/main" noGrp="1"/>
          </p:cNvSpPr>
          <p:nvPr/>
        </p:nvSpPr>
        <p:spPr>
          <a:xfrm xmlns:a="http://schemas.openxmlformats.org/drawingml/2006/main">
            <a:off x="609600"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355EAB"/>
                </a:solidFill>
                <a:latin typeface="Franklin Gothic Book"/>
                <a:ea typeface="Franklin Gothic Book"/>
                <a:cs typeface="Franklin Gothic Book"/>
              </a:defRPr>
            </a:pPr>
            <a:r>
              <a:rPr sz="2550" b="0">
                <a:solidFill>
                  <a:srgbClr val="355EAB"/>
                </a:solidFill>
                <a:latin typeface="Franklin Gothic Book"/>
                <a:ea typeface="Franklin Gothic Book"/>
                <a:cs typeface="Franklin Gothic Book"/>
              </a:rPr>
              <a:t>Pertanyaan kasus</a:t>
            </a:r>
          </a:p>
        </p:txBody>
      </p:sp>
      <p:sp>
        <p:nvSpPr>
          <p:cNvPr id="4" name="text-3">
            <a:extLst xmlns:a="http://schemas.openxmlformats.org/drawingml/2006/main">
              <a:ext uri="{FF2B5EF4-FFF2-40B4-BE49-F238E27FC236}">
                <a16:creationId xmlns:a16="http://schemas.microsoft.com/office/drawing/2014/main" id="{3806BDCB-7F60-43CC-9398-7A56EF0CAC2A}"/>
              </a:ext>
            </a:extLst>
          </p:cNvPr>
          <p:cNvSpPr>
            <a:spLocks xmlns:a="http://schemas.openxmlformats.org/drawingml/2006/main" noGrp="1"/>
          </p:cNvSpPr>
          <p:nvPr/>
        </p:nvSpPr>
        <p:spPr>
          <a:xfrm xmlns:a="http://schemas.openxmlformats.org/drawingml/2006/main">
            <a:off x="609600" y="2828925"/>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Apakah durasi belajar mandiri berhubungan dengan skor kuis mahasiswa? Pertanyaan menyatakan hubungan yang ingin diperiksa, tanpa menganggap penyebabnya sudah diketahui.</a:t>
            </a:r>
          </a:p>
        </p:txBody>
      </p:sp>
      <p:sp>
        <p:nvSpPr>
          <p:cNvPr id="5" name="text-4">
            <a:extLst xmlns:a="http://schemas.openxmlformats.org/drawingml/2006/main">
              <a:ext uri="{FF2B5EF4-FFF2-40B4-BE49-F238E27FC236}">
                <a16:creationId xmlns:a16="http://schemas.microsoft.com/office/drawing/2014/main" id="{D8AD1121-9A5C-4816-942F-3A033A62FE06}"/>
              </a:ext>
            </a:extLst>
          </p:cNvPr>
          <p:cNvSpPr>
            <a:spLocks xmlns:a="http://schemas.openxmlformats.org/drawingml/2006/main" noGrp="1"/>
          </p:cNvSpPr>
          <p:nvPr/>
        </p:nvSpPr>
        <p:spPr>
          <a:xfrm xmlns:a="http://schemas.openxmlformats.org/drawingml/2006/main">
            <a:off x="6619875"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355EAB"/>
                </a:solidFill>
                <a:latin typeface="Franklin Gothic Book"/>
                <a:ea typeface="Franklin Gothic Book"/>
                <a:cs typeface="Franklin Gothic Book"/>
              </a:defRPr>
            </a:pPr>
            <a:r>
              <a:rPr sz="2550" b="0">
                <a:solidFill>
                  <a:srgbClr val="355EAB"/>
                </a:solidFill>
                <a:latin typeface="Franklin Gothic Book"/>
                <a:ea typeface="Franklin Gothic Book"/>
                <a:cs typeface="Franklin Gothic Book"/>
              </a:rPr>
              <a:t>Ukuran yang dipilih</a:t>
            </a:r>
          </a:p>
        </p:txBody>
      </p:sp>
      <p:sp>
        <p:nvSpPr>
          <p:cNvPr id="6" name="text-5">
            <a:extLst xmlns:a="http://schemas.openxmlformats.org/drawingml/2006/main">
              <a:ext uri="{FF2B5EF4-FFF2-40B4-BE49-F238E27FC236}">
                <a16:creationId xmlns:a16="http://schemas.microsoft.com/office/drawing/2014/main" id="{A8926BD6-0726-47B5-AF18-EFFFC6F7F50E}"/>
              </a:ext>
            </a:extLst>
          </p:cNvPr>
          <p:cNvSpPr>
            <a:spLocks xmlns:a="http://schemas.openxmlformats.org/drawingml/2006/main" noGrp="1"/>
          </p:cNvSpPr>
          <p:nvPr/>
        </p:nvSpPr>
        <p:spPr>
          <a:xfrm xmlns:a="http://schemas.openxmlformats.org/drawingml/2006/main">
            <a:off x="6619875" y="2828925"/>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Durasi: jam belajar yang dilaporkan selama tujuh hari. Hasil: skor kuis 0–100. Definisi ini perlu dipakai secara konsisten pada semua peserta.</a:t>
            </a:r>
          </a:p>
        </p:txBody>
      </p:sp>
      <p:sp>
        <p:nvSpPr>
          <p:cNvPr id="7" name="text-6">
            <a:extLst xmlns:a="http://schemas.openxmlformats.org/drawingml/2006/main">
              <a:ext uri="{FF2B5EF4-FFF2-40B4-BE49-F238E27FC236}">
                <a16:creationId xmlns:a16="http://schemas.microsoft.com/office/drawing/2014/main" id="{5A8BC07B-7D69-4235-9798-68FBF12E461C}"/>
              </a:ext>
            </a:extLst>
          </p:cNvPr>
          <p:cNvSpPr>
            <a:spLocks xmlns:a="http://schemas.openxmlformats.org/drawingml/2006/main" noGrp="1"/>
          </p:cNvSpPr>
          <p:nvPr/>
        </p:nvSpPr>
        <p:spPr>
          <a:xfrm xmlns:a="http://schemas.openxmlformats.org/drawingml/2006/main">
            <a:off x="609600" y="58197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355EAB"/>
                </a:solidFill>
                <a:latin typeface="Franklin Gothic Book"/>
                <a:ea typeface="Franklin Gothic Book"/>
                <a:cs typeface="Franklin Gothic Book"/>
              </a:defRPr>
            </a:pPr>
            <a:r>
              <a:rPr sz="1800" b="0">
                <a:solidFill>
                  <a:srgbClr val="355EAB"/>
                </a:solidFill>
                <a:latin typeface="Franklin Gothic Book"/>
                <a:ea typeface="Franklin Gothic Book"/>
                <a:cs typeface="Franklin Gothic Book"/>
              </a:rPr>
              <a:t>Tujuan: memilih rancangan dan menjelaskan batas kesimpulannya.</a:t>
            </a:r>
          </a:p>
        </p:txBody>
      </p:sp>
    </p:spTree>
    <p:extLst>
      <p:ext uri="{BB962C8B-B14F-4D97-AF65-F5344CB8AC3E}">
        <p14:creationId xmlns:p14="http://schemas.microsoft.com/office/powerpoint/2010/main" val="6074113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ED6E22A0-A19A-44E8-AE50-18CD2C538678}"/>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Alur pemilihan rancangan</a:t>
            </a:r>
          </a:p>
        </p:txBody>
      </p:sp>
      <p:sp>
        <p:nvSpPr>
          <p:cNvPr id="2" name="text-1">
            <a:extLst xmlns:a="http://schemas.openxmlformats.org/drawingml/2006/main">
              <a:ext uri="{FF2B5EF4-FFF2-40B4-BE49-F238E27FC236}">
                <a16:creationId xmlns:a16="http://schemas.microsoft.com/office/drawing/2014/main" id="{EF1CF79A-CBEA-409B-B117-03ECB9127C30}"/>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03</a:t>
            </a:r>
          </a:p>
        </p:txBody>
      </p:sp>
      <p:sp>
        <p:nvSpPr>
          <p:cNvPr id="3" name="text-2">
            <a:extLst xmlns:a="http://schemas.openxmlformats.org/drawingml/2006/main">
              <a:ext uri="{FF2B5EF4-FFF2-40B4-BE49-F238E27FC236}">
                <a16:creationId xmlns:a16="http://schemas.microsoft.com/office/drawing/2014/main" id="{6FDB4F5A-96CB-4518-8C8C-40D0AFD4E648}"/>
              </a:ext>
            </a:extLst>
          </p:cNvPr>
          <p:cNvSpPr>
            <a:spLocks xmlns:a="http://schemas.openxmlformats.org/drawingml/2006/main" noGrp="1"/>
          </p:cNvSpPr>
          <p:nvPr/>
        </p:nvSpPr>
        <p:spPr>
          <a:xfrm xmlns:a="http://schemas.openxmlformats.org/drawingml/2006/main">
            <a:off x="609600" y="64008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03653"/>
                </a:solidFill>
                <a:latin typeface="Franklin Gothic Book"/>
                <a:ea typeface="Franklin Gothic Book"/>
                <a:cs typeface="Franklin Gothic Book"/>
              </a:defRPr>
            </a:pPr>
            <a:r>
              <a:rPr sz="1125" b="0">
                <a:solidFill>
                  <a:srgbClr val="203653"/>
                </a:solidFill>
                <a:latin typeface="Franklin Gothic Book"/>
                <a:ea typeface="Franklin Gothic Book"/>
                <a:cs typeface="Franklin Gothic Book"/>
              </a:rPr>
              <a:t>Peta konsep pengantar. Rancangan rinci tetap bergantung pertanyaan penelitian.</a:t>
            </a:r>
          </a:p>
        </p:txBody>
      </p:sp>
      <p:sp>
        <p:nvSpPr>
          <p:cNvPr id="4" name="diagram-3">
            <a:extLst xmlns:a="http://schemas.openxmlformats.org/drawingml/2006/main">
              <a:ext uri="{FF2B5EF4-FFF2-40B4-BE49-F238E27FC236}">
                <a16:creationId xmlns:a16="http://schemas.microsoft.com/office/drawing/2014/main" id="{5F21D312-5404-4D59-AC5B-B78A80AA7AD3}"/>
              </a:ext>
            </a:extLst>
          </p:cNvPr>
          <p:cNvSpPr>
            <a:spLocks xmlns:a="http://schemas.openxmlformats.org/drawingml/2006/main" noGrp="1"/>
          </p:cNvSpPr>
          <p:nvPr/>
        </p:nvSpPr>
        <p:spPr>
          <a:xfrm xmlns:a="http://schemas.openxmlformats.org/drawingml/2006/main">
            <a:off x="3381375" y="1952625"/>
            <a:ext cx="5429250" cy="857250"/>
          </a:xfrm>
          <a:prstGeom xmlns:a="http://schemas.openxmlformats.org/drawingml/2006/main" prst="rect">
            <a:avLst/>
          </a:prstGeom>
          <a:solidFill xmlns:a="http://schemas.openxmlformats.org/drawingml/2006/main">
            <a:srgbClr val="E8EEF8"/>
          </a:solidFill>
          <a:ln xmlns:a="http://schemas.openxmlformats.org/drawingml/2006/main" w="0">
            <a:noFill/>
          </a:ln>
        </p:spPr>
      </p:sp>
      <p:sp>
        <p:nvSpPr>
          <p:cNvPr id="5" name="text-4">
            <a:extLst xmlns:a="http://schemas.openxmlformats.org/drawingml/2006/main">
              <a:ext uri="{FF2B5EF4-FFF2-40B4-BE49-F238E27FC236}">
                <a16:creationId xmlns:a16="http://schemas.microsoft.com/office/drawing/2014/main" id="{71444783-32B4-4CCA-9EB7-AE497695AED6}"/>
              </a:ext>
            </a:extLst>
          </p:cNvPr>
          <p:cNvSpPr>
            <a:spLocks xmlns:a="http://schemas.openxmlformats.org/drawingml/2006/main" noGrp="1"/>
          </p:cNvSpPr>
          <p:nvPr/>
        </p:nvSpPr>
        <p:spPr>
          <a:xfrm xmlns:a="http://schemas.openxmlformats.org/drawingml/2006/main">
            <a:off x="3590925" y="215265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03653"/>
                </a:solidFill>
                <a:latin typeface="Franklin Gothic Book"/>
                <a:ea typeface="Franklin Gothic Book"/>
                <a:cs typeface="Franklin Gothic Book"/>
              </a:defRPr>
            </a:pPr>
            <a:r>
              <a:rPr sz="2250" b="0">
                <a:solidFill>
                  <a:srgbClr val="203653"/>
                </a:solidFill>
                <a:latin typeface="Franklin Gothic Book"/>
                <a:ea typeface="Franklin Gothic Book"/>
                <a:cs typeface="Franklin Gothic Book"/>
              </a:rPr>
              <a:t>Peneliti menetapkan perlakuan?</a:t>
            </a:r>
          </a:p>
        </p:txBody>
      </p:sp>
      <p:sp>
        <p:nvSpPr>
          <p:cNvPr id="6" name="diagram-5">
            <a:extLst xmlns:a="http://schemas.openxmlformats.org/drawingml/2006/main">
              <a:ext uri="{FF2B5EF4-FFF2-40B4-BE49-F238E27FC236}">
                <a16:creationId xmlns:a16="http://schemas.microsoft.com/office/drawing/2014/main" id="{0344097E-8AAD-4EA6-9569-0441D12B2B49}"/>
              </a:ext>
            </a:extLst>
          </p:cNvPr>
          <p:cNvSpPr>
            <a:spLocks xmlns:a="http://schemas.openxmlformats.org/drawingml/2006/main" noGrp="1"/>
          </p:cNvSpPr>
          <p:nvPr/>
        </p:nvSpPr>
        <p:spPr>
          <a:xfrm xmlns:a="http://schemas.openxmlformats.org/drawingml/2006/main">
            <a:off x="6086475" y="2809875"/>
            <a:ext cx="19050" cy="438150"/>
          </a:xfrm>
          <a:prstGeom xmlns:a="http://schemas.openxmlformats.org/drawingml/2006/main" prst="rect">
            <a:avLst/>
          </a:prstGeom>
          <a:solidFill xmlns:a="http://schemas.openxmlformats.org/drawingml/2006/main">
            <a:srgbClr val="203653"/>
          </a:solidFill>
          <a:ln xmlns:a="http://schemas.openxmlformats.org/drawingml/2006/main" w="0">
            <a:noFill/>
          </a:ln>
        </p:spPr>
      </p:sp>
      <p:sp>
        <p:nvSpPr>
          <p:cNvPr id="7" name="diagram-6">
            <a:extLst xmlns:a="http://schemas.openxmlformats.org/drawingml/2006/main">
              <a:ext uri="{FF2B5EF4-FFF2-40B4-BE49-F238E27FC236}">
                <a16:creationId xmlns:a16="http://schemas.microsoft.com/office/drawing/2014/main" id="{F56325F2-9B97-4D5F-975B-1CA4BC33CE20}"/>
              </a:ext>
            </a:extLst>
          </p:cNvPr>
          <p:cNvSpPr>
            <a:spLocks xmlns:a="http://schemas.openxmlformats.org/drawingml/2006/main" noGrp="1"/>
          </p:cNvSpPr>
          <p:nvPr/>
        </p:nvSpPr>
        <p:spPr>
          <a:xfrm xmlns:a="http://schemas.openxmlformats.org/drawingml/2006/main">
            <a:off x="3238500" y="3238500"/>
            <a:ext cx="5715000" cy="19050"/>
          </a:xfrm>
          <a:prstGeom xmlns:a="http://schemas.openxmlformats.org/drawingml/2006/main" prst="rect">
            <a:avLst/>
          </a:prstGeom>
          <a:solidFill xmlns:a="http://schemas.openxmlformats.org/drawingml/2006/main">
            <a:srgbClr val="203653"/>
          </a:solidFill>
          <a:ln xmlns:a="http://schemas.openxmlformats.org/drawingml/2006/main" w="0">
            <a:noFill/>
          </a:ln>
        </p:spPr>
      </p:sp>
      <p:sp>
        <p:nvSpPr>
          <p:cNvPr id="8" name="diagram-7">
            <a:extLst xmlns:a="http://schemas.openxmlformats.org/drawingml/2006/main">
              <a:ext uri="{FF2B5EF4-FFF2-40B4-BE49-F238E27FC236}">
                <a16:creationId xmlns:a16="http://schemas.microsoft.com/office/drawing/2014/main" id="{FF90E195-AE62-4442-963A-ACA154C8CD21}"/>
              </a:ext>
            </a:extLst>
          </p:cNvPr>
          <p:cNvSpPr>
            <a:spLocks xmlns:a="http://schemas.openxmlformats.org/drawingml/2006/main" noGrp="1"/>
          </p:cNvSpPr>
          <p:nvPr/>
        </p:nvSpPr>
        <p:spPr>
          <a:xfrm xmlns:a="http://schemas.openxmlformats.org/drawingml/2006/main">
            <a:off x="3238500" y="3238500"/>
            <a:ext cx="19050" cy="561975"/>
          </a:xfrm>
          <a:prstGeom xmlns:a="http://schemas.openxmlformats.org/drawingml/2006/main" prst="rect">
            <a:avLst/>
          </a:prstGeom>
          <a:solidFill xmlns:a="http://schemas.openxmlformats.org/drawingml/2006/main">
            <a:srgbClr val="203653"/>
          </a:solidFill>
          <a:ln xmlns:a="http://schemas.openxmlformats.org/drawingml/2006/main" w="0">
            <a:noFill/>
          </a:ln>
        </p:spPr>
      </p:sp>
      <p:sp>
        <p:nvSpPr>
          <p:cNvPr id="9" name="diagram-8">
            <a:extLst xmlns:a="http://schemas.openxmlformats.org/drawingml/2006/main">
              <a:ext uri="{FF2B5EF4-FFF2-40B4-BE49-F238E27FC236}">
                <a16:creationId xmlns:a16="http://schemas.microsoft.com/office/drawing/2014/main" id="{845C0513-66DC-44CB-941F-305707C80734}"/>
              </a:ext>
            </a:extLst>
          </p:cNvPr>
          <p:cNvSpPr>
            <a:spLocks xmlns:a="http://schemas.openxmlformats.org/drawingml/2006/main" noGrp="1"/>
          </p:cNvSpPr>
          <p:nvPr/>
        </p:nvSpPr>
        <p:spPr>
          <a:xfrm xmlns:a="http://schemas.openxmlformats.org/drawingml/2006/main">
            <a:off x="8943975" y="3238500"/>
            <a:ext cx="19050" cy="561975"/>
          </a:xfrm>
          <a:prstGeom xmlns:a="http://schemas.openxmlformats.org/drawingml/2006/main" prst="rect">
            <a:avLst/>
          </a:prstGeom>
          <a:solidFill xmlns:a="http://schemas.openxmlformats.org/drawingml/2006/main">
            <a:srgbClr val="203653"/>
          </a:solidFill>
          <a:ln xmlns:a="http://schemas.openxmlformats.org/drawingml/2006/main" w="0">
            <a:noFill/>
          </a:ln>
        </p:spPr>
      </p:sp>
      <p:sp>
        <p:nvSpPr>
          <p:cNvPr id="10" name="text-9">
            <a:extLst xmlns:a="http://schemas.openxmlformats.org/drawingml/2006/main">
              <a:ext uri="{FF2B5EF4-FFF2-40B4-BE49-F238E27FC236}">
                <a16:creationId xmlns:a16="http://schemas.microsoft.com/office/drawing/2014/main" id="{1B735168-33C5-426D-A943-78A14A37B787}"/>
              </a:ext>
            </a:extLst>
          </p:cNvPr>
          <p:cNvSpPr>
            <a:spLocks xmlns:a="http://schemas.openxmlformats.org/drawingml/2006/main" noGrp="1"/>
          </p:cNvSpPr>
          <p:nvPr/>
        </p:nvSpPr>
        <p:spPr>
          <a:xfrm xmlns:a="http://schemas.openxmlformats.org/drawingml/2006/main">
            <a:off x="2219325" y="331470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355EAB"/>
                </a:solidFill>
                <a:latin typeface="Franklin Gothic Book"/>
                <a:ea typeface="Franklin Gothic Book"/>
                <a:cs typeface="Franklin Gothic Book"/>
              </a:defRPr>
            </a:pPr>
            <a:r>
              <a:rPr sz="1800" b="0">
                <a:solidFill>
                  <a:srgbClr val="355EAB"/>
                </a:solidFill>
                <a:latin typeface="Franklin Gothic Book"/>
                <a:ea typeface="Franklin Gothic Book"/>
                <a:cs typeface="Franklin Gothic Book"/>
              </a:rPr>
              <a:t>Tidak</a:t>
            </a:r>
          </a:p>
        </p:txBody>
      </p:sp>
      <p:sp>
        <p:nvSpPr>
          <p:cNvPr id="11" name="text-10">
            <a:extLst xmlns:a="http://schemas.openxmlformats.org/drawingml/2006/main">
              <a:ext uri="{FF2B5EF4-FFF2-40B4-BE49-F238E27FC236}">
                <a16:creationId xmlns:a16="http://schemas.microsoft.com/office/drawing/2014/main" id="{E71DDE47-41FB-4446-BBE1-A432BA1CEF56}"/>
              </a:ext>
            </a:extLst>
          </p:cNvPr>
          <p:cNvSpPr>
            <a:spLocks xmlns:a="http://schemas.openxmlformats.org/drawingml/2006/main" noGrp="1"/>
          </p:cNvSpPr>
          <p:nvPr/>
        </p:nvSpPr>
        <p:spPr>
          <a:xfrm xmlns:a="http://schemas.openxmlformats.org/drawingml/2006/main">
            <a:off x="9144000" y="3314700"/>
            <a:ext cx="104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355EAB"/>
                </a:solidFill>
                <a:latin typeface="Franklin Gothic Book"/>
                <a:ea typeface="Franklin Gothic Book"/>
                <a:cs typeface="Franklin Gothic Book"/>
              </a:defRPr>
            </a:pPr>
            <a:r>
              <a:rPr sz="1800" b="0">
                <a:solidFill>
                  <a:srgbClr val="355EAB"/>
                </a:solidFill>
                <a:latin typeface="Franklin Gothic Book"/>
                <a:ea typeface="Franklin Gothic Book"/>
                <a:cs typeface="Franklin Gothic Book"/>
              </a:rPr>
              <a:t>Ya</a:t>
            </a:r>
          </a:p>
        </p:txBody>
      </p:sp>
      <p:sp>
        <p:nvSpPr>
          <p:cNvPr id="12" name="diagram-11">
            <a:extLst xmlns:a="http://schemas.openxmlformats.org/drawingml/2006/main">
              <a:ext uri="{FF2B5EF4-FFF2-40B4-BE49-F238E27FC236}">
                <a16:creationId xmlns:a16="http://schemas.microsoft.com/office/drawing/2014/main" id="{CE54E130-7B4C-412D-91A0-48F186E5E7DB}"/>
              </a:ext>
            </a:extLst>
          </p:cNvPr>
          <p:cNvSpPr>
            <a:spLocks xmlns:a="http://schemas.openxmlformats.org/drawingml/2006/main" noGrp="1"/>
          </p:cNvSpPr>
          <p:nvPr/>
        </p:nvSpPr>
        <p:spPr>
          <a:xfrm xmlns:a="http://schemas.openxmlformats.org/drawingml/2006/main">
            <a:off x="762000" y="3810000"/>
            <a:ext cx="4953000" cy="809625"/>
          </a:xfrm>
          <a:prstGeom xmlns:a="http://schemas.openxmlformats.org/drawingml/2006/main" prst="rect">
            <a:avLst/>
          </a:prstGeom>
          <a:solidFill xmlns:a="http://schemas.openxmlformats.org/drawingml/2006/main">
            <a:srgbClr val="E8EEF8"/>
          </a:solidFill>
          <a:ln xmlns:a="http://schemas.openxmlformats.org/drawingml/2006/main" w="0">
            <a:noFill/>
          </a:ln>
        </p:spPr>
      </p:sp>
      <p:sp>
        <p:nvSpPr>
          <p:cNvPr id="13" name="diagram-12">
            <a:extLst xmlns:a="http://schemas.openxmlformats.org/drawingml/2006/main">
              <a:ext uri="{FF2B5EF4-FFF2-40B4-BE49-F238E27FC236}">
                <a16:creationId xmlns:a16="http://schemas.microsoft.com/office/drawing/2014/main" id="{7ABDF7B9-7DAE-4F01-8DE5-B7B2693807D2}"/>
              </a:ext>
            </a:extLst>
          </p:cNvPr>
          <p:cNvSpPr>
            <a:spLocks xmlns:a="http://schemas.openxmlformats.org/drawingml/2006/main" noGrp="1"/>
          </p:cNvSpPr>
          <p:nvPr/>
        </p:nvSpPr>
        <p:spPr>
          <a:xfrm xmlns:a="http://schemas.openxmlformats.org/drawingml/2006/main">
            <a:off x="6667500" y="3810000"/>
            <a:ext cx="4762500" cy="809625"/>
          </a:xfrm>
          <a:prstGeom xmlns:a="http://schemas.openxmlformats.org/drawingml/2006/main" prst="rect">
            <a:avLst/>
          </a:prstGeom>
          <a:solidFill xmlns:a="http://schemas.openxmlformats.org/drawingml/2006/main">
            <a:srgbClr val="E8EEF8"/>
          </a:solidFill>
          <a:ln xmlns:a="http://schemas.openxmlformats.org/drawingml/2006/main" w="0">
            <a:noFill/>
          </a:ln>
        </p:spPr>
      </p:sp>
      <p:sp>
        <p:nvSpPr>
          <p:cNvPr id="14" name="text-13">
            <a:extLst xmlns:a="http://schemas.openxmlformats.org/drawingml/2006/main">
              <a:ext uri="{FF2B5EF4-FFF2-40B4-BE49-F238E27FC236}">
                <a16:creationId xmlns:a16="http://schemas.microsoft.com/office/drawing/2014/main" id="{56F30A84-B2A4-4B45-B3C6-C31A7D8AEDA0}"/>
              </a:ext>
            </a:extLst>
          </p:cNvPr>
          <p:cNvSpPr>
            <a:spLocks xmlns:a="http://schemas.openxmlformats.org/drawingml/2006/main" noGrp="1"/>
          </p:cNvSpPr>
          <p:nvPr/>
        </p:nvSpPr>
        <p:spPr>
          <a:xfrm xmlns:a="http://schemas.openxmlformats.org/drawingml/2006/main">
            <a:off x="1009650" y="4010025"/>
            <a:ext cx="451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355EAB"/>
                </a:solidFill>
                <a:latin typeface="Franklin Gothic Book"/>
                <a:ea typeface="Franklin Gothic Book"/>
                <a:cs typeface="Franklin Gothic Book"/>
              </a:defRPr>
            </a:pPr>
            <a:r>
              <a:rPr sz="2400" b="0">
                <a:solidFill>
                  <a:srgbClr val="355EAB"/>
                </a:solidFill>
                <a:latin typeface="Franklin Gothic Book"/>
                <a:ea typeface="Franklin Gothic Book"/>
                <a:cs typeface="Franklin Gothic Book"/>
              </a:rPr>
              <a:t>Studi observasional</a:t>
            </a:r>
          </a:p>
        </p:txBody>
      </p:sp>
      <p:sp>
        <p:nvSpPr>
          <p:cNvPr id="15" name="text-14">
            <a:extLst xmlns:a="http://schemas.openxmlformats.org/drawingml/2006/main">
              <a:ext uri="{FF2B5EF4-FFF2-40B4-BE49-F238E27FC236}">
                <a16:creationId xmlns:a16="http://schemas.microsoft.com/office/drawing/2014/main" id="{5CA0B252-86F1-4447-A304-CBA9A13198D0}"/>
              </a:ext>
            </a:extLst>
          </p:cNvPr>
          <p:cNvSpPr>
            <a:spLocks xmlns:a="http://schemas.openxmlformats.org/drawingml/2006/main" noGrp="1"/>
          </p:cNvSpPr>
          <p:nvPr/>
        </p:nvSpPr>
        <p:spPr>
          <a:xfrm xmlns:a="http://schemas.openxmlformats.org/drawingml/2006/main">
            <a:off x="6924675" y="40100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355EAB"/>
                </a:solidFill>
                <a:latin typeface="Franklin Gothic Book"/>
                <a:ea typeface="Franklin Gothic Book"/>
                <a:cs typeface="Franklin Gothic Book"/>
              </a:defRPr>
            </a:pPr>
            <a:r>
              <a:rPr sz="2400" b="0">
                <a:solidFill>
                  <a:srgbClr val="355EAB"/>
                </a:solidFill>
                <a:latin typeface="Franklin Gothic Book"/>
                <a:ea typeface="Franklin Gothic Book"/>
                <a:cs typeface="Franklin Gothic Book"/>
              </a:rPr>
              <a:t>Eksperimen</a:t>
            </a:r>
          </a:p>
        </p:txBody>
      </p:sp>
      <p:sp>
        <p:nvSpPr>
          <p:cNvPr id="16" name="text-15">
            <a:extLst xmlns:a="http://schemas.openxmlformats.org/drawingml/2006/main">
              <a:ext uri="{FF2B5EF4-FFF2-40B4-BE49-F238E27FC236}">
                <a16:creationId xmlns:a16="http://schemas.microsoft.com/office/drawing/2014/main" id="{3F60E0E0-4C82-485D-9E66-C78BBE2D81D1}"/>
              </a:ext>
            </a:extLst>
          </p:cNvPr>
          <p:cNvSpPr>
            <a:spLocks xmlns:a="http://schemas.openxmlformats.org/drawingml/2006/main" noGrp="1"/>
          </p:cNvSpPr>
          <p:nvPr/>
        </p:nvSpPr>
        <p:spPr>
          <a:xfrm xmlns:a="http://schemas.openxmlformats.org/drawingml/2006/main">
            <a:off x="762000" y="4895850"/>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03653"/>
                </a:solidFill>
                <a:latin typeface="Franklin Gothic Book"/>
                <a:ea typeface="Franklin Gothic Book"/>
                <a:cs typeface="Franklin Gothic Book"/>
              </a:defRPr>
            </a:pPr>
            <a:r>
              <a:rPr sz="1950" b="0">
                <a:solidFill>
                  <a:srgbClr val="203653"/>
                </a:solidFill>
                <a:latin typeface="Franklin Gothic Book"/>
                <a:ea typeface="Franklin Gothic Book"/>
                <a:cs typeface="Franklin Gothic Book"/>
              </a:rPr>
              <a:t>Catat variasi yang sudah terjadi. Pada kasus ini, peneliti tidak menentukan jam belajar.</a:t>
            </a:r>
          </a:p>
        </p:txBody>
      </p:sp>
      <p:sp>
        <p:nvSpPr>
          <p:cNvPr id="17" name="text-16">
            <a:extLst xmlns:a="http://schemas.openxmlformats.org/drawingml/2006/main">
              <a:ext uri="{FF2B5EF4-FFF2-40B4-BE49-F238E27FC236}">
                <a16:creationId xmlns:a16="http://schemas.microsoft.com/office/drawing/2014/main" id="{572F5F2E-C19B-4445-A3CE-726FC6161A72}"/>
              </a:ext>
            </a:extLst>
          </p:cNvPr>
          <p:cNvSpPr>
            <a:spLocks xmlns:a="http://schemas.openxmlformats.org/drawingml/2006/main" noGrp="1"/>
          </p:cNvSpPr>
          <p:nvPr/>
        </p:nvSpPr>
        <p:spPr>
          <a:xfrm xmlns:a="http://schemas.openxmlformats.org/drawingml/2006/main">
            <a:off x="6667500" y="4895850"/>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03653"/>
                </a:solidFill>
                <a:latin typeface="Franklin Gothic Book"/>
                <a:ea typeface="Franklin Gothic Book"/>
                <a:cs typeface="Franklin Gothic Book"/>
              </a:defRPr>
            </a:pPr>
            <a:r>
              <a:rPr sz="1950" b="0">
                <a:solidFill>
                  <a:srgbClr val="203653"/>
                </a:solidFill>
                <a:latin typeface="Franklin Gothic Book"/>
                <a:ea typeface="Franklin Gothic Book"/>
                <a:cs typeface="Franklin Gothic Book"/>
              </a:rPr>
              <a:t>Berikan kondisi berbeda. Penugasan acak adalah keputusan tambahan dalam desain.</a:t>
            </a:r>
          </a:p>
        </p:txBody>
      </p:sp>
    </p:spTree>
    <p:extLst>
      <p:ext uri="{BB962C8B-B14F-4D97-AF65-F5344CB8AC3E}">
        <p14:creationId xmlns:p14="http://schemas.microsoft.com/office/powerpoint/2010/main" val="2553635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6E05C22-C9F1-48DB-90E6-DB83ABBFA788}"/>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Penugasan acak dan sampling</a:t>
            </a:r>
          </a:p>
        </p:txBody>
      </p:sp>
      <p:sp>
        <p:nvSpPr>
          <p:cNvPr id="2" name="text-1">
            <a:extLst xmlns:a="http://schemas.openxmlformats.org/drawingml/2006/main">
              <a:ext uri="{FF2B5EF4-FFF2-40B4-BE49-F238E27FC236}">
                <a16:creationId xmlns:a16="http://schemas.microsoft.com/office/drawing/2014/main" id="{11A37F50-7E4E-4D0C-B71B-1F7883D4C807}"/>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04</a:t>
            </a:r>
          </a:p>
        </p:txBody>
      </p:sp>
      <p:sp>
        <p:nvSpPr>
          <p:cNvPr id="3" name="text-2">
            <a:extLst xmlns:a="http://schemas.openxmlformats.org/drawingml/2006/main">
              <a:ext uri="{FF2B5EF4-FFF2-40B4-BE49-F238E27FC236}">
                <a16:creationId xmlns:a16="http://schemas.microsoft.com/office/drawing/2014/main" id="{08F42613-E372-453B-A435-03BF35B5A712}"/>
              </a:ext>
            </a:extLst>
          </p:cNvPr>
          <p:cNvSpPr>
            <a:spLocks xmlns:a="http://schemas.openxmlformats.org/drawingml/2006/main" noGrp="1"/>
          </p:cNvSpPr>
          <p:nvPr/>
        </p:nvSpPr>
        <p:spPr>
          <a:xfrm xmlns:a="http://schemas.openxmlformats.org/drawingml/2006/main">
            <a:off x="609600" y="64008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03653"/>
                </a:solidFill>
                <a:latin typeface="Franklin Gothic Book"/>
                <a:ea typeface="Franklin Gothic Book"/>
                <a:cs typeface="Franklin Gothic Book"/>
              </a:defRPr>
            </a:pPr>
            <a:r>
              <a:rPr sz="1125" b="0">
                <a:solidFill>
                  <a:srgbClr val="203653"/>
                </a:solidFill>
                <a:latin typeface="Franklin Gothic Book"/>
                <a:ea typeface="Franklin Gothic Book"/>
                <a:cs typeface="Franklin Gothic Book"/>
              </a:rPr>
              <a:t>Rujukan konsep: OpenStax, Introductory Statistics 2e, §1.4</a:t>
            </a:r>
          </a:p>
        </p:txBody>
      </p:sp>
      <p:sp>
        <p:nvSpPr>
          <p:cNvPr id="4" name="text-3">
            <a:extLst xmlns:a="http://schemas.openxmlformats.org/drawingml/2006/main">
              <a:ext uri="{FF2B5EF4-FFF2-40B4-BE49-F238E27FC236}">
                <a16:creationId xmlns:a16="http://schemas.microsoft.com/office/drawing/2014/main" id="{EF1CDFE1-15B4-4F13-B48F-22AA597815FD}"/>
              </a:ext>
            </a:extLst>
          </p:cNvPr>
          <p:cNvSpPr>
            <a:spLocks xmlns:a="http://schemas.openxmlformats.org/drawingml/2006/main" noGrp="1"/>
          </p:cNvSpPr>
          <p:nvPr/>
        </p:nvSpPr>
        <p:spPr>
          <a:xfrm xmlns:a="http://schemas.openxmlformats.org/drawingml/2006/main">
            <a:off x="609600"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355EAB"/>
                </a:solidFill>
                <a:latin typeface="Franklin Gothic Book"/>
                <a:ea typeface="Franklin Gothic Book"/>
                <a:cs typeface="Franklin Gothic Book"/>
              </a:defRPr>
            </a:pPr>
            <a:r>
              <a:rPr sz="2550" b="0">
                <a:solidFill>
                  <a:srgbClr val="355EAB"/>
                </a:solidFill>
                <a:latin typeface="Franklin Gothic Book"/>
                <a:ea typeface="Franklin Gothic Book"/>
                <a:cs typeface="Franklin Gothic Book"/>
              </a:rPr>
              <a:t>Memilih peserta</a:t>
            </a:r>
          </a:p>
        </p:txBody>
      </p:sp>
      <p:sp>
        <p:nvSpPr>
          <p:cNvPr id="5" name="text-4">
            <a:extLst xmlns:a="http://schemas.openxmlformats.org/drawingml/2006/main">
              <a:ext uri="{FF2B5EF4-FFF2-40B4-BE49-F238E27FC236}">
                <a16:creationId xmlns:a16="http://schemas.microsoft.com/office/drawing/2014/main" id="{F023007D-2F88-4B95-9D8F-AE4B3EFDEC3E}"/>
              </a:ext>
            </a:extLst>
          </p:cNvPr>
          <p:cNvSpPr>
            <a:spLocks xmlns:a="http://schemas.openxmlformats.org/drawingml/2006/main" noGrp="1"/>
          </p:cNvSpPr>
          <p:nvPr/>
        </p:nvSpPr>
        <p:spPr>
          <a:xfrm xmlns:a="http://schemas.openxmlformats.org/drawingml/2006/main">
            <a:off x="609600" y="2828925"/>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Sampling menentukan siapa yang masuk studi. Kelompok yang mudah dijangkau belum otomatis mewakili seluruh mahasiswa.</a:t>
            </a:r>
          </a:p>
        </p:txBody>
      </p:sp>
      <p:sp>
        <p:nvSpPr>
          <p:cNvPr id="6" name="text-5">
            <a:extLst xmlns:a="http://schemas.openxmlformats.org/drawingml/2006/main">
              <a:ext uri="{FF2B5EF4-FFF2-40B4-BE49-F238E27FC236}">
                <a16:creationId xmlns:a16="http://schemas.microsoft.com/office/drawing/2014/main" id="{DCB4E46A-3524-4D25-9D71-7BC73E42E90A}"/>
              </a:ext>
            </a:extLst>
          </p:cNvPr>
          <p:cNvSpPr>
            <a:spLocks xmlns:a="http://schemas.openxmlformats.org/drawingml/2006/main" noGrp="1"/>
          </p:cNvSpPr>
          <p:nvPr/>
        </p:nvSpPr>
        <p:spPr>
          <a:xfrm xmlns:a="http://schemas.openxmlformats.org/drawingml/2006/main">
            <a:off x="6619875" y="21717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355EAB"/>
                </a:solidFill>
                <a:latin typeface="Franklin Gothic Book"/>
                <a:ea typeface="Franklin Gothic Book"/>
                <a:cs typeface="Franklin Gothic Book"/>
              </a:defRPr>
            </a:pPr>
            <a:r>
              <a:rPr sz="2550" b="0">
                <a:solidFill>
                  <a:srgbClr val="355EAB"/>
                </a:solidFill>
                <a:latin typeface="Franklin Gothic Book"/>
                <a:ea typeface="Franklin Gothic Book"/>
                <a:cs typeface="Franklin Gothic Book"/>
              </a:rPr>
              <a:t>Membagi perlakuan</a:t>
            </a:r>
          </a:p>
        </p:txBody>
      </p:sp>
      <p:sp>
        <p:nvSpPr>
          <p:cNvPr id="7" name="text-6">
            <a:extLst xmlns:a="http://schemas.openxmlformats.org/drawingml/2006/main">
              <a:ext uri="{FF2B5EF4-FFF2-40B4-BE49-F238E27FC236}">
                <a16:creationId xmlns:a16="http://schemas.microsoft.com/office/drawing/2014/main" id="{28BEA4A1-413E-4FCF-9D5B-DE090BB05CA0}"/>
              </a:ext>
            </a:extLst>
          </p:cNvPr>
          <p:cNvSpPr>
            <a:spLocks xmlns:a="http://schemas.openxmlformats.org/drawingml/2006/main" noGrp="1"/>
          </p:cNvSpPr>
          <p:nvPr/>
        </p:nvSpPr>
        <p:spPr>
          <a:xfrm xmlns:a="http://schemas.openxmlformats.org/drawingml/2006/main">
            <a:off x="6619875" y="2828925"/>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Penugasan acak menentukan kondisi yang diterima peserta dalam eksperimen. Ini berbeda dari memilih sampel secara acak.</a:t>
            </a:r>
          </a:p>
        </p:txBody>
      </p:sp>
      <p:sp>
        <p:nvSpPr>
          <p:cNvPr id="8" name="text-7">
            <a:extLst xmlns:a="http://schemas.openxmlformats.org/drawingml/2006/main">
              <a:ext uri="{FF2B5EF4-FFF2-40B4-BE49-F238E27FC236}">
                <a16:creationId xmlns:a16="http://schemas.microsoft.com/office/drawing/2014/main" id="{0F71EF2B-0D6E-4826-9E57-9C6D56C01B1B}"/>
              </a:ext>
            </a:extLst>
          </p:cNvPr>
          <p:cNvSpPr>
            <a:spLocks xmlns:a="http://schemas.openxmlformats.org/drawingml/2006/main" noGrp="1"/>
          </p:cNvSpPr>
          <p:nvPr/>
        </p:nvSpPr>
        <p:spPr>
          <a:xfrm xmlns:a="http://schemas.openxmlformats.org/drawingml/2006/main">
            <a:off x="609600" y="52387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55EAB"/>
                </a:solidFill>
                <a:latin typeface="Franklin Gothic Book"/>
                <a:ea typeface="Franklin Gothic Book"/>
                <a:cs typeface="Franklin Gothic Book"/>
              </a:defRPr>
            </a:pPr>
            <a:r>
              <a:rPr sz="2025" b="0">
                <a:solidFill>
                  <a:srgbClr val="355EAB"/>
                </a:solidFill>
                <a:latin typeface="Franklin Gothic Book"/>
                <a:ea typeface="Franklin Gothic Book"/>
                <a:cs typeface="Franklin Gothic Book"/>
              </a:rPr>
              <a:t>Penugasan acak mendukung penilaian sebab-akibat bila pelaksanaan dan analisis tepat, tetapi tidak otomatis membuat sampel representatif.</a:t>
            </a:r>
          </a:p>
        </p:txBody>
      </p:sp>
    </p:spTree>
    <p:extLst>
      <p:ext uri="{BB962C8B-B14F-4D97-AF65-F5344CB8AC3E}">
        <p14:creationId xmlns:p14="http://schemas.microsoft.com/office/powerpoint/2010/main" val="15105858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00737DA-3D07-49DF-A948-A118A1D943E8}"/>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Perancu pada kasus belajar</a:t>
            </a:r>
          </a:p>
        </p:txBody>
      </p:sp>
      <p:sp>
        <p:nvSpPr>
          <p:cNvPr id="2" name="text-1">
            <a:extLst xmlns:a="http://schemas.openxmlformats.org/drawingml/2006/main">
              <a:ext uri="{FF2B5EF4-FFF2-40B4-BE49-F238E27FC236}">
                <a16:creationId xmlns:a16="http://schemas.microsoft.com/office/drawing/2014/main" id="{FB68E3DE-44D4-42BD-A600-1A3F7F67B7E8}"/>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05</a:t>
            </a:r>
          </a:p>
        </p:txBody>
      </p:sp>
      <p:sp>
        <p:nvSpPr>
          <p:cNvPr id="3" name="text-2">
            <a:extLst xmlns:a="http://schemas.openxmlformats.org/drawingml/2006/main">
              <a:ext uri="{FF2B5EF4-FFF2-40B4-BE49-F238E27FC236}">
                <a16:creationId xmlns:a16="http://schemas.microsoft.com/office/drawing/2014/main" id="{8AFC4AD7-667A-4A1D-B3B7-FEDD1E6946E1}"/>
              </a:ext>
            </a:extLst>
          </p:cNvPr>
          <p:cNvSpPr>
            <a:spLocks xmlns:a="http://schemas.openxmlformats.org/drawingml/2006/main" noGrp="1"/>
          </p:cNvSpPr>
          <p:nvPr/>
        </p:nvSpPr>
        <p:spPr>
          <a:xfrm xmlns:a="http://schemas.openxmlformats.org/drawingml/2006/main">
            <a:off x="609600" y="20669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75" b="0">
                <a:solidFill>
                  <a:srgbClr val="355EAB"/>
                </a:solidFill>
                <a:latin typeface="Franklin Gothic Book"/>
                <a:ea typeface="Franklin Gothic Book"/>
                <a:cs typeface="Franklin Gothic Book"/>
              </a:defRPr>
            </a:pPr>
            <a:r>
              <a:rPr sz="4575" b="0">
                <a:solidFill>
                  <a:srgbClr val="355EAB"/>
                </a:solidFill>
                <a:latin typeface="Franklin Gothic Book"/>
                <a:ea typeface="Franklin Gothic Book"/>
                <a:cs typeface="Franklin Gothic Book"/>
              </a:rPr>
              <a:t>Kemampuan awal</a:t>
            </a:r>
          </a:p>
        </p:txBody>
      </p:sp>
      <p:sp>
        <p:nvSpPr>
          <p:cNvPr id="4" name="text-3">
            <a:extLst xmlns:a="http://schemas.openxmlformats.org/drawingml/2006/main">
              <a:ext uri="{FF2B5EF4-FFF2-40B4-BE49-F238E27FC236}">
                <a16:creationId xmlns:a16="http://schemas.microsoft.com/office/drawing/2014/main" id="{9F09142E-8FEC-4A40-8DFD-1B444B52F4C0}"/>
              </a:ext>
            </a:extLst>
          </p:cNvPr>
          <p:cNvSpPr>
            <a:spLocks xmlns:a="http://schemas.openxmlformats.org/drawingml/2006/main" noGrp="1"/>
          </p:cNvSpPr>
          <p:nvPr/>
        </p:nvSpPr>
        <p:spPr>
          <a:xfrm xmlns:a="http://schemas.openxmlformats.org/drawingml/2006/main">
            <a:off x="609600" y="3181350"/>
            <a:ext cx="102870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203653"/>
                </a:solidFill>
                <a:latin typeface="Franklin Gothic Book"/>
                <a:ea typeface="Franklin Gothic Book"/>
                <a:cs typeface="Franklin Gothic Book"/>
              </a:defRPr>
            </a:pPr>
            <a:r>
              <a:rPr sz="2475" b="0">
                <a:solidFill>
                  <a:srgbClr val="203653"/>
                </a:solidFill>
                <a:latin typeface="Franklin Gothic Book"/>
                <a:ea typeface="Franklin Gothic Book"/>
                <a:cs typeface="Franklin Gothic Book"/>
              </a:rPr>
              <a:t>Mahasiswa yang sudah memahami materi mungkin membutuhkan lebih sedikit waktu belajar, tetapi memperoleh skor tinggi. Pola itu dapat mengaburkan hubungan antara durasi dan hasil kuis.</a:t>
            </a:r>
          </a:p>
        </p:txBody>
      </p:sp>
      <p:sp>
        <p:nvSpPr>
          <p:cNvPr id="5" name="text-4">
            <a:extLst xmlns:a="http://schemas.openxmlformats.org/drawingml/2006/main">
              <a:ext uri="{FF2B5EF4-FFF2-40B4-BE49-F238E27FC236}">
                <a16:creationId xmlns:a16="http://schemas.microsoft.com/office/drawing/2014/main" id="{A6A21FB3-AA2C-484C-8987-3957C99F347A}"/>
              </a:ext>
            </a:extLst>
          </p:cNvPr>
          <p:cNvSpPr>
            <a:spLocks xmlns:a="http://schemas.openxmlformats.org/drawingml/2006/main" noGrp="1"/>
          </p:cNvSpPr>
          <p:nvPr/>
        </p:nvSpPr>
        <p:spPr>
          <a:xfrm xmlns:a="http://schemas.openxmlformats.org/drawingml/2006/main">
            <a:off x="609600" y="52197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Rancangan perlu mempertimbangkan informasi awal, kualitas pengukuran, dan faktor lain yang dapat memengaruhi kedua variabel.</a:t>
            </a:r>
          </a:p>
        </p:txBody>
      </p:sp>
    </p:spTree>
    <p:extLst>
      <p:ext uri="{BB962C8B-B14F-4D97-AF65-F5344CB8AC3E}">
        <p14:creationId xmlns:p14="http://schemas.microsoft.com/office/powerpoint/2010/main" val="994221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0ACA8066-19B5-4798-BEA4-D00757872037}"/>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Rencana pengumpulan data</a:t>
            </a:r>
          </a:p>
        </p:txBody>
      </p:sp>
      <p:sp>
        <p:nvSpPr>
          <p:cNvPr id="2" name="text-1">
            <a:extLst xmlns:a="http://schemas.openxmlformats.org/drawingml/2006/main">
              <a:ext uri="{FF2B5EF4-FFF2-40B4-BE49-F238E27FC236}">
                <a16:creationId xmlns:a16="http://schemas.microsoft.com/office/drawing/2014/main" id="{8616920A-39CC-49A7-83B4-754E2E0995E9}"/>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06</a:t>
            </a:r>
          </a:p>
        </p:txBody>
      </p:sp>
      <p:sp>
        <p:nvSpPr>
          <p:cNvPr id="3" name="text-2">
            <a:extLst xmlns:a="http://schemas.openxmlformats.org/drawingml/2006/main">
              <a:ext uri="{FF2B5EF4-FFF2-40B4-BE49-F238E27FC236}">
                <a16:creationId xmlns:a16="http://schemas.microsoft.com/office/drawing/2014/main" id="{2CD1C680-1A3F-495B-B08B-057D144C78CE}"/>
              </a:ext>
            </a:extLst>
          </p:cNvPr>
          <p:cNvSpPr>
            <a:spLocks xmlns:a="http://schemas.openxmlformats.org/drawingml/2006/main" noGrp="1"/>
          </p:cNvSpPr>
          <p:nvPr/>
        </p:nvSpPr>
        <p:spPr>
          <a:xfrm xmlns:a="http://schemas.openxmlformats.org/drawingml/2006/main">
            <a:off x="609600" y="64008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203653"/>
                </a:solidFill>
                <a:latin typeface="Franklin Gothic Book"/>
                <a:ea typeface="Franklin Gothic Book"/>
                <a:cs typeface="Franklin Gothic Book"/>
              </a:defRPr>
            </a:pPr>
            <a:r>
              <a:rPr sz="1125" b="0">
                <a:solidFill>
                  <a:srgbClr val="203653"/>
                </a:solidFill>
                <a:latin typeface="Franklin Gothic Book"/>
                <a:ea typeface="Franklin Gothic Book"/>
                <a:cs typeface="Franklin Gothic Book"/>
              </a:rPr>
              <a:t>Contoh rancangan latihan. Pelaksanaan nyata perlu peninjauan yang sesuai.</a:t>
            </a:r>
          </a:p>
        </p:txBody>
      </p:sp>
      <p:sp>
        <p:nvSpPr>
          <p:cNvPr id="4" name="text-3">
            <a:extLst xmlns:a="http://schemas.openxmlformats.org/drawingml/2006/main">
              <a:ext uri="{FF2B5EF4-FFF2-40B4-BE49-F238E27FC236}">
                <a16:creationId xmlns:a16="http://schemas.microsoft.com/office/drawing/2014/main" id="{108555D5-E646-42AE-902D-FE63FA772CF0}"/>
              </a:ext>
            </a:extLst>
          </p:cNvPr>
          <p:cNvSpPr>
            <a:spLocks xmlns:a="http://schemas.openxmlformats.org/drawingml/2006/main" noGrp="1"/>
          </p:cNvSpPr>
          <p:nvPr/>
        </p:nvSpPr>
        <p:spPr>
          <a:xfrm xmlns:a="http://schemas.openxmlformats.org/drawingml/2006/main">
            <a:off x="609600" y="19621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355EAB"/>
                </a:solidFill>
                <a:latin typeface="Franklin Gothic Book"/>
                <a:ea typeface="Franklin Gothic Book"/>
                <a:cs typeface="Franklin Gothic Book"/>
              </a:defRPr>
            </a:pPr>
            <a:r>
              <a:rPr sz="2925" b="0">
                <a:solidFill>
                  <a:srgbClr val="355EAB"/>
                </a:solidFill>
                <a:latin typeface="Franklin Gothic Book"/>
                <a:ea typeface="Franklin Gothic Book"/>
                <a:cs typeface="Franklin Gothic Book"/>
              </a:rPr>
              <a:t>01</a:t>
            </a:r>
          </a:p>
        </p:txBody>
      </p:sp>
      <p:sp>
        <p:nvSpPr>
          <p:cNvPr id="5" name="text-4">
            <a:extLst xmlns:a="http://schemas.openxmlformats.org/drawingml/2006/main">
              <a:ext uri="{FF2B5EF4-FFF2-40B4-BE49-F238E27FC236}">
                <a16:creationId xmlns:a16="http://schemas.microsoft.com/office/drawing/2014/main" id="{9C8737AF-1174-4863-8555-D4B4EF740DA5}"/>
              </a:ext>
            </a:extLst>
          </p:cNvPr>
          <p:cNvSpPr>
            <a:spLocks xmlns:a="http://schemas.openxmlformats.org/drawingml/2006/main" noGrp="1"/>
          </p:cNvSpPr>
          <p:nvPr/>
        </p:nvSpPr>
        <p:spPr>
          <a:xfrm xmlns:a="http://schemas.openxmlformats.org/drawingml/2006/main">
            <a:off x="1790700" y="1962150"/>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355EAB"/>
                </a:solidFill>
                <a:latin typeface="Franklin Gothic Book"/>
                <a:ea typeface="Franklin Gothic Book"/>
                <a:cs typeface="Franklin Gothic Book"/>
              </a:defRPr>
            </a:pPr>
            <a:r>
              <a:rPr sz="2325" b="0">
                <a:solidFill>
                  <a:srgbClr val="355EAB"/>
                </a:solidFill>
                <a:latin typeface="Franklin Gothic Book"/>
                <a:ea typeface="Franklin Gothic Book"/>
                <a:cs typeface="Franklin Gothic Book"/>
              </a:rPr>
              <a:t>Definisi</a:t>
            </a:r>
          </a:p>
        </p:txBody>
      </p:sp>
      <p:sp>
        <p:nvSpPr>
          <p:cNvPr id="6" name="text-5">
            <a:extLst xmlns:a="http://schemas.openxmlformats.org/drawingml/2006/main">
              <a:ext uri="{FF2B5EF4-FFF2-40B4-BE49-F238E27FC236}">
                <a16:creationId xmlns:a16="http://schemas.microsoft.com/office/drawing/2014/main" id="{C7471972-6FBD-482C-AC39-9DC7566527E2}"/>
              </a:ext>
            </a:extLst>
          </p:cNvPr>
          <p:cNvSpPr>
            <a:spLocks xmlns:a="http://schemas.openxmlformats.org/drawingml/2006/main" noGrp="1"/>
          </p:cNvSpPr>
          <p:nvPr/>
        </p:nvSpPr>
        <p:spPr>
          <a:xfrm xmlns:a="http://schemas.openxmlformats.org/drawingml/2006/main">
            <a:off x="5181600" y="1990725"/>
            <a:ext cx="633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Tetapkan periode durasi belajar dan bentuk kuis yang sama.</a:t>
            </a:r>
          </a:p>
        </p:txBody>
      </p:sp>
      <p:sp>
        <p:nvSpPr>
          <p:cNvPr id="7" name="text-6">
            <a:extLst xmlns:a="http://schemas.openxmlformats.org/drawingml/2006/main">
              <a:ext uri="{FF2B5EF4-FFF2-40B4-BE49-F238E27FC236}">
                <a16:creationId xmlns:a16="http://schemas.microsoft.com/office/drawing/2014/main" id="{35498404-72A7-430C-AD62-4A7F7696260F}"/>
              </a:ext>
            </a:extLst>
          </p:cNvPr>
          <p:cNvSpPr>
            <a:spLocks xmlns:a="http://schemas.openxmlformats.org/drawingml/2006/main" noGrp="1"/>
          </p:cNvSpPr>
          <p:nvPr/>
        </p:nvSpPr>
        <p:spPr>
          <a:xfrm xmlns:a="http://schemas.openxmlformats.org/drawingml/2006/main">
            <a:off x="609600" y="2924175"/>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355EAB"/>
                </a:solidFill>
                <a:latin typeface="Franklin Gothic Book"/>
                <a:ea typeface="Franklin Gothic Book"/>
                <a:cs typeface="Franklin Gothic Book"/>
              </a:defRPr>
            </a:pPr>
            <a:r>
              <a:rPr sz="2925" b="0">
                <a:solidFill>
                  <a:srgbClr val="355EAB"/>
                </a:solidFill>
                <a:latin typeface="Franklin Gothic Book"/>
                <a:ea typeface="Franklin Gothic Book"/>
                <a:cs typeface="Franklin Gothic Book"/>
              </a:rPr>
              <a:t>02</a:t>
            </a:r>
          </a:p>
        </p:txBody>
      </p:sp>
      <p:sp>
        <p:nvSpPr>
          <p:cNvPr id="8" name="text-7">
            <a:extLst xmlns:a="http://schemas.openxmlformats.org/drawingml/2006/main">
              <a:ext uri="{FF2B5EF4-FFF2-40B4-BE49-F238E27FC236}">
                <a16:creationId xmlns:a16="http://schemas.microsoft.com/office/drawing/2014/main" id="{C2C6B6C6-AF39-4CE3-915F-ADB9CC53A678}"/>
              </a:ext>
            </a:extLst>
          </p:cNvPr>
          <p:cNvSpPr>
            <a:spLocks xmlns:a="http://schemas.openxmlformats.org/drawingml/2006/main" noGrp="1"/>
          </p:cNvSpPr>
          <p:nvPr/>
        </p:nvSpPr>
        <p:spPr>
          <a:xfrm xmlns:a="http://schemas.openxmlformats.org/drawingml/2006/main">
            <a:off x="1790700" y="292417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355EAB"/>
                </a:solidFill>
                <a:latin typeface="Franklin Gothic Book"/>
                <a:ea typeface="Franklin Gothic Book"/>
                <a:cs typeface="Franklin Gothic Book"/>
              </a:defRPr>
            </a:pPr>
            <a:r>
              <a:rPr sz="2325" b="0">
                <a:solidFill>
                  <a:srgbClr val="355EAB"/>
                </a:solidFill>
                <a:latin typeface="Franklin Gothic Book"/>
                <a:ea typeface="Franklin Gothic Book"/>
                <a:cs typeface="Franklin Gothic Book"/>
              </a:rPr>
              <a:t>Uji pertanyaan</a:t>
            </a:r>
          </a:p>
        </p:txBody>
      </p:sp>
      <p:sp>
        <p:nvSpPr>
          <p:cNvPr id="9" name="text-8">
            <a:extLst xmlns:a="http://schemas.openxmlformats.org/drawingml/2006/main">
              <a:ext uri="{FF2B5EF4-FFF2-40B4-BE49-F238E27FC236}">
                <a16:creationId xmlns:a16="http://schemas.microsoft.com/office/drawing/2014/main" id="{50BF8D84-48F1-40B6-9DC2-B8BF2D00DC31}"/>
              </a:ext>
            </a:extLst>
          </p:cNvPr>
          <p:cNvSpPr>
            <a:spLocks xmlns:a="http://schemas.openxmlformats.org/drawingml/2006/main" noGrp="1"/>
          </p:cNvSpPr>
          <p:nvPr/>
        </p:nvSpPr>
        <p:spPr>
          <a:xfrm xmlns:a="http://schemas.openxmlformats.org/drawingml/2006/main">
            <a:off x="5181600" y="2952750"/>
            <a:ext cx="633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Periksa apakah peserta menafsirkan “belajar mandiri” secara seragam.</a:t>
            </a:r>
          </a:p>
        </p:txBody>
      </p:sp>
      <p:sp>
        <p:nvSpPr>
          <p:cNvPr id="10" name="text-9">
            <a:extLst xmlns:a="http://schemas.openxmlformats.org/drawingml/2006/main">
              <a:ext uri="{FF2B5EF4-FFF2-40B4-BE49-F238E27FC236}">
                <a16:creationId xmlns:a16="http://schemas.microsoft.com/office/drawing/2014/main" id="{AC6BB93F-7A94-444B-96B2-027EEF1E0B20}"/>
              </a:ext>
            </a:extLst>
          </p:cNvPr>
          <p:cNvSpPr>
            <a:spLocks xmlns:a="http://schemas.openxmlformats.org/drawingml/2006/main" noGrp="1"/>
          </p:cNvSpPr>
          <p:nvPr/>
        </p:nvSpPr>
        <p:spPr>
          <a:xfrm xmlns:a="http://schemas.openxmlformats.org/drawingml/2006/main">
            <a:off x="609600" y="388620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355EAB"/>
                </a:solidFill>
                <a:latin typeface="Franklin Gothic Book"/>
                <a:ea typeface="Franklin Gothic Book"/>
                <a:cs typeface="Franklin Gothic Book"/>
              </a:defRPr>
            </a:pPr>
            <a:r>
              <a:rPr sz="2925" b="0">
                <a:solidFill>
                  <a:srgbClr val="355EAB"/>
                </a:solidFill>
                <a:latin typeface="Franklin Gothic Book"/>
                <a:ea typeface="Franklin Gothic Book"/>
                <a:cs typeface="Franklin Gothic Book"/>
              </a:rPr>
              <a:t>03</a:t>
            </a:r>
          </a:p>
        </p:txBody>
      </p:sp>
      <p:sp>
        <p:nvSpPr>
          <p:cNvPr id="11" name="text-10">
            <a:extLst xmlns:a="http://schemas.openxmlformats.org/drawingml/2006/main">
              <a:ext uri="{FF2B5EF4-FFF2-40B4-BE49-F238E27FC236}">
                <a16:creationId xmlns:a16="http://schemas.microsoft.com/office/drawing/2014/main" id="{2A9C4727-830C-45C8-A088-16F96DDE6695}"/>
              </a:ext>
            </a:extLst>
          </p:cNvPr>
          <p:cNvSpPr>
            <a:spLocks xmlns:a="http://schemas.openxmlformats.org/drawingml/2006/main" noGrp="1"/>
          </p:cNvSpPr>
          <p:nvPr/>
        </p:nvSpPr>
        <p:spPr>
          <a:xfrm xmlns:a="http://schemas.openxmlformats.org/drawingml/2006/main">
            <a:off x="1790700" y="3886200"/>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355EAB"/>
                </a:solidFill>
                <a:latin typeface="Franklin Gothic Book"/>
                <a:ea typeface="Franklin Gothic Book"/>
                <a:cs typeface="Franklin Gothic Book"/>
              </a:defRPr>
            </a:pPr>
            <a:r>
              <a:rPr sz="2325" b="0">
                <a:solidFill>
                  <a:srgbClr val="355EAB"/>
                </a:solidFill>
                <a:latin typeface="Franklin Gothic Book"/>
                <a:ea typeface="Franklin Gothic Book"/>
                <a:cs typeface="Franklin Gothic Book"/>
              </a:rPr>
              <a:t>Pencatatan</a:t>
            </a:r>
          </a:p>
        </p:txBody>
      </p:sp>
      <p:sp>
        <p:nvSpPr>
          <p:cNvPr id="12" name="text-11">
            <a:extLst xmlns:a="http://schemas.openxmlformats.org/drawingml/2006/main">
              <a:ext uri="{FF2B5EF4-FFF2-40B4-BE49-F238E27FC236}">
                <a16:creationId xmlns:a16="http://schemas.microsoft.com/office/drawing/2014/main" id="{520462F0-50C3-451F-B421-EA56B77ADC34}"/>
              </a:ext>
            </a:extLst>
          </p:cNvPr>
          <p:cNvSpPr>
            <a:spLocks xmlns:a="http://schemas.openxmlformats.org/drawingml/2006/main" noGrp="1"/>
          </p:cNvSpPr>
          <p:nvPr/>
        </p:nvSpPr>
        <p:spPr>
          <a:xfrm xmlns:a="http://schemas.openxmlformats.org/drawingml/2006/main">
            <a:off x="5181600" y="3914775"/>
            <a:ext cx="633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Simpan data yang diperlukan dan tandai respons yang tidak lengkap.</a:t>
            </a:r>
          </a:p>
        </p:txBody>
      </p:sp>
      <p:sp>
        <p:nvSpPr>
          <p:cNvPr id="13" name="text-12">
            <a:extLst xmlns:a="http://schemas.openxmlformats.org/drawingml/2006/main">
              <a:ext uri="{FF2B5EF4-FFF2-40B4-BE49-F238E27FC236}">
                <a16:creationId xmlns:a16="http://schemas.microsoft.com/office/drawing/2014/main" id="{71D7FFD6-6E80-4E92-9227-2222E18E4A8B}"/>
              </a:ext>
            </a:extLst>
          </p:cNvPr>
          <p:cNvSpPr>
            <a:spLocks xmlns:a="http://schemas.openxmlformats.org/drawingml/2006/main" noGrp="1"/>
          </p:cNvSpPr>
          <p:nvPr/>
        </p:nvSpPr>
        <p:spPr>
          <a:xfrm xmlns:a="http://schemas.openxmlformats.org/drawingml/2006/main">
            <a:off x="609600" y="4848225"/>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355EAB"/>
                </a:solidFill>
                <a:latin typeface="Franklin Gothic Book"/>
                <a:ea typeface="Franklin Gothic Book"/>
                <a:cs typeface="Franklin Gothic Book"/>
              </a:defRPr>
            </a:pPr>
            <a:r>
              <a:rPr sz="2925" b="0">
                <a:solidFill>
                  <a:srgbClr val="355EAB"/>
                </a:solidFill>
                <a:latin typeface="Franklin Gothic Book"/>
                <a:ea typeface="Franklin Gothic Book"/>
                <a:cs typeface="Franklin Gothic Book"/>
              </a:rPr>
              <a:t>04</a:t>
            </a:r>
          </a:p>
        </p:txBody>
      </p:sp>
      <p:sp>
        <p:nvSpPr>
          <p:cNvPr id="14" name="text-13">
            <a:extLst xmlns:a="http://schemas.openxmlformats.org/drawingml/2006/main">
              <a:ext uri="{FF2B5EF4-FFF2-40B4-BE49-F238E27FC236}">
                <a16:creationId xmlns:a16="http://schemas.microsoft.com/office/drawing/2014/main" id="{3AA8CF34-C0A2-4EC8-BB9B-2338D70E80DB}"/>
              </a:ext>
            </a:extLst>
          </p:cNvPr>
          <p:cNvSpPr>
            <a:spLocks xmlns:a="http://schemas.openxmlformats.org/drawingml/2006/main" noGrp="1"/>
          </p:cNvSpPr>
          <p:nvPr/>
        </p:nvSpPr>
        <p:spPr>
          <a:xfrm xmlns:a="http://schemas.openxmlformats.org/drawingml/2006/main">
            <a:off x="1790700" y="48482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355EAB"/>
                </a:solidFill>
                <a:latin typeface="Franklin Gothic Book"/>
                <a:ea typeface="Franklin Gothic Book"/>
                <a:cs typeface="Franklin Gothic Book"/>
              </a:defRPr>
            </a:pPr>
            <a:r>
              <a:rPr sz="2325" b="0">
                <a:solidFill>
                  <a:srgbClr val="355EAB"/>
                </a:solidFill>
                <a:latin typeface="Franklin Gothic Book"/>
                <a:ea typeface="Franklin Gothic Book"/>
                <a:cs typeface="Franklin Gothic Book"/>
              </a:rPr>
              <a:t>Pelaporan</a:t>
            </a:r>
          </a:p>
        </p:txBody>
      </p:sp>
      <p:sp>
        <p:nvSpPr>
          <p:cNvPr id="15" name="text-14">
            <a:extLst xmlns:a="http://schemas.openxmlformats.org/drawingml/2006/main">
              <a:ext uri="{FF2B5EF4-FFF2-40B4-BE49-F238E27FC236}">
                <a16:creationId xmlns:a16="http://schemas.microsoft.com/office/drawing/2014/main" id="{EDB9C656-4140-45D1-B093-2184AF6231A9}"/>
              </a:ext>
            </a:extLst>
          </p:cNvPr>
          <p:cNvSpPr>
            <a:spLocks xmlns:a="http://schemas.openxmlformats.org/drawingml/2006/main" noGrp="1"/>
          </p:cNvSpPr>
          <p:nvPr/>
        </p:nvSpPr>
        <p:spPr>
          <a:xfrm xmlns:a="http://schemas.openxmlformats.org/drawingml/2006/main">
            <a:off x="5181600" y="4876800"/>
            <a:ext cx="633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3653"/>
                </a:solidFill>
                <a:latin typeface="Franklin Gothic Book"/>
                <a:ea typeface="Franklin Gothic Book"/>
                <a:cs typeface="Franklin Gothic Book"/>
              </a:defRPr>
            </a:pPr>
            <a:r>
              <a:rPr sz="2025" b="0">
                <a:solidFill>
                  <a:srgbClr val="203653"/>
                </a:solidFill>
                <a:latin typeface="Franklin Gothic Book"/>
                <a:ea typeface="Franklin Gothic Book"/>
                <a:cs typeface="Franklin Gothic Book"/>
              </a:rPr>
              <a:t>Nyatakan siapa yang ikut, cara pemilihan, dan keterbatasan pengukuran.</a:t>
            </a:r>
          </a:p>
        </p:txBody>
      </p:sp>
    </p:spTree>
    <p:extLst>
      <p:ext uri="{BB962C8B-B14F-4D97-AF65-F5344CB8AC3E}">
        <p14:creationId xmlns:p14="http://schemas.microsoft.com/office/powerpoint/2010/main" val="16595569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F43AC5E-FA90-4A1C-A67D-B771D52D5EB9}"/>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Latihan menilai kesimpulan</a:t>
            </a:r>
          </a:p>
        </p:txBody>
      </p:sp>
      <p:sp>
        <p:nvSpPr>
          <p:cNvPr id="2" name="text-1">
            <a:extLst xmlns:a="http://schemas.openxmlformats.org/drawingml/2006/main">
              <a:ext uri="{FF2B5EF4-FFF2-40B4-BE49-F238E27FC236}">
                <a16:creationId xmlns:a16="http://schemas.microsoft.com/office/drawing/2014/main" id="{46E994EC-9815-4CF4-A79A-8B6222A06FE4}"/>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07</a:t>
            </a:r>
          </a:p>
        </p:txBody>
      </p:sp>
      <p:sp>
        <p:nvSpPr>
          <p:cNvPr id="3" name="text-2">
            <a:extLst xmlns:a="http://schemas.openxmlformats.org/drawingml/2006/main">
              <a:ext uri="{FF2B5EF4-FFF2-40B4-BE49-F238E27FC236}">
                <a16:creationId xmlns:a16="http://schemas.microsoft.com/office/drawing/2014/main" id="{AA39821D-11A9-4FCE-A927-519F08779C11}"/>
              </a:ext>
            </a:extLst>
          </p:cNvPr>
          <p:cNvSpPr>
            <a:spLocks xmlns:a="http://schemas.openxmlformats.org/drawingml/2006/main" noGrp="1"/>
          </p:cNvSpPr>
          <p:nvPr/>
        </p:nvSpPr>
        <p:spPr>
          <a:xfrm xmlns:a="http://schemas.openxmlformats.org/drawingml/2006/main">
            <a:off x="609600" y="2019300"/>
            <a:ext cx="1057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0">
                <a:solidFill>
                  <a:srgbClr val="355EAB"/>
                </a:solidFill>
                <a:latin typeface="Franklin Gothic Book"/>
                <a:ea typeface="Franklin Gothic Book"/>
                <a:cs typeface="Franklin Gothic Book"/>
              </a:defRPr>
            </a:pPr>
            <a:r>
              <a:rPr sz="3675" b="0">
                <a:solidFill>
                  <a:srgbClr val="355EAB"/>
                </a:solidFill>
                <a:latin typeface="Franklin Gothic Book"/>
                <a:ea typeface="Franklin Gothic Book"/>
                <a:cs typeface="Franklin Gothic Book"/>
              </a:rPr>
              <a:t>“Belajar lebih lama menyebabkan</a:t>
            </a:r>
          </a:p>
          <a:p xmlns:a="http://schemas.openxmlformats.org/drawingml/2006/main">
            <a:pPr>
              <a:defRPr sz="3675" b="0">
                <a:solidFill>
                  <a:srgbClr val="355EAB"/>
                </a:solidFill>
                <a:latin typeface="Franklin Gothic Book"/>
                <a:ea typeface="Franklin Gothic Book"/>
                <a:cs typeface="Franklin Gothic Book"/>
              </a:defRPr>
            </a:pPr>
            <a:r>
              <a:rPr sz="3675" b="0">
                <a:solidFill>
                  <a:srgbClr val="355EAB"/>
                </a:solidFill>
                <a:latin typeface="Franklin Gothic Book"/>
                <a:ea typeface="Franklin Gothic Book"/>
                <a:cs typeface="Franklin Gothic Book"/>
              </a:rPr>
              <a:t>skor mahasiswa meningkat.”</a:t>
            </a:r>
          </a:p>
        </p:txBody>
      </p:sp>
      <p:sp>
        <p:nvSpPr>
          <p:cNvPr id="4" name="text-3">
            <a:extLst xmlns:a="http://schemas.openxmlformats.org/drawingml/2006/main">
              <a:ext uri="{FF2B5EF4-FFF2-40B4-BE49-F238E27FC236}">
                <a16:creationId xmlns:a16="http://schemas.microsoft.com/office/drawing/2014/main" id="{24177C13-9C44-4CBE-A77C-8B2A5B4DA0D6}"/>
              </a:ext>
            </a:extLst>
          </p:cNvPr>
          <p:cNvSpPr>
            <a:spLocks xmlns:a="http://schemas.openxmlformats.org/drawingml/2006/main" noGrp="1"/>
          </p:cNvSpPr>
          <p:nvPr/>
        </p:nvSpPr>
        <p:spPr>
          <a:xfrm xmlns:a="http://schemas.openxmlformats.org/drawingml/2006/main">
            <a:off x="609600" y="37338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203653"/>
                </a:solidFill>
                <a:latin typeface="Franklin Gothic Book"/>
                <a:ea typeface="Franklin Gothic Book"/>
                <a:cs typeface="Franklin Gothic Book"/>
              </a:defRPr>
            </a:pPr>
            <a:r>
              <a:rPr sz="2325" b="0">
                <a:solidFill>
                  <a:srgbClr val="203653"/>
                </a:solidFill>
                <a:latin typeface="Franklin Gothic Book"/>
                <a:ea typeface="Franklin Gothic Book"/>
                <a:cs typeface="Franklin Gothic Book"/>
              </a:rPr>
              <a:t>Peneliti hanya mencatat laporan durasi belajar dan skor kuis. Jelaskan masalah pada kesimpulan tersebut. Sebutkan satu informasi tambahan yang dibutuhkan dan tulis ulang kesimpulan sesuai rancangan.</a:t>
            </a:r>
          </a:p>
        </p:txBody>
      </p:sp>
      <p:sp>
        <p:nvSpPr>
          <p:cNvPr id="5" name="text-4">
            <a:extLst xmlns:a="http://schemas.openxmlformats.org/drawingml/2006/main">
              <a:ext uri="{FF2B5EF4-FFF2-40B4-BE49-F238E27FC236}">
                <a16:creationId xmlns:a16="http://schemas.microsoft.com/office/drawing/2014/main" id="{E80BD590-7394-4876-A5ED-A4B96882C0E6}"/>
              </a:ext>
            </a:extLst>
          </p:cNvPr>
          <p:cNvSpPr>
            <a:spLocks xmlns:a="http://schemas.openxmlformats.org/drawingml/2006/main" noGrp="1"/>
          </p:cNvSpPr>
          <p:nvPr/>
        </p:nvSpPr>
        <p:spPr>
          <a:xfrm xmlns:a="http://schemas.openxmlformats.org/drawingml/2006/main">
            <a:off x="609600" y="58293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03653"/>
                </a:solidFill>
                <a:latin typeface="Franklin Gothic Book"/>
                <a:ea typeface="Franklin Gothic Book"/>
                <a:cs typeface="Franklin Gothic Book"/>
              </a:defRPr>
            </a:pPr>
            <a:r>
              <a:rPr sz="1650" b="0">
                <a:solidFill>
                  <a:srgbClr val="203653"/>
                </a:solidFill>
                <a:latin typeface="Franklin Gothic Book"/>
                <a:ea typeface="Franklin Gothic Book"/>
                <a:cs typeface="Franklin Gothic Book"/>
              </a:rPr>
              <a:t>Tidak ada hasil survei nyata dalam latihan ini.</a:t>
            </a:r>
          </a:p>
        </p:txBody>
      </p:sp>
    </p:spTree>
    <p:extLst>
      <p:ext uri="{BB962C8B-B14F-4D97-AF65-F5344CB8AC3E}">
        <p14:creationId xmlns:p14="http://schemas.microsoft.com/office/powerpoint/2010/main" val="20391265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F16E4E5-C9B7-4ABB-ABCD-A41668F1405F}"/>
              </a:ext>
            </a:extLst>
          </p:cNvPr>
          <p:cNvSpPr>
            <a:spLocks xmlns:a="http://schemas.openxmlformats.org/drawingml/2006/main" noGrp="1"/>
          </p:cNvSpPr>
          <p:nvPr/>
        </p:nvSpPr>
        <p:spPr>
          <a:xfrm xmlns:a="http://schemas.openxmlformats.org/drawingml/2006/main">
            <a:off x="609600" y="5905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203653"/>
                </a:solidFill>
                <a:latin typeface="Franklin Gothic Book"/>
                <a:ea typeface="Franklin Gothic Book"/>
                <a:cs typeface="Franklin Gothic Book"/>
              </a:defRPr>
            </a:pPr>
            <a:r>
              <a:rPr sz="3900" b="0">
                <a:solidFill>
                  <a:srgbClr val="203653"/>
                </a:solidFill>
                <a:latin typeface="Franklin Gothic Book"/>
                <a:ea typeface="Franklin Gothic Book"/>
                <a:cs typeface="Franklin Gothic Book"/>
              </a:rPr>
              <a:t>Rangkuman dan bacaan</a:t>
            </a:r>
          </a:p>
        </p:txBody>
      </p:sp>
      <p:sp>
        <p:nvSpPr>
          <p:cNvPr id="2" name="text-1">
            <a:extLst xmlns:a="http://schemas.openxmlformats.org/drawingml/2006/main">
              <a:ext uri="{FF2B5EF4-FFF2-40B4-BE49-F238E27FC236}">
                <a16:creationId xmlns:a16="http://schemas.microsoft.com/office/drawing/2014/main" id="{6195036D-4E06-4A00-BE9F-020D3C15F70D}"/>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03653"/>
                </a:solidFill>
                <a:latin typeface="Franklin Gothic Book"/>
                <a:ea typeface="Franklin Gothic Book"/>
                <a:cs typeface="Franklin Gothic Book"/>
              </a:defRPr>
            </a:pPr>
            <a:r>
              <a:rPr sz="1200" b="0">
                <a:solidFill>
                  <a:srgbClr val="203653"/>
                </a:solidFill>
                <a:latin typeface="Franklin Gothic Book"/>
                <a:ea typeface="Franklin Gothic Book"/>
                <a:cs typeface="Franklin Gothic Book"/>
              </a:rPr>
              <a:t>08</a:t>
            </a:r>
          </a:p>
        </p:txBody>
      </p:sp>
      <p:sp>
        <p:nvSpPr>
          <p:cNvPr id="3" name="text-2">
            <a:extLst xmlns:a="http://schemas.openxmlformats.org/drawingml/2006/main">
              <a:ext uri="{FF2B5EF4-FFF2-40B4-BE49-F238E27FC236}">
                <a16:creationId xmlns:a16="http://schemas.microsoft.com/office/drawing/2014/main" id="{4EE66E57-4628-4D2A-AB23-F45C4AEE94E3}"/>
              </a:ext>
            </a:extLst>
          </p:cNvPr>
          <p:cNvSpPr>
            <a:spLocks xmlns:a="http://schemas.openxmlformats.org/drawingml/2006/main" noGrp="1"/>
          </p:cNvSpPr>
          <p:nvPr/>
        </p:nvSpPr>
        <p:spPr>
          <a:xfrm xmlns:a="http://schemas.openxmlformats.org/drawingml/2006/main">
            <a:off x="609600" y="2000250"/>
            <a:ext cx="10477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203653"/>
                </a:solidFill>
                <a:latin typeface="Franklin Gothic Book"/>
                <a:ea typeface="Franklin Gothic Book"/>
                <a:cs typeface="Franklin Gothic Book"/>
              </a:defRPr>
            </a:pPr>
            <a:r>
              <a:rPr sz="2475" b="0">
                <a:solidFill>
                  <a:srgbClr val="203653"/>
                </a:solidFill>
                <a:latin typeface="Franklin Gothic Book"/>
                <a:ea typeface="Franklin Gothic Book"/>
                <a:cs typeface="Franklin Gothic Book"/>
              </a:rPr>
              <a:t>Pertanyaan mengarahkan variabel dan rancangan. Diagram membantu memilih langkah, sedangkan batas desain menentukan kesimpulan yang dapat dipertanggungjawabkan.</a:t>
            </a:r>
          </a:p>
        </p:txBody>
      </p:sp>
      <p:sp>
        <p:nvSpPr>
          <p:cNvPr id="4" name="text-3">
            <a:extLst xmlns:a="http://schemas.openxmlformats.org/drawingml/2006/main">
              <a:ext uri="{FF2B5EF4-FFF2-40B4-BE49-F238E27FC236}">
                <a16:creationId xmlns:a16="http://schemas.microsoft.com/office/drawing/2014/main" id="{C050FEFF-EF0B-44E5-8AEA-7E26F41FDFD9}"/>
              </a:ext>
            </a:extLst>
          </p:cNvPr>
          <p:cNvSpPr>
            <a:spLocks xmlns:a="http://schemas.openxmlformats.org/drawingml/2006/main" noGrp="1"/>
          </p:cNvSpPr>
          <p:nvPr/>
        </p:nvSpPr>
        <p:spPr>
          <a:xfrm xmlns:a="http://schemas.openxmlformats.org/drawingml/2006/main">
            <a:off x="609600" y="3667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355EAB"/>
                </a:solidFill>
                <a:latin typeface="Franklin Gothic Book"/>
                <a:ea typeface="Franklin Gothic Book"/>
                <a:cs typeface="Franklin Gothic Book"/>
              </a:defRPr>
            </a:pPr>
            <a:r>
              <a:rPr sz="2250" b="0">
                <a:solidFill>
                  <a:srgbClr val="355EAB"/>
                </a:solidFill>
                <a:latin typeface="Franklin Gothic Book"/>
                <a:ea typeface="Franklin Gothic Book"/>
                <a:cs typeface="Franklin Gothic Book"/>
              </a:rPr>
              <a:t>Bacaan konsep</a:t>
            </a:r>
          </a:p>
        </p:txBody>
      </p:sp>
      <p:sp>
        <p:nvSpPr>
          <p:cNvPr id="5" name="text-4">
            <a:extLst xmlns:a="http://schemas.openxmlformats.org/drawingml/2006/main">
              <a:ext uri="{FF2B5EF4-FFF2-40B4-BE49-F238E27FC236}">
                <a16:creationId xmlns:a16="http://schemas.microsoft.com/office/drawing/2014/main" id="{02DD09C2-1C60-45A7-9E33-B313B1EEE917}"/>
              </a:ext>
            </a:extLst>
          </p:cNvPr>
          <p:cNvSpPr>
            <a:spLocks xmlns:a="http://schemas.openxmlformats.org/drawingml/2006/main" noGrp="1"/>
          </p:cNvSpPr>
          <p:nvPr/>
        </p:nvSpPr>
        <p:spPr>
          <a:xfrm xmlns:a="http://schemas.openxmlformats.org/drawingml/2006/main">
            <a:off x="609600" y="42481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203653"/>
                </a:solidFill>
                <a:latin typeface="Franklin Gothic Book"/>
                <a:ea typeface="Franklin Gothic Book"/>
                <a:cs typeface="Franklin Gothic Book"/>
              </a:defRPr>
            </a:pPr>
            <a:r>
              <a:rPr sz="1575" b="0">
                <a:solidFill>
                  <a:srgbClr val="203653"/>
                </a:solidFill>
                <a:latin typeface="Franklin Gothic Book"/>
                <a:ea typeface="Franklin Gothic Book"/>
                <a:cs typeface="Franklin Gothic Book"/>
              </a:rPr>
              <a:t>https://openstax.org/books/introductory-statistics-2e/pages/1-4-experimental-design-and-ethics</a:t>
            </a:r>
          </a:p>
        </p:txBody>
      </p:sp>
      <p:sp>
        <p:nvSpPr>
          <p:cNvPr id="6" name="text-5">
            <a:extLst xmlns:a="http://schemas.openxmlformats.org/drawingml/2006/main">
              <a:ext uri="{FF2B5EF4-FFF2-40B4-BE49-F238E27FC236}">
                <a16:creationId xmlns:a16="http://schemas.microsoft.com/office/drawing/2014/main" id="{D39752ED-4D35-4F63-B0C2-924478123407}"/>
              </a:ext>
            </a:extLst>
          </p:cNvPr>
          <p:cNvSpPr>
            <a:spLocks xmlns:a="http://schemas.openxmlformats.org/drawingml/2006/main" noGrp="1"/>
          </p:cNvSpPr>
          <p:nvPr/>
        </p:nvSpPr>
        <p:spPr>
          <a:xfrm xmlns:a="http://schemas.openxmlformats.org/drawingml/2006/main">
            <a:off x="609600" y="55340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03653"/>
                </a:solidFill>
                <a:latin typeface="Franklin Gothic Book"/>
                <a:ea typeface="Franklin Gothic Book"/>
                <a:cs typeface="Franklin Gothic Book"/>
              </a:defRPr>
            </a:pPr>
            <a:r>
              <a:rPr sz="1650" b="0">
                <a:solidFill>
                  <a:srgbClr val="203653"/>
                </a:solidFill>
                <a:latin typeface="Franklin Gothic Book"/>
                <a:ea typeface="Franklin Gothic Book"/>
                <a:cs typeface="Franklin Gothic Book"/>
              </a:rPr>
              <a:t>Kasus dan data latihan merupakan contoh orisinal hipotetis. Sesuaikan dengan RPS, prasyarat, dan waktu kelas.</a:t>
            </a:r>
          </a:p>
        </p:txBody>
      </p:sp>
    </p:spTree>
    <p:extLst>
      <p:ext uri="{BB962C8B-B14F-4D97-AF65-F5344CB8AC3E}">
        <p14:creationId xmlns:p14="http://schemas.microsoft.com/office/powerpoint/2010/main" val="1057118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2026-09-26T16:08:57.4350000Z</dcterms:created>
  <dcterms:modified xsi:type="dcterms:W3CDTF">2026-09-26T16:08:57.4350000Z</dcterms:modified>
</coreProperties>
</file>